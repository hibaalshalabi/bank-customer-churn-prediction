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9" r:id="rId7"/>
    <p:sldId id="263" r:id="rId8"/>
    <p:sldId id="264" r:id="rId9"/>
    <p:sldId id="265" r:id="rId10"/>
  </p:sldIdLst>
  <p:sldSz cx="12192000" cy="6858000"/>
  <p:notesSz cx="6858000" cy="9144000"/>
  <p:embeddedFontLst>
    <p:embeddedFont>
      <p:font typeface="Cairo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github.com/hibaalshalabi/Bank-Customer-Churn-Prediction.g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4649985"/>
            <a:ext cx="571500" cy="381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1080938"/>
            <a:ext cx="457200" cy="457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" y="1195238"/>
            <a:ext cx="228600" cy="228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817465"/>
            <a:ext cx="11251406" cy="594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sz="3900" b="1" i="0" u="none" dirty="0">
                <a:solidFill>
                  <a:srgbClr val="FFFFFF"/>
                </a:solidFill>
                <a:latin typeface="Plus Jakarta+Sans"/>
              </a:rPr>
              <a:t>Project Review &amp; Milestones </a:t>
            </a:r>
            <a:r>
              <a:rPr sz="3900" b="1" i="0" u="none" dirty="0">
                <a:solidFill>
                  <a:srgbClr val="38BDF8"/>
                </a:solidFill>
                <a:latin typeface="Plus Jakarta+Sans"/>
              </a:rPr>
              <a:t>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64135"/>
            <a:ext cx="6762750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94A3B8"/>
                </a:solidFill>
                <a:latin typeface="Plus Jakarta+Sans"/>
              </a:rPr>
              <a:t>Problem Definition, Dataset Understanding &amp; Data Cleaning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030860"/>
            <a:ext cx="1106805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تعريف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المشكلة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البنكية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،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فهم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البيانات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،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وعمليات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التنظيف</a:t>
            </a:r>
            <a:r>
              <a:rPr sz="13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0284C7"/>
                </a:solidFill>
                <a:latin typeface="Cairo"/>
              </a:rPr>
              <a:t>والمعالجة</a:t>
            </a:r>
            <a:endParaRPr sz="1350" b="1" i="0" u="none" dirty="0">
              <a:solidFill>
                <a:srgbClr val="0284C7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0030" y="970984"/>
            <a:ext cx="1183005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  <a:defRPr sz="3400" b="1" i="0">
                <a:solidFill>
                  <a:srgbClr val="FFFFFF"/>
                </a:solidFill>
                <a:latin typeface="Aptos"/>
              </a:defRPr>
            </a:pPr>
            <a:r>
              <a:rPr lang="en-US" sz="4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BANK CUSTOMER</a:t>
            </a:r>
            <a:r>
              <a:rPr lang="ar-JO" sz="4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4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CHURN PREDICTION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09FFC-3CB6-219D-7EE3-F93800721AD2}"/>
              </a:ext>
            </a:extLst>
          </p:cNvPr>
          <p:cNvSpPr txBox="1"/>
          <p:nvPr/>
        </p:nvSpPr>
        <p:spPr>
          <a:xfrm>
            <a:off x="7372350" y="1597758"/>
            <a:ext cx="3291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التنبؤ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بإنهاء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تعامل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عملاء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البنك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Rounded Rectangle 4">
            <a:hlinkClick r:id="rId4"/>
            <a:extLst>
              <a:ext uri="{FF2B5EF4-FFF2-40B4-BE49-F238E27FC236}">
                <a16:creationId xmlns:a16="http://schemas.microsoft.com/office/drawing/2014/main" id="{4B016A63-C6E8-0DBD-4961-8F81E1D7972C}"/>
              </a:ext>
            </a:extLst>
          </p:cNvPr>
          <p:cNvSpPr/>
          <p:nvPr/>
        </p:nvSpPr>
        <p:spPr>
          <a:xfrm>
            <a:off x="4963886" y="5887015"/>
            <a:ext cx="7106194" cy="371475"/>
          </a:xfrm>
          <a:prstGeom prst="roundRect">
            <a:avLst>
              <a:gd name="adj" fmla="val 2051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hlinkClick r:id="rId4"/>
              </a:rPr>
              <a:t>https://github.com/hibaalshalabi/Bank-Customer-Churn-Prediction.git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15" name="Picture 14" descr="image.png">
            <a:extLst>
              <a:ext uri="{FF2B5EF4-FFF2-40B4-BE49-F238E27FC236}">
                <a16:creationId xmlns:a16="http://schemas.microsoft.com/office/drawing/2014/main" id="{2ABCE41A-F98E-2454-2F1F-8406F2676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3886" y="5946438"/>
            <a:ext cx="238595" cy="252630"/>
          </a:xfrm>
          <a:prstGeom prst="rect">
            <a:avLst/>
          </a:prstGeom>
        </p:spPr>
      </p:pic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37974635-105A-9E03-CAC3-CEADDCC6F37B}"/>
              </a:ext>
            </a:extLst>
          </p:cNvPr>
          <p:cNvSpPr/>
          <p:nvPr/>
        </p:nvSpPr>
        <p:spPr>
          <a:xfrm>
            <a:off x="609601" y="5887016"/>
            <a:ext cx="3259013" cy="371475"/>
          </a:xfrm>
          <a:prstGeom prst="roundRect">
            <a:avLst>
              <a:gd name="adj" fmla="val 2051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HIBA MUKARUAM MAHMOUD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15425" y="533400"/>
            <a:ext cx="2466975" cy="438150"/>
          </a:xfrm>
          <a:prstGeom prst="roundRect">
            <a:avLst>
              <a:gd name="adj" fmla="val 43478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705100"/>
            <a:ext cx="5372100" cy="2686050"/>
          </a:xfrm>
          <a:prstGeom prst="roundRect">
            <a:avLst>
              <a:gd name="adj" fmla="val 567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705100"/>
            <a:ext cx="5372100" cy="2686050"/>
          </a:xfrm>
          <a:prstGeom prst="roundRect">
            <a:avLst>
              <a:gd name="adj" fmla="val 567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133725"/>
            <a:ext cx="2667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3133725"/>
            <a:ext cx="266700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3400"/>
            <a:ext cx="5972175" cy="895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Milestone 1 · Part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857250"/>
            <a:ext cx="6270783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+Sans"/>
              </a:rPr>
              <a:t>Problem Definition &amp; Dataset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0625" y="3088244"/>
            <a:ext cx="260032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2400" b="1" i="0" u="none" dirty="0">
                <a:solidFill>
                  <a:srgbClr val="0F172A"/>
                </a:solidFill>
                <a:latin typeface="Plus Jakarta+Sans"/>
              </a:rPr>
              <a:t>Project </a:t>
            </a:r>
            <a:r>
              <a:rPr lang="en-US" sz="2400" b="1" dirty="0">
                <a:solidFill>
                  <a:srgbClr val="0F172A"/>
                </a:solidFill>
                <a:latin typeface="Plus Jakarta+Sans"/>
              </a:rPr>
              <a:t>Objectives</a:t>
            </a:r>
            <a:endParaRPr sz="2400" b="1" i="0" u="none" dirty="0">
              <a:solidFill>
                <a:srgbClr val="0F172A"/>
              </a:solidFill>
              <a:latin typeface="Plus Jakarta+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3925" y="3524250"/>
            <a:ext cx="48387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Customer Churn Prediction:</a:t>
            </a:r>
            <a:r>
              <a:rPr lang="en-US" dirty="0"/>
              <a:t> Build an accurate predictive model to identify customers likely to leave the bank in advance, enabling proactive retention campaigns and reducing churn rates.</a:t>
            </a:r>
            <a:endParaRPr sz="1350" b="0" i="0" u="none" dirty="0">
              <a:solidFill>
                <a:srgbClr val="475569"/>
              </a:solidFill>
              <a:latin typeface="Plus Jakarta+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91325" y="3088244"/>
            <a:ext cx="273367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1" i="0" u="none" dirty="0">
                <a:solidFill>
                  <a:srgbClr val="0F172A"/>
                </a:solidFill>
                <a:latin typeface="Plus Jakarta+Sans"/>
              </a:rPr>
              <a:t>Prediction Target</a:t>
            </a:r>
            <a:endParaRPr sz="2400" b="1" i="0" u="none" dirty="0">
              <a:solidFill>
                <a:srgbClr val="0F172A"/>
              </a:solidFill>
              <a:latin typeface="Plus Jakarta+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24625" y="3692604"/>
            <a:ext cx="48387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Exited Feature</a:t>
            </a:r>
            <a:r>
              <a:rPr lang="en-US" dirty="0"/>
              <a:t> </a:t>
            </a:r>
            <a:r>
              <a:rPr lang="en-US" b="1" dirty="0"/>
              <a:t>:</a:t>
            </a:r>
            <a:r>
              <a:rPr lang="en-US" dirty="0"/>
              <a:t> The target variable is Exited (binary classification 0 and 1), where 0 represents customer retention and 1 represents customer churn or departure.</a:t>
            </a:r>
            <a:endParaRPr sz="1350" b="0" i="0" u="none" dirty="0">
              <a:solidFill>
                <a:srgbClr val="475569"/>
              </a:solidFill>
              <a:latin typeface="Plus Jakarta+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039350" y="533400"/>
            <a:ext cx="1543050" cy="438150"/>
          </a:xfrm>
          <a:prstGeom prst="roundRect">
            <a:avLst>
              <a:gd name="adj" fmla="val 43478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857500"/>
            <a:ext cx="3530649" cy="2305050"/>
          </a:xfrm>
          <a:prstGeom prst="roundRect">
            <a:avLst>
              <a:gd name="adj" fmla="val 57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749" y="2857500"/>
            <a:ext cx="3530649" cy="2305050"/>
          </a:xfrm>
          <a:prstGeom prst="roundRect">
            <a:avLst>
              <a:gd name="adj" fmla="val 57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2857500"/>
            <a:ext cx="3530649" cy="2305050"/>
          </a:xfrm>
          <a:prstGeom prst="roundRect">
            <a:avLst>
              <a:gd name="adj" fmla="val 57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4591050" cy="895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Milestone 1 · Deliverables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57250"/>
            <a:ext cx="4820602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+Sans"/>
              </a:rPr>
              <a:t>Project Proposal &amp; Technical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3095625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284C7"/>
                </a:solidFill>
                <a:latin typeface="Plus Jakarta+Sa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638550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+Sans"/>
              </a:rPr>
              <a:t>Project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4029075"/>
            <a:ext cx="3149649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475569"/>
                </a:solidFill>
                <a:latin typeface="Plus Jakarta+Sans"/>
              </a:rPr>
              <a:t>Clear business problem description and defined success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4676775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 err="1">
                <a:solidFill>
                  <a:srgbClr val="0284C7"/>
                </a:solidFill>
                <a:latin typeface="Cairo"/>
              </a:rPr>
              <a:t>وصف</a:t>
            </a:r>
            <a:r>
              <a:rPr sz="10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050" b="1" i="0" u="none" dirty="0" err="1">
                <a:solidFill>
                  <a:srgbClr val="0284C7"/>
                </a:solidFill>
                <a:latin typeface="Cairo"/>
              </a:rPr>
              <a:t>المشكلة</a:t>
            </a:r>
            <a:r>
              <a:rPr sz="10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050" b="1" i="0" u="none" dirty="0" err="1">
                <a:solidFill>
                  <a:srgbClr val="0284C7"/>
                </a:solidFill>
                <a:latin typeface="Cairo"/>
              </a:rPr>
              <a:t>التجارية</a:t>
            </a:r>
            <a:r>
              <a:rPr sz="10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050" b="1" i="0" u="none" dirty="0" err="1">
                <a:solidFill>
                  <a:srgbClr val="0284C7"/>
                </a:solidFill>
                <a:latin typeface="Cairo"/>
              </a:rPr>
              <a:t>ومقاييس</a:t>
            </a:r>
            <a:r>
              <a:rPr sz="1050" b="1" i="0" u="none" dirty="0">
                <a:solidFill>
                  <a:srgbClr val="0284C7"/>
                </a:solidFill>
                <a:latin typeface="Cairo"/>
              </a:rPr>
              <a:t> </a:t>
            </a:r>
            <a:r>
              <a:rPr sz="1050" b="1" i="0" u="none" dirty="0" err="1">
                <a:solidFill>
                  <a:srgbClr val="0284C7"/>
                </a:solidFill>
                <a:latin typeface="Cairo"/>
              </a:rPr>
              <a:t>النجاح</a:t>
            </a:r>
            <a:r>
              <a:rPr sz="1050" b="1" i="0" u="none" dirty="0">
                <a:solidFill>
                  <a:srgbClr val="0284C7"/>
                </a:solidFill>
                <a:latin typeface="Cairo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8874" y="3095625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284C7"/>
                </a:solidFill>
                <a:latin typeface="Plus Jakarta+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8874" y="3638550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+Sans"/>
              </a:rPr>
              <a:t>Dataset Exploration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8874" y="4029075"/>
            <a:ext cx="3149649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475569"/>
                </a:solidFill>
                <a:latin typeface="Plus Jakarta+Sans"/>
              </a:rPr>
              <a:t>Feature descriptions, target variable identification, and data source.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8874" y="4676775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Cairo"/>
              </a:rPr>
              <a:t>تحديد المتغير المستهدف ومصدر البيانات.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024" y="3095625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284C7"/>
                </a:solidFill>
                <a:latin typeface="Plus Jakarta+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024" y="3638550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+Sans"/>
              </a:rPr>
              <a:t>GitHub &amp; Python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024" y="4029075"/>
            <a:ext cx="3149649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475569"/>
                </a:solidFill>
                <a:latin typeface="Plus Jakarta+Sans"/>
              </a:rPr>
              <a:t>Initial dataset loading verified via Python and pushed repository.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0024" y="4676775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Cairo"/>
              </a:rPr>
              <a:t>إثبات التحميل البرمجي ورفع الملفات على جيت هاب.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4514850"/>
            <a:ext cx="10972800" cy="800100"/>
          </a:xfrm>
          <a:prstGeom prst="roundRect">
            <a:avLst>
              <a:gd name="adj" fmla="val 9523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ar-JO" dirty="0">
                <a:solidFill>
                  <a:schemeClr val="tx2">
                    <a:lumMod val="60000"/>
                    <a:lumOff val="40000"/>
                  </a:schemeClr>
                </a:solidFill>
              </a:rPr>
              <a:t>14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-</a:t>
            </a:r>
            <a:r>
              <a:rPr lang="ar-JO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Features</a:t>
            </a:r>
            <a:endParaRPr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2524125"/>
            <a:ext cx="3505200" cy="1647825"/>
          </a:xfrm>
          <a:prstGeom prst="roundRect">
            <a:avLst>
              <a:gd name="adj" fmla="val 924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524125"/>
            <a:ext cx="3505200" cy="1647825"/>
          </a:xfrm>
          <a:prstGeom prst="roundRect">
            <a:avLst>
              <a:gd name="adj" fmla="val 924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524125"/>
            <a:ext cx="3505200" cy="1647825"/>
          </a:xfrm>
          <a:prstGeom prst="roundRect">
            <a:avLst>
              <a:gd name="adj" fmla="val 924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4514850"/>
            <a:ext cx="38100" cy="800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5334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PROJECT SUCCESS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731" y="2800350"/>
            <a:ext cx="3690937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900" b="1" i="0" u="none">
                <a:solidFill>
                  <a:srgbClr val="2563EB"/>
                </a:solidFill>
                <a:latin typeface="Plus Jakarta Sans"/>
              </a:rPr>
              <a:t>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731" y="34099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Customer Account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731" y="3648075"/>
            <a:ext cx="369093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Cairo"/>
              </a:rPr>
              <a:t>سجلات العملاء الجاهزة للتحليل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0531" y="2800350"/>
            <a:ext cx="3690937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900" b="1" i="0" u="none">
                <a:solidFill>
                  <a:srgbClr val="0F172A"/>
                </a:solidFill>
                <a:latin typeface="Plus Jakarta Sans"/>
              </a:rPr>
              <a:t>Exited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0531" y="34099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Binary Target Variable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0531" y="3648075"/>
            <a:ext cx="369093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Cairo"/>
              </a:rPr>
              <a:t>متغير التنبؤ الصريح (1 /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4331" y="2800350"/>
            <a:ext cx="3690937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900" b="1" i="0" u="none">
                <a:solidFill>
                  <a:srgbClr val="8B5CF6"/>
                </a:solidFill>
                <a:latin typeface="Plus Jakarta Sans"/>
              </a:rPr>
              <a:t>Top 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4331" y="34099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High-Risk Churn Isolation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4331" y="3648075"/>
            <a:ext cx="369093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Cairo"/>
              </a:rPr>
              <a:t>استهداف العملاء الأكثر عرضة للمغادرة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47937"/>
            <a:ext cx="3505200" cy="2743200"/>
          </a:xfrm>
          <a:prstGeom prst="roundRect">
            <a:avLst>
              <a:gd name="adj" fmla="val 555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547937"/>
            <a:ext cx="3505200" cy="2743200"/>
          </a:xfrm>
          <a:prstGeom prst="roundRect">
            <a:avLst>
              <a:gd name="adj" fmla="val 555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547937"/>
            <a:ext cx="3505200" cy="2743200"/>
          </a:xfrm>
          <a:prstGeom prst="roundRect">
            <a:avLst>
              <a:gd name="adj" fmla="val 555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862262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725" y="286226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525" y="286226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275" y="2995612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262" y="2995612"/>
            <a:ext cx="23812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1062" y="2995612"/>
            <a:ext cx="238125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44025" y="885825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Cairo"/>
              </a:rPr>
              <a:t>أهمية تنظيف وفهم البيانات مسبقاً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33400"/>
            <a:ext cx="5155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MILESTONE BASICS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742950"/>
            <a:ext cx="5413176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>
                <a:solidFill>
                  <a:srgbClr val="0F172A"/>
                </a:solidFill>
                <a:latin typeface="Plus Jakarta Sans"/>
              </a:rPr>
              <a:t>Why Milestone 2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3471862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Foundation Assumption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389096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Every later milestone and machine learning model assumes your dataset is clean and well understood.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4729162"/>
            <a:ext cx="29718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Cairo"/>
              </a:rPr>
              <a:t>الأساس لكل النماذج والتحليلات اللاحقة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725" y="3471862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Preventing Quiet Errors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725" y="389096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A dirty dataset quietly produces wrong statistics, distorted charts, and failing models later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7725" y="4729162"/>
            <a:ext cx="29718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Cairo"/>
              </a:rPr>
              <a:t>تجنب الأخطاء الخفية في الإحصائيات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1525" y="3471862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Defense &amp; Justification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1525" y="389096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Explaining cleaning decisions out loud separates genuine understanding from guesswork.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1525" y="4729162"/>
            <a:ext cx="29718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333EA"/>
                </a:solidFill>
                <a:latin typeface="Cairo"/>
              </a:rPr>
              <a:t>شرح وتبرير القرارات بوضوح تام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3300" y="2947987"/>
            <a:ext cx="5429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9000" y="2947987"/>
            <a:ext cx="5810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63275" y="2947987"/>
            <a:ext cx="59055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38437"/>
            <a:ext cx="3505200" cy="2066925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738437"/>
            <a:ext cx="3505200" cy="2066925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738437"/>
            <a:ext cx="3505200" cy="2066925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052762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725" y="305276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525" y="305276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275" y="3186112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6787" y="3186112"/>
            <a:ext cx="21907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4875" y="3186112"/>
            <a:ext cx="190500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656332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F172A"/>
                </a:solidFill>
                <a:latin typeface="Space Grotesk"/>
              </a:rPr>
              <a:t>Presentation Objectives &amp; Agenda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4575" y="557212"/>
            <a:ext cx="20597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64748B"/>
                </a:solidFill>
                <a:latin typeface="Inter"/>
              </a:rPr>
              <a:t>MILESTONE 2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925" y="3700462"/>
            <a:ext cx="377547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1. Dataset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062412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Data dictionary, feature types, and understanding initial customer attributes.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25" y="3700462"/>
            <a:ext cx="377547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2. Cleaning Justifications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725" y="4062412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Defending handling of missing values, duplicates, and non-informative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1525" y="3700462"/>
            <a:ext cx="377547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3. Impact &amp; Deliverables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1525" y="4062412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Evaluating before-vs-after dataset health and GitHub pipeline deliverables.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467850" y="533400"/>
            <a:ext cx="2114550" cy="438150"/>
          </a:xfrm>
          <a:prstGeom prst="roundRect">
            <a:avLst>
              <a:gd name="adj" fmla="val 43478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38400"/>
            <a:ext cx="10972800" cy="3143250"/>
          </a:xfrm>
          <a:prstGeom prst="roundRect">
            <a:avLst>
              <a:gd name="adj" fmla="val 0"/>
            </a:avLst>
          </a:prstGeom>
          <a:solidFill>
            <a:srgbClr val="F8FA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45194"/>
              </p:ext>
            </p:extLst>
          </p:nvPr>
        </p:nvGraphicFramePr>
        <p:xfrm>
          <a:off x="609600" y="2438400"/>
          <a:ext cx="10963274" cy="3143250"/>
        </p:xfrm>
        <a:graphic>
          <a:graphicData uri="http://schemas.openxmlformats.org/drawingml/2006/table">
            <a:tbl>
              <a:tblPr/>
              <a:tblGrid>
                <a:gridCol w="3790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1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10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us Jakarta+Sans"/>
                        </a:rPr>
                        <a:t>Metric / Feature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us Jakarta+Sans"/>
                        </a:rPr>
                        <a:t>Before Cleaning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FFFFFF"/>
                          </a:solidFill>
                          <a:latin typeface="Plus Jakarta+Sans"/>
                        </a:rPr>
                        <a:t>After Cleaning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Plus Jakarta+Sans"/>
                        </a:rPr>
                        <a:t>Total Dataset Rows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10,0</a:t>
                      </a:r>
                      <a:r>
                        <a:rPr lang="en-US"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18</a:t>
                      </a:r>
                      <a:endParaRPr sz="1275" b="0" i="0" u="none" dirty="0">
                        <a:solidFill>
                          <a:srgbClr val="334155"/>
                        </a:solidFill>
                        <a:latin typeface="Plus Jakarta+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r-JO" sz="1275" b="1" i="0" u="none" dirty="0">
                          <a:solidFill>
                            <a:srgbClr val="0284C7"/>
                          </a:solidFill>
                          <a:latin typeface="Plus Jakarta+Sans"/>
                        </a:rPr>
                        <a:t>10,000</a:t>
                      </a:r>
                      <a:r>
                        <a:rPr sz="1275" b="1" i="0" u="none" dirty="0">
                          <a:solidFill>
                            <a:srgbClr val="0284C7"/>
                          </a:solidFill>
                          <a:latin typeface="Plus Jakarta+Sans"/>
                        </a:rPr>
                        <a:t> (Cleaned)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Plus Jakarta+Sans"/>
                        </a:rPr>
                        <a:t>Missing Values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r-JO"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550</a:t>
                      </a:r>
                      <a:r>
                        <a:rPr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 missing records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0284C7"/>
                          </a:solidFill>
                          <a:latin typeface="Plus Jakarta+Sans"/>
                        </a:rPr>
                        <a:t>0 missing records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Plus Jakarta+Sans"/>
                        </a:rPr>
                        <a:t>Duplicate Rows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r-JO"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18</a:t>
                      </a:r>
                      <a:r>
                        <a:rPr sz="1275" b="0" i="0" u="none" dirty="0">
                          <a:solidFill>
                            <a:srgbClr val="334155"/>
                          </a:solidFill>
                          <a:latin typeface="Plus Jakarta+Sans"/>
                        </a:rPr>
                        <a:t> duplicates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0284C7"/>
                          </a:solidFill>
                          <a:latin typeface="Plus Jakarta+Sans"/>
                        </a:rPr>
                        <a:t>0 duplicates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334155"/>
                          </a:solidFill>
                          <a:latin typeface="Plus Jakarta+Sans"/>
                        </a:rPr>
                        <a:t>Account Balance Outliers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334155"/>
                          </a:solidFill>
                          <a:latin typeface="Plus Jakarta+Sans"/>
                        </a:rPr>
                        <a:t>Extreme anomalies present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 i="0" u="none" dirty="0">
                          <a:solidFill>
                            <a:srgbClr val="0284C7"/>
                          </a:solidFill>
                          <a:latin typeface="Plus Jakarta+Sans"/>
                        </a:rPr>
                        <a:t>Capped &amp; Handled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33400"/>
            <a:ext cx="4914900" cy="895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Milestone 2 ·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0" y="6096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مقارنة البيانات قبل وبعد التنظيف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857250"/>
            <a:ext cx="5160645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+Sans"/>
              </a:rPr>
              <a:t>Before-and-After Cleaning Snapshot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353550" y="533400"/>
            <a:ext cx="2228850" cy="438150"/>
          </a:xfrm>
          <a:prstGeom prst="roundRect">
            <a:avLst>
              <a:gd name="adj" fmla="val 43478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881312"/>
            <a:ext cx="3530649" cy="2257425"/>
          </a:xfrm>
          <a:prstGeom prst="roundRect">
            <a:avLst>
              <a:gd name="adj" fmla="val 590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0749" y="2881312"/>
            <a:ext cx="3530649" cy="2257425"/>
          </a:xfrm>
          <a:prstGeom prst="roundRect">
            <a:avLst>
              <a:gd name="adj" fmla="val 590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51899" y="2881312"/>
            <a:ext cx="3530649" cy="2257425"/>
          </a:xfrm>
          <a:prstGeom prst="roundRect">
            <a:avLst>
              <a:gd name="adj" fmla="val 590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214687"/>
            <a:ext cx="209550" cy="2095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874" y="3214687"/>
            <a:ext cx="209550" cy="2095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024" y="3214687"/>
            <a:ext cx="209550" cy="209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533400"/>
            <a:ext cx="5153025" cy="895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Milestone Safeguards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5950" y="609600"/>
            <a:ext cx="20193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+Sans"/>
              </a:rPr>
              <a:t>أبرز الأخطاء الشائعة وكيفية تفاديها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857250"/>
            <a:ext cx="5410676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F172A"/>
                </a:solidFill>
                <a:latin typeface="Plus Jakarta+Sans"/>
              </a:rPr>
              <a:t>Common Pitfalls &amp; How to Avoid Them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633787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+Sans"/>
              </a:rPr>
              <a:t>Cleaning Without Checking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024312"/>
            <a:ext cx="3149649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+Sans"/>
              </a:rPr>
              <a:t>Dropping rows blindly before confirming underlying structural issues.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4652962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Cairo"/>
              </a:rPr>
              <a:t>حذف الصفوف عشوائياً بدون فحص دقيق.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8874" y="3633787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+Sans"/>
              </a:rPr>
              <a:t>Treating Outliers as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8874" y="4024312"/>
            <a:ext cx="3149649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+Sans"/>
              </a:rPr>
              <a:t>Deleting valid high-value customer balances that carry real insight.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8874" y="4652962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Cairo"/>
              </a:rPr>
              <a:t>اعتبار القيم الشاذة أخطاء برمجية دائماً.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024" y="3633787"/>
            <a:ext cx="330713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+Sans"/>
              </a:rPr>
              <a:t>Missing GitHub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024" y="4024312"/>
            <a:ext cx="3149649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+Sans"/>
              </a:rPr>
              <a:t>Uncommitted repository work cannot be reviewed or officially graded.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0024" y="4652962"/>
            <a:ext cx="31496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Cairo"/>
              </a:rPr>
              <a:t>عدم تحديث المستودع على جيت هاب.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6369" y="1298540"/>
            <a:ext cx="609600" cy="6096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769" y="1450940"/>
            <a:ext cx="304800" cy="30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34676" y="2022440"/>
            <a:ext cx="5488185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 dirty="0">
                <a:solidFill>
                  <a:schemeClr val="accent1"/>
                </a:solidFill>
                <a:latin typeface="Plus Jakarta+Sans"/>
              </a:rPr>
              <a:t>Thank You &amp; Questions</a:t>
            </a:r>
            <a:endParaRPr lang="ar-JO" sz="3300" b="1" i="0" u="none" dirty="0">
              <a:solidFill>
                <a:schemeClr val="accent1"/>
              </a:solidFill>
              <a:latin typeface="Plus Jakarta+Sans"/>
            </a:endParaRPr>
          </a:p>
          <a:p>
            <a:pPr algn="ctr" rtl="1"/>
            <a:r>
              <a:rPr lang="en-US" sz="3300" b="1" i="0" u="none" dirty="0">
                <a:solidFill>
                  <a:schemeClr val="accent1"/>
                </a:solidFill>
                <a:latin typeface="Plus Jakarta+Sans"/>
              </a:rPr>
              <a:t>HIBA MAHMOUD (Team 6)</a:t>
            </a:r>
            <a:endParaRPr sz="3300" b="1" i="0" u="none" dirty="0">
              <a:solidFill>
                <a:schemeClr val="accent1"/>
              </a:solidFill>
              <a:latin typeface="Plus Jakarta+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329627" y="3261062"/>
            <a:ext cx="5298281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>
                <a:solidFill>
                  <a:srgbClr val="94A3B8"/>
                </a:solidFill>
                <a:latin typeface="Plus Jakarta+Sans"/>
              </a:rPr>
              <a:t>Ready for Milestone Evaluation &amp; Team Q&amp;A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0268" y="3799697"/>
            <a:ext cx="5512593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شكراً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لحسن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استماعكم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·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جاهزون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لاستقبال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الأسئلة</a:t>
            </a:r>
            <a:r>
              <a:rPr sz="1350" b="1" i="0" u="none" dirty="0">
                <a:solidFill>
                  <a:srgbClr val="38BDF8"/>
                </a:solidFill>
                <a:latin typeface="Cairo"/>
              </a:rPr>
              <a:t> </a:t>
            </a:r>
            <a:r>
              <a:rPr sz="1350" b="1" i="0" u="none" dirty="0" err="1">
                <a:solidFill>
                  <a:srgbClr val="38BDF8"/>
                </a:solidFill>
                <a:latin typeface="Cairo"/>
              </a:rPr>
              <a:t>والملاحظات</a:t>
            </a:r>
            <a:endParaRPr sz="1350" b="1" i="0" u="none" dirty="0">
              <a:solidFill>
                <a:srgbClr val="38BDF8"/>
              </a:solidFill>
              <a:latin typeface="Cair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515</Words>
  <Application>Microsoft Office PowerPoint</Application>
  <PresentationFormat>Widescreen</PresentationFormat>
  <Paragraphs>95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Arial</vt:lpstr>
      <vt:lpstr>Inter</vt:lpstr>
      <vt:lpstr>Plus Jakarta Sans</vt:lpstr>
      <vt:lpstr>Cairo</vt:lpstr>
      <vt:lpstr>Plus Jakarta+Sans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hiba alshalabi</cp:lastModifiedBy>
  <cp:revision>6</cp:revision>
  <dcterms:created xsi:type="dcterms:W3CDTF">2013-01-27T09:14:16Z</dcterms:created>
  <dcterms:modified xsi:type="dcterms:W3CDTF">2026-10-10T07:01:59Z</dcterms:modified>
  <cp:category/>
</cp:coreProperties>
</file>