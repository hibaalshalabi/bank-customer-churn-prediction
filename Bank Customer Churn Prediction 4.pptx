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9"/>
  </p:notesMasterIdLst>
  <p:sldIdLst>
    <p:sldId id="256" r:id="rId2"/>
    <p:sldId id="257" r:id="rId3"/>
    <p:sldId id="258" r:id="rId4"/>
    <p:sldId id="259" r:id="rId5"/>
    <p:sldId id="268" r:id="rId6"/>
    <p:sldId id="269" r:id="rId7"/>
    <p:sldId id="263" r:id="rId8"/>
    <p:sldId id="264" r:id="rId9"/>
    <p:sldId id="270" r:id="rId10"/>
    <p:sldId id="271" r:id="rId11"/>
    <p:sldId id="272" r:id="rId12"/>
    <p:sldId id="273" r:id="rId13"/>
    <p:sldId id="260" r:id="rId14"/>
    <p:sldId id="261" r:id="rId15"/>
    <p:sldId id="262" r:id="rId16"/>
    <p:sldId id="274" r:id="rId17"/>
    <p:sldId id="275" r:id="rId18"/>
    <p:sldId id="276" r:id="rId19"/>
    <p:sldId id="266" r:id="rId20"/>
    <p:sldId id="267" r:id="rId21"/>
    <p:sldId id="277" r:id="rId22"/>
    <p:sldId id="278" r:id="rId23"/>
    <p:sldId id="279" r:id="rId24"/>
    <p:sldId id="280" r:id="rId25"/>
    <p:sldId id="291" r:id="rId26"/>
    <p:sldId id="289" r:id="rId27"/>
    <p:sldId id="292" r:id="rId28"/>
    <p:sldId id="290" r:id="rId29"/>
    <p:sldId id="300" r:id="rId30"/>
    <p:sldId id="301" r:id="rId31"/>
    <p:sldId id="302" r:id="rId32"/>
    <p:sldId id="303" r:id="rId33"/>
    <p:sldId id="304" r:id="rId34"/>
    <p:sldId id="305" r:id="rId35"/>
    <p:sldId id="299" r:id="rId36"/>
    <p:sldId id="306" r:id="rId37"/>
    <p:sldId id="265" r:id="rId38"/>
  </p:sldIdLst>
  <p:sldSz cx="12192000" cy="6858000"/>
  <p:notesSz cx="6858000" cy="9144000"/>
  <p:embeddedFontLst>
    <p:embeddedFont>
      <p:font typeface="Cairo"/>
      <p:bold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FC50E-115B-4115-B2DE-E8F06E241A6F}" v="1" dt="2026-10-30T10:14:06.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8" autoAdjust="0"/>
    <p:restoredTop sz="95033" autoAdjust="0"/>
  </p:normalViewPr>
  <p:slideViewPr>
    <p:cSldViewPr snapToGrid="0" snapToObjects="1">
      <p:cViewPr varScale="1">
        <p:scale>
          <a:sx n="82" d="100"/>
          <a:sy n="82" d="100"/>
        </p:scale>
        <p:origin x="95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ba alshalabi" userId="d9dec8268ca695b0" providerId="LiveId" clId="{A10743DB-1E6A-438D-84AD-1A2AFE0B90E2}"/>
    <pc:docChg chg="addSld modSld">
      <pc:chgData name="hiba alshalabi" userId="d9dec8268ca695b0" providerId="LiveId" clId="{A10743DB-1E6A-438D-84AD-1A2AFE0B90E2}" dt="2026-10-30T10:14:06.879" v="0"/>
      <pc:docMkLst>
        <pc:docMk/>
      </pc:docMkLst>
      <pc:sldChg chg="add setBg">
        <pc:chgData name="hiba alshalabi" userId="d9dec8268ca695b0" providerId="LiveId" clId="{A10743DB-1E6A-438D-84AD-1A2AFE0B90E2}" dt="2026-10-30T10:14:06.879" v="0"/>
        <pc:sldMkLst>
          <pc:docMk/>
          <pc:sldMk cId="0" sldId="284"/>
        </pc:sldMkLst>
      </pc:sldChg>
      <pc:sldChg chg="add setBg">
        <pc:chgData name="hiba alshalabi" userId="d9dec8268ca695b0" providerId="LiveId" clId="{A10743DB-1E6A-438D-84AD-1A2AFE0B90E2}" dt="2026-10-30T10:14:06.879" v="0"/>
        <pc:sldMkLst>
          <pc:docMk/>
          <pc:sldMk cId="0" sldId="285"/>
        </pc:sldMkLst>
      </pc:sldChg>
      <pc:sldChg chg="add setBg">
        <pc:chgData name="hiba alshalabi" userId="d9dec8268ca695b0" providerId="LiveId" clId="{A10743DB-1E6A-438D-84AD-1A2AFE0B90E2}" dt="2026-10-30T10:14:06.879" v="0"/>
        <pc:sldMkLst>
          <pc:docMk/>
          <pc:sldMk cId="0" sldId="286"/>
        </pc:sldMkLst>
      </pc:sldChg>
      <pc:sldChg chg="add setBg">
        <pc:chgData name="hiba alshalabi" userId="d9dec8268ca695b0" providerId="LiveId" clId="{A10743DB-1E6A-438D-84AD-1A2AFE0B90E2}" dt="2026-10-30T10:14:06.879" v="0"/>
        <pc:sldMkLst>
          <pc:docMk/>
          <pc:sldMk cId="0" sldId="287"/>
        </pc:sldMkLst>
      </pc:sldChg>
      <pc:sldChg chg="add setBg">
        <pc:chgData name="hiba alshalabi" userId="d9dec8268ca695b0" providerId="LiveId" clId="{A10743DB-1E6A-438D-84AD-1A2AFE0B90E2}" dt="2026-10-30T10:14:06.879" v="0"/>
        <pc:sldMkLst>
          <pc:docMk/>
          <pc:sldMk cId="0"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93FAC1-686F-42BB-9E0F-C440B9168268}" type="datetimeFigureOut">
              <a:rPr lang="en-US" smtClean="0"/>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52F5F-7EE2-448C-AD95-1E1E2E3794FF}" type="slidenum">
              <a:rPr lang="en-US" smtClean="0"/>
              <a:t>‹#›</a:t>
            </a:fld>
            <a:endParaRPr lang="en-US"/>
          </a:p>
        </p:txBody>
      </p:sp>
    </p:spTree>
    <p:extLst>
      <p:ext uri="{BB962C8B-B14F-4D97-AF65-F5344CB8AC3E}">
        <p14:creationId xmlns:p14="http://schemas.microsoft.com/office/powerpoint/2010/main" val="3492168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بداية العرض: مشروعي هو Bank Customer Churn Prediction. في Milestone 3 ركزت على فهم البيانات من خلال EDA، واستخراج أهم الأنماط، ثم تجهيز البيانات للتعلم الآلي بطريقة تمنع تسرب المعلومات بين التدريب والاختبار. حسب متطلبات هذه المرحلة، لم أقم بتدريب نموذج بعد؛ الهدف أن تكون البيانات جاهزة للنمذجة في المرحلة التالية.</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JO" dirty="0"/>
              <a: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715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MASTER">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A6A6"/>
          </a:solidFill>
          <a:ln w="12700">
            <a:solidFill>
              <a:srgbClr val="00A6A6">
                <a:alpha val="0"/>
              </a:srgbClr>
            </a:solidFill>
            <a:prstDash val="solid"/>
          </a:ln>
        </p:spPr>
        <p:txBody>
          <a:bodyPr/>
          <a:lstStyle/>
          <a:p>
            <a:endParaRPr lang="en-US"/>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917139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github.com/hibaalshalabi/Bank-Customer-Churn-Prediction.gi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hibaalshalabi/Bank-Customer-Churn-Prediction.git" TargetMode="External"/><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2" Type="http://schemas.openxmlformats.org/officeDocument/2006/relationships/hyperlink" Target="https://bank-customer-churn-prediction-atalpbeoaf97cyeksxxx9s.streamlit.app/"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609600" y="4649985"/>
            <a:ext cx="571500" cy="381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95350" y="1080938"/>
            <a:ext cx="457200" cy="457200"/>
          </a:xfrm>
          <a:prstGeom prst="rect">
            <a:avLst/>
          </a:prstGeom>
        </p:spPr>
      </p:pic>
      <p:pic>
        <p:nvPicPr>
          <p:cNvPr id="4" name="Picture 3" descr="image.png"/>
          <p:cNvPicPr>
            <a:picLocks noChangeAspect="1"/>
          </p:cNvPicPr>
          <p:nvPr/>
        </p:nvPicPr>
        <p:blipFill>
          <a:blip r:embed="rId3"/>
          <a:stretch>
            <a:fillRect/>
          </a:stretch>
        </p:blipFill>
        <p:spPr>
          <a:xfrm>
            <a:off x="1009650" y="1195238"/>
            <a:ext cx="228600" cy="228600"/>
          </a:xfrm>
          <a:prstGeom prst="rect">
            <a:avLst/>
          </a:prstGeom>
        </p:spPr>
      </p:pic>
      <p:sp>
        <p:nvSpPr>
          <p:cNvPr id="5" name="TextBox 4"/>
          <p:cNvSpPr txBox="1"/>
          <p:nvPr/>
        </p:nvSpPr>
        <p:spPr>
          <a:xfrm>
            <a:off x="609600" y="2817465"/>
            <a:ext cx="11251406" cy="594270"/>
          </a:xfrm>
          <a:prstGeom prst="rect">
            <a:avLst/>
          </a:prstGeom>
          <a:noFill/>
        </p:spPr>
        <p:txBody>
          <a:bodyPr wrap="none" lIns="0" tIns="0" rIns="0" bIns="0" anchor="t">
            <a:spAutoFit/>
          </a:bodyPr>
          <a:lstStyle/>
          <a:p>
            <a:pPr algn="l">
              <a:lnSpc>
                <a:spcPts val="4680"/>
              </a:lnSpc>
            </a:pPr>
            <a:r>
              <a:rPr sz="3900" b="1" i="0" u="none" dirty="0">
                <a:solidFill>
                  <a:srgbClr val="FFFFFF"/>
                </a:solidFill>
                <a:latin typeface="Plus Jakarta+Sans"/>
              </a:rPr>
              <a:t>Project Review &amp; Milestones </a:t>
            </a:r>
            <a:r>
              <a:rPr sz="3900" b="1" i="0" u="none" dirty="0">
                <a:solidFill>
                  <a:srgbClr val="38BDF8"/>
                </a:solidFill>
                <a:latin typeface="Plus Jakarta+Sans"/>
              </a:rPr>
              <a:t>1 &amp; 2</a:t>
            </a:r>
          </a:p>
        </p:txBody>
      </p:sp>
      <p:sp>
        <p:nvSpPr>
          <p:cNvPr id="6" name="TextBox 5"/>
          <p:cNvSpPr txBox="1"/>
          <p:nvPr/>
        </p:nvSpPr>
        <p:spPr>
          <a:xfrm>
            <a:off x="609600" y="3564135"/>
            <a:ext cx="6762750" cy="352425"/>
          </a:xfrm>
          <a:prstGeom prst="rect">
            <a:avLst/>
          </a:prstGeom>
          <a:noFill/>
        </p:spPr>
        <p:txBody>
          <a:bodyPr wrap="square" lIns="0" tIns="0" rIns="0" bIns="0" anchor="t">
            <a:spAutoFit/>
          </a:bodyPr>
          <a:lstStyle/>
          <a:p>
            <a:pPr algn="l"/>
            <a:r>
              <a:rPr sz="1500" b="0" i="0" u="none">
                <a:solidFill>
                  <a:srgbClr val="94A3B8"/>
                </a:solidFill>
                <a:latin typeface="Plus Jakarta+Sans"/>
              </a:rPr>
              <a:t>Problem Definition, Dataset Understanding &amp; Data Cleaning Standards</a:t>
            </a:r>
          </a:p>
        </p:txBody>
      </p:sp>
      <p:sp>
        <p:nvSpPr>
          <p:cNvPr id="7" name="TextBox 6"/>
          <p:cNvSpPr txBox="1"/>
          <p:nvPr/>
        </p:nvSpPr>
        <p:spPr>
          <a:xfrm>
            <a:off x="609600" y="4030860"/>
            <a:ext cx="11068050" cy="207749"/>
          </a:xfrm>
          <a:prstGeom prst="rect">
            <a:avLst/>
          </a:prstGeom>
          <a:noFill/>
        </p:spPr>
        <p:txBody>
          <a:bodyPr wrap="square" lIns="0" tIns="0" rIns="0" bIns="0" anchor="t">
            <a:spAutoFit/>
          </a:bodyPr>
          <a:lstStyle/>
          <a:p>
            <a:pPr algn="l"/>
            <a:r>
              <a:rPr sz="1350" b="1" i="0" u="none" dirty="0" err="1">
                <a:solidFill>
                  <a:srgbClr val="0284C7"/>
                </a:solidFill>
                <a:latin typeface="Cairo"/>
              </a:rPr>
              <a:t>تعريف</a:t>
            </a:r>
            <a:r>
              <a:rPr sz="1350" b="1" i="0" u="none" dirty="0">
                <a:solidFill>
                  <a:srgbClr val="0284C7"/>
                </a:solidFill>
                <a:latin typeface="Cairo"/>
              </a:rPr>
              <a:t> </a:t>
            </a:r>
            <a:r>
              <a:rPr sz="1350" b="1" i="0" u="none" dirty="0" err="1">
                <a:solidFill>
                  <a:srgbClr val="0284C7"/>
                </a:solidFill>
                <a:latin typeface="Cairo"/>
              </a:rPr>
              <a:t>المشكلة</a:t>
            </a:r>
            <a:r>
              <a:rPr sz="1350" b="1" i="0" u="none" dirty="0">
                <a:solidFill>
                  <a:srgbClr val="0284C7"/>
                </a:solidFill>
                <a:latin typeface="Cairo"/>
              </a:rPr>
              <a:t> </a:t>
            </a:r>
            <a:r>
              <a:rPr sz="1350" b="1" i="0" u="none" dirty="0" err="1">
                <a:solidFill>
                  <a:srgbClr val="0284C7"/>
                </a:solidFill>
                <a:latin typeface="Cairo"/>
              </a:rPr>
              <a:t>البنكية</a:t>
            </a:r>
            <a:r>
              <a:rPr sz="1350" b="1" i="0" u="none" dirty="0">
                <a:solidFill>
                  <a:srgbClr val="0284C7"/>
                </a:solidFill>
                <a:latin typeface="Cairo"/>
              </a:rPr>
              <a:t>، </a:t>
            </a:r>
            <a:r>
              <a:rPr sz="1350" b="1" i="0" u="none" dirty="0" err="1">
                <a:solidFill>
                  <a:srgbClr val="0284C7"/>
                </a:solidFill>
                <a:latin typeface="Cairo"/>
              </a:rPr>
              <a:t>فهم</a:t>
            </a:r>
            <a:r>
              <a:rPr sz="1350" b="1" i="0" u="none" dirty="0">
                <a:solidFill>
                  <a:srgbClr val="0284C7"/>
                </a:solidFill>
                <a:latin typeface="Cairo"/>
              </a:rPr>
              <a:t> </a:t>
            </a:r>
            <a:r>
              <a:rPr sz="1350" b="1" i="0" u="none" dirty="0" err="1">
                <a:solidFill>
                  <a:srgbClr val="0284C7"/>
                </a:solidFill>
                <a:latin typeface="Cairo"/>
              </a:rPr>
              <a:t>البيانات</a:t>
            </a:r>
            <a:r>
              <a:rPr sz="1350" b="1" i="0" u="none" dirty="0">
                <a:solidFill>
                  <a:srgbClr val="0284C7"/>
                </a:solidFill>
                <a:latin typeface="Cairo"/>
              </a:rPr>
              <a:t>، </a:t>
            </a:r>
            <a:r>
              <a:rPr sz="1350" b="1" i="0" u="none" dirty="0" err="1">
                <a:solidFill>
                  <a:srgbClr val="0284C7"/>
                </a:solidFill>
                <a:latin typeface="Cairo"/>
              </a:rPr>
              <a:t>وعمليات</a:t>
            </a:r>
            <a:r>
              <a:rPr sz="1350" b="1" i="0" u="none" dirty="0">
                <a:solidFill>
                  <a:srgbClr val="0284C7"/>
                </a:solidFill>
                <a:latin typeface="Cairo"/>
              </a:rPr>
              <a:t> </a:t>
            </a:r>
            <a:r>
              <a:rPr sz="1350" b="1" i="0" u="none" dirty="0" err="1">
                <a:solidFill>
                  <a:srgbClr val="0284C7"/>
                </a:solidFill>
                <a:latin typeface="Cairo"/>
              </a:rPr>
              <a:t>التنظيف</a:t>
            </a:r>
            <a:r>
              <a:rPr sz="1350" b="1" i="0" u="none" dirty="0">
                <a:solidFill>
                  <a:srgbClr val="0284C7"/>
                </a:solidFill>
                <a:latin typeface="Cairo"/>
              </a:rPr>
              <a:t> </a:t>
            </a:r>
            <a:r>
              <a:rPr sz="1350" b="1" i="0" u="none" dirty="0" err="1">
                <a:solidFill>
                  <a:srgbClr val="0284C7"/>
                </a:solidFill>
                <a:latin typeface="Cairo"/>
              </a:rPr>
              <a:t>والمعالجة</a:t>
            </a:r>
            <a:endParaRPr sz="1350" b="1" i="0" u="none" dirty="0">
              <a:solidFill>
                <a:srgbClr val="0284C7"/>
              </a:solidFill>
              <a:latin typeface="Cairo"/>
            </a:endParaRPr>
          </a:p>
        </p:txBody>
      </p:sp>
      <p:sp>
        <p:nvSpPr>
          <p:cNvPr id="8" name="TextBox 7"/>
          <p:cNvSpPr txBox="1"/>
          <p:nvPr/>
        </p:nvSpPr>
        <p:spPr>
          <a:xfrm>
            <a:off x="240030" y="970984"/>
            <a:ext cx="11830050" cy="615553"/>
          </a:xfrm>
          <a:prstGeom prst="rect">
            <a:avLst/>
          </a:prstGeom>
          <a:noFill/>
        </p:spPr>
        <p:txBody>
          <a:bodyPr wrap="square" lIns="0" tIns="0" rIns="0" bIns="0" anchor="t">
            <a:spAutoFit/>
          </a:bodyPr>
          <a:lstStyle/>
          <a:p>
            <a:pPr algn="ctr">
              <a:spcAft>
                <a:spcPts val="800"/>
              </a:spcAft>
              <a:defRPr sz="3400" b="1" i="0">
                <a:solidFill>
                  <a:srgbClr val="FFFFFF"/>
                </a:solidFill>
                <a:latin typeface="Aptos"/>
              </a:defRPr>
            </a:pPr>
            <a:r>
              <a:rPr lang="en-US" sz="4000" dirty="0">
                <a:solidFill>
                  <a:schemeClr val="tx2">
                    <a:lumMod val="60000"/>
                    <a:lumOff val="40000"/>
                  </a:schemeClr>
                </a:solidFill>
              </a:rPr>
              <a:t>BANK CUSTOMER</a:t>
            </a:r>
            <a:r>
              <a:rPr lang="ar-JO" sz="4000" dirty="0">
                <a:solidFill>
                  <a:schemeClr val="tx2">
                    <a:lumMod val="60000"/>
                    <a:lumOff val="40000"/>
                  </a:schemeClr>
                </a:solidFill>
              </a:rPr>
              <a:t> </a:t>
            </a:r>
            <a:r>
              <a:rPr lang="en-US" sz="4000" dirty="0">
                <a:solidFill>
                  <a:schemeClr val="tx2">
                    <a:lumMod val="60000"/>
                    <a:lumOff val="40000"/>
                  </a:schemeClr>
                </a:solidFill>
              </a:rPr>
              <a:t>CHURN PREDICTION</a:t>
            </a:r>
          </a:p>
        </p:txBody>
      </p:sp>
      <p:sp>
        <p:nvSpPr>
          <p:cNvPr id="9" name="TextBox 8">
            <a:extLst>
              <a:ext uri="{FF2B5EF4-FFF2-40B4-BE49-F238E27FC236}">
                <a16:creationId xmlns:a16="http://schemas.microsoft.com/office/drawing/2014/main" id="{B9909FFC-3CB6-219D-7EE3-F93800721AD2}"/>
              </a:ext>
            </a:extLst>
          </p:cNvPr>
          <p:cNvSpPr txBox="1"/>
          <p:nvPr/>
        </p:nvSpPr>
        <p:spPr>
          <a:xfrm>
            <a:off x="7372350" y="1597758"/>
            <a:ext cx="3291840" cy="369332"/>
          </a:xfrm>
          <a:prstGeom prst="rect">
            <a:avLst/>
          </a:prstGeom>
          <a:noFill/>
        </p:spPr>
        <p:txBody>
          <a:bodyPr wrap="square" rtlCol="0">
            <a:spAutoFit/>
          </a:bodyPr>
          <a:lstStyle/>
          <a:p>
            <a:pPr algn="r"/>
            <a:r>
              <a:rPr lang="en-US" dirty="0" err="1">
                <a:solidFill>
                  <a:schemeClr val="tx2">
                    <a:lumMod val="60000"/>
                    <a:lumOff val="40000"/>
                  </a:schemeClr>
                </a:solidFill>
              </a:rPr>
              <a:t>التنبؤ</a:t>
            </a:r>
            <a:r>
              <a:rPr lang="en-US" dirty="0">
                <a:solidFill>
                  <a:schemeClr val="tx2">
                    <a:lumMod val="60000"/>
                    <a:lumOff val="40000"/>
                  </a:schemeClr>
                </a:solidFill>
              </a:rPr>
              <a:t> </a:t>
            </a:r>
            <a:r>
              <a:rPr lang="en-US" dirty="0" err="1">
                <a:solidFill>
                  <a:schemeClr val="tx2">
                    <a:lumMod val="60000"/>
                    <a:lumOff val="40000"/>
                  </a:schemeClr>
                </a:solidFill>
              </a:rPr>
              <a:t>بإنهاء</a:t>
            </a:r>
            <a:r>
              <a:rPr lang="en-US" dirty="0">
                <a:solidFill>
                  <a:schemeClr val="tx2">
                    <a:lumMod val="60000"/>
                    <a:lumOff val="40000"/>
                  </a:schemeClr>
                </a:solidFill>
              </a:rPr>
              <a:t> </a:t>
            </a:r>
            <a:r>
              <a:rPr lang="en-US" dirty="0" err="1">
                <a:solidFill>
                  <a:schemeClr val="tx2">
                    <a:lumMod val="60000"/>
                    <a:lumOff val="40000"/>
                  </a:schemeClr>
                </a:solidFill>
              </a:rPr>
              <a:t>تعامل</a:t>
            </a:r>
            <a:r>
              <a:rPr lang="en-US" dirty="0">
                <a:solidFill>
                  <a:schemeClr val="tx2">
                    <a:lumMod val="60000"/>
                    <a:lumOff val="40000"/>
                  </a:schemeClr>
                </a:solidFill>
              </a:rPr>
              <a:t> </a:t>
            </a:r>
            <a:r>
              <a:rPr lang="en-US" dirty="0" err="1">
                <a:solidFill>
                  <a:schemeClr val="tx2">
                    <a:lumMod val="60000"/>
                    <a:lumOff val="40000"/>
                  </a:schemeClr>
                </a:solidFill>
              </a:rPr>
              <a:t>عملاء</a:t>
            </a:r>
            <a:r>
              <a:rPr lang="en-US" dirty="0">
                <a:solidFill>
                  <a:schemeClr val="tx2">
                    <a:lumMod val="60000"/>
                    <a:lumOff val="40000"/>
                  </a:schemeClr>
                </a:solidFill>
              </a:rPr>
              <a:t> </a:t>
            </a:r>
            <a:r>
              <a:rPr lang="en-US" dirty="0" err="1">
                <a:solidFill>
                  <a:schemeClr val="tx2">
                    <a:lumMod val="60000"/>
                    <a:lumOff val="40000"/>
                  </a:schemeClr>
                </a:solidFill>
              </a:rPr>
              <a:t>البنك</a:t>
            </a:r>
            <a:endParaRPr lang="en-US" dirty="0">
              <a:solidFill>
                <a:schemeClr val="tx2">
                  <a:lumMod val="60000"/>
                  <a:lumOff val="40000"/>
                </a:schemeClr>
              </a:solidFill>
            </a:endParaRPr>
          </a:p>
        </p:txBody>
      </p:sp>
      <p:sp>
        <p:nvSpPr>
          <p:cNvPr id="13" name="Rounded Rectangle 4">
            <a:hlinkClick r:id="rId4"/>
            <a:extLst>
              <a:ext uri="{FF2B5EF4-FFF2-40B4-BE49-F238E27FC236}">
                <a16:creationId xmlns:a16="http://schemas.microsoft.com/office/drawing/2014/main" id="{4B016A63-C6E8-0DBD-4961-8F81E1D7972C}"/>
              </a:ext>
            </a:extLst>
          </p:cNvPr>
          <p:cNvSpPr/>
          <p:nvPr/>
        </p:nvSpPr>
        <p:spPr>
          <a:xfrm>
            <a:off x="4963886" y="5887015"/>
            <a:ext cx="7106194" cy="371475"/>
          </a:xfrm>
          <a:prstGeom prst="roundRect">
            <a:avLst>
              <a:gd name="adj" fmla="val 2051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hlinkClick r:id="rId4"/>
              </a:rPr>
              <a:t>https://github.com/hibaalshalabi/Bank-Customer-Churn-Prediction.git</a:t>
            </a:r>
            <a:endParaRPr dirty="0">
              <a:solidFill>
                <a:schemeClr val="accent1"/>
              </a:solidFill>
            </a:endParaRPr>
          </a:p>
        </p:txBody>
      </p:sp>
      <p:pic>
        <p:nvPicPr>
          <p:cNvPr id="15" name="Picture 14" descr="image.png">
            <a:extLst>
              <a:ext uri="{FF2B5EF4-FFF2-40B4-BE49-F238E27FC236}">
                <a16:creationId xmlns:a16="http://schemas.microsoft.com/office/drawing/2014/main" id="{2ABCE41A-F98E-2454-2F1F-8406F2676E1F}"/>
              </a:ext>
            </a:extLst>
          </p:cNvPr>
          <p:cNvPicPr>
            <a:picLocks noChangeAspect="1"/>
          </p:cNvPicPr>
          <p:nvPr/>
        </p:nvPicPr>
        <p:blipFill>
          <a:blip r:embed="rId5"/>
          <a:stretch>
            <a:fillRect/>
          </a:stretch>
        </p:blipFill>
        <p:spPr>
          <a:xfrm>
            <a:off x="4963886" y="5946438"/>
            <a:ext cx="238595" cy="252630"/>
          </a:xfrm>
          <a:prstGeom prst="rect">
            <a:avLst/>
          </a:prstGeom>
        </p:spPr>
      </p:pic>
      <p:sp>
        <p:nvSpPr>
          <p:cNvPr id="17" name="Rounded Rectangle 4">
            <a:extLst>
              <a:ext uri="{FF2B5EF4-FFF2-40B4-BE49-F238E27FC236}">
                <a16:creationId xmlns:a16="http://schemas.microsoft.com/office/drawing/2014/main" id="{37974635-105A-9E03-CAC3-CEADDCC6F37B}"/>
              </a:ext>
            </a:extLst>
          </p:cNvPr>
          <p:cNvSpPr/>
          <p:nvPr/>
        </p:nvSpPr>
        <p:spPr>
          <a:xfrm>
            <a:off x="609601" y="5887016"/>
            <a:ext cx="3259013" cy="371475"/>
          </a:xfrm>
          <a:prstGeom prst="roundRect">
            <a:avLst>
              <a:gd name="adj" fmla="val 2051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accent1"/>
                </a:solidFill>
              </a:rPr>
              <a:t>HIBA MUKARUAM MAHMOUD</a:t>
            </a:r>
            <a:endParaRPr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115425" y="533400"/>
            <a:ext cx="2466975"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705100"/>
            <a:ext cx="5372100" cy="2686050"/>
          </a:xfrm>
          <a:prstGeom prst="roundRect">
            <a:avLst>
              <a:gd name="adj" fmla="val 567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210300" y="2705100"/>
            <a:ext cx="5372100" cy="2686050"/>
          </a:xfrm>
          <a:prstGeom prst="roundRect">
            <a:avLst>
              <a:gd name="adj" fmla="val 567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23925" y="3133725"/>
            <a:ext cx="266700" cy="266700"/>
          </a:xfrm>
          <a:prstGeom prst="rect">
            <a:avLst/>
          </a:prstGeom>
        </p:spPr>
      </p:pic>
      <p:pic>
        <p:nvPicPr>
          <p:cNvPr id="6" name="Picture 5" descr="image.png"/>
          <p:cNvPicPr>
            <a:picLocks noChangeAspect="1"/>
          </p:cNvPicPr>
          <p:nvPr/>
        </p:nvPicPr>
        <p:blipFill>
          <a:blip r:embed="rId3"/>
          <a:stretch>
            <a:fillRect/>
          </a:stretch>
        </p:blipFill>
        <p:spPr>
          <a:xfrm>
            <a:off x="6524625" y="3133725"/>
            <a:ext cx="266700" cy="266700"/>
          </a:xfrm>
          <a:prstGeom prst="rect">
            <a:avLst/>
          </a:prstGeom>
        </p:spPr>
      </p:pic>
      <p:sp>
        <p:nvSpPr>
          <p:cNvPr id="7" name="TextBox 6"/>
          <p:cNvSpPr txBox="1"/>
          <p:nvPr/>
        </p:nvSpPr>
        <p:spPr>
          <a:xfrm>
            <a:off x="609600" y="533400"/>
            <a:ext cx="5972175"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1 · Part 1</a:t>
            </a:r>
          </a:p>
        </p:txBody>
      </p:sp>
      <p:sp>
        <p:nvSpPr>
          <p:cNvPr id="9" name="TextBox 8"/>
          <p:cNvSpPr txBox="1"/>
          <p:nvPr/>
        </p:nvSpPr>
        <p:spPr>
          <a:xfrm>
            <a:off x="609600" y="857250"/>
            <a:ext cx="6270783" cy="571500"/>
          </a:xfrm>
          <a:prstGeom prst="rect">
            <a:avLst/>
          </a:prstGeom>
          <a:noFill/>
        </p:spPr>
        <p:txBody>
          <a:bodyPr wrap="square" lIns="0" tIns="0" rIns="0" bIns="0" anchor="t">
            <a:spAutoFit/>
          </a:bodyPr>
          <a:lstStyle/>
          <a:p>
            <a:pPr algn="l"/>
            <a:r>
              <a:rPr sz="2400" b="1" i="0" u="none">
                <a:solidFill>
                  <a:srgbClr val="0F172A"/>
                </a:solidFill>
                <a:latin typeface="Plus Jakarta+Sans"/>
              </a:rPr>
              <a:t>Problem Definition &amp; Dataset Understanding</a:t>
            </a:r>
          </a:p>
        </p:txBody>
      </p:sp>
      <p:sp>
        <p:nvSpPr>
          <p:cNvPr id="10" name="TextBox 9"/>
          <p:cNvSpPr txBox="1"/>
          <p:nvPr/>
        </p:nvSpPr>
        <p:spPr>
          <a:xfrm>
            <a:off x="1190625" y="3088244"/>
            <a:ext cx="2600325" cy="369332"/>
          </a:xfrm>
          <a:prstGeom prst="rect">
            <a:avLst/>
          </a:prstGeom>
          <a:noFill/>
        </p:spPr>
        <p:txBody>
          <a:bodyPr wrap="square" lIns="0" tIns="0" rIns="0" bIns="0" anchor="t">
            <a:spAutoFit/>
          </a:bodyPr>
          <a:lstStyle/>
          <a:p>
            <a:pPr rtl="1"/>
            <a:r>
              <a:rPr lang="en-US" sz="2400" b="1" i="0" u="none" dirty="0">
                <a:solidFill>
                  <a:srgbClr val="0F172A"/>
                </a:solidFill>
                <a:latin typeface="Plus Jakarta+Sans"/>
              </a:rPr>
              <a:t>Project </a:t>
            </a:r>
            <a:r>
              <a:rPr lang="en-US" sz="2400" b="1" dirty="0">
                <a:solidFill>
                  <a:srgbClr val="0F172A"/>
                </a:solidFill>
                <a:latin typeface="Plus Jakarta+Sans"/>
              </a:rPr>
              <a:t>Objectives</a:t>
            </a:r>
            <a:endParaRPr sz="2400" b="1" i="0" u="none" dirty="0">
              <a:solidFill>
                <a:srgbClr val="0F172A"/>
              </a:solidFill>
              <a:latin typeface="Plus Jakarta+Sans"/>
            </a:endParaRPr>
          </a:p>
        </p:txBody>
      </p:sp>
      <p:sp>
        <p:nvSpPr>
          <p:cNvPr id="11" name="TextBox 10"/>
          <p:cNvSpPr txBox="1"/>
          <p:nvPr/>
        </p:nvSpPr>
        <p:spPr>
          <a:xfrm>
            <a:off x="923925" y="3524250"/>
            <a:ext cx="4838700" cy="1107996"/>
          </a:xfrm>
          <a:prstGeom prst="rect">
            <a:avLst/>
          </a:prstGeom>
          <a:noFill/>
        </p:spPr>
        <p:txBody>
          <a:bodyPr wrap="square" lIns="0" tIns="0" rIns="0" bIns="0" anchor="t">
            <a:spAutoFit/>
          </a:bodyPr>
          <a:lstStyle/>
          <a:p>
            <a:r>
              <a:rPr lang="en-US" b="1" dirty="0"/>
              <a:t>Customer Churn Prediction:</a:t>
            </a:r>
            <a:r>
              <a:rPr lang="en-US" dirty="0"/>
              <a:t> Build an accurate predictive model to identify customers likely to leave the bank in advance, enabling proactive retention campaigns and reducing churn rates.</a:t>
            </a:r>
            <a:endParaRPr sz="1350" b="0" i="0" u="none" dirty="0">
              <a:solidFill>
                <a:srgbClr val="475569"/>
              </a:solidFill>
              <a:latin typeface="Plus Jakarta+Sans"/>
            </a:endParaRPr>
          </a:p>
        </p:txBody>
      </p:sp>
      <p:sp>
        <p:nvSpPr>
          <p:cNvPr id="13" name="TextBox 12"/>
          <p:cNvSpPr txBox="1"/>
          <p:nvPr/>
        </p:nvSpPr>
        <p:spPr>
          <a:xfrm>
            <a:off x="6791325" y="3088244"/>
            <a:ext cx="2733675" cy="369332"/>
          </a:xfrm>
          <a:prstGeom prst="rect">
            <a:avLst/>
          </a:prstGeom>
          <a:noFill/>
        </p:spPr>
        <p:txBody>
          <a:bodyPr wrap="square" lIns="0" tIns="0" rIns="0" bIns="0" anchor="t">
            <a:spAutoFit/>
          </a:bodyPr>
          <a:lstStyle/>
          <a:p>
            <a:pPr algn="l"/>
            <a:r>
              <a:rPr lang="en-US" sz="2400" b="1" i="0" u="none" dirty="0">
                <a:solidFill>
                  <a:srgbClr val="0F172A"/>
                </a:solidFill>
                <a:latin typeface="Plus Jakarta+Sans"/>
              </a:rPr>
              <a:t>Prediction Target</a:t>
            </a:r>
            <a:endParaRPr sz="2400" b="1" i="0" u="none" dirty="0">
              <a:solidFill>
                <a:srgbClr val="0F172A"/>
              </a:solidFill>
              <a:latin typeface="Plus Jakarta+Sans"/>
            </a:endParaRPr>
          </a:p>
        </p:txBody>
      </p:sp>
      <p:sp>
        <p:nvSpPr>
          <p:cNvPr id="14" name="TextBox 13"/>
          <p:cNvSpPr txBox="1"/>
          <p:nvPr/>
        </p:nvSpPr>
        <p:spPr>
          <a:xfrm>
            <a:off x="6524625" y="3692604"/>
            <a:ext cx="4838700" cy="1107996"/>
          </a:xfrm>
          <a:prstGeom prst="rect">
            <a:avLst/>
          </a:prstGeom>
          <a:noFill/>
        </p:spPr>
        <p:txBody>
          <a:bodyPr wrap="square" lIns="0" tIns="0" rIns="0" bIns="0" anchor="t">
            <a:spAutoFit/>
          </a:bodyPr>
          <a:lstStyle/>
          <a:p>
            <a:r>
              <a:rPr lang="en-US" b="1" dirty="0"/>
              <a:t>Exited Feature</a:t>
            </a:r>
            <a:r>
              <a:rPr lang="en-US" dirty="0"/>
              <a:t> </a:t>
            </a:r>
            <a:r>
              <a:rPr lang="en-US" b="1" dirty="0"/>
              <a:t>:</a:t>
            </a:r>
            <a:r>
              <a:rPr lang="en-US" dirty="0"/>
              <a:t> The target variable is Exited (binary classification 0 and 1), where 0 represents customer retention and 1 represents customer churn or departure.</a:t>
            </a:r>
            <a:endParaRPr sz="1350" b="0" i="0" u="none" dirty="0">
              <a:solidFill>
                <a:srgbClr val="475569"/>
              </a:solidFill>
              <a:latin typeface="Plus Jakarta+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10039350" y="533400"/>
            <a:ext cx="1543050"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857500"/>
            <a:ext cx="3530649" cy="2305050"/>
          </a:xfrm>
          <a:prstGeom prst="roundRect">
            <a:avLst>
              <a:gd name="adj" fmla="val 57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30749" y="2857500"/>
            <a:ext cx="3530649" cy="2305050"/>
          </a:xfrm>
          <a:prstGeom prst="roundRect">
            <a:avLst>
              <a:gd name="adj" fmla="val 57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51899" y="2857500"/>
            <a:ext cx="3530649" cy="2305050"/>
          </a:xfrm>
          <a:prstGeom prst="roundRect">
            <a:avLst>
              <a:gd name="adj" fmla="val 57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533400"/>
            <a:ext cx="4591050"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1 · Deliverables</a:t>
            </a:r>
          </a:p>
        </p:txBody>
      </p:sp>
      <p:sp>
        <p:nvSpPr>
          <p:cNvPr id="8" name="TextBox 7"/>
          <p:cNvSpPr txBox="1"/>
          <p:nvPr/>
        </p:nvSpPr>
        <p:spPr>
          <a:xfrm>
            <a:off x="609600" y="857250"/>
            <a:ext cx="4820602" cy="571500"/>
          </a:xfrm>
          <a:prstGeom prst="rect">
            <a:avLst/>
          </a:prstGeom>
          <a:noFill/>
        </p:spPr>
        <p:txBody>
          <a:bodyPr wrap="square" lIns="0" tIns="0" rIns="0" bIns="0" anchor="t">
            <a:spAutoFit/>
          </a:bodyPr>
          <a:lstStyle/>
          <a:p>
            <a:pPr algn="l"/>
            <a:r>
              <a:rPr sz="2400" b="1" i="0" u="none">
                <a:solidFill>
                  <a:srgbClr val="0F172A"/>
                </a:solidFill>
                <a:latin typeface="Plus Jakarta+Sans"/>
              </a:rPr>
              <a:t>Project Proposal &amp; Technical Proof</a:t>
            </a:r>
          </a:p>
        </p:txBody>
      </p:sp>
      <p:sp>
        <p:nvSpPr>
          <p:cNvPr id="9" name="TextBox 8"/>
          <p:cNvSpPr txBox="1"/>
          <p:nvPr/>
        </p:nvSpPr>
        <p:spPr>
          <a:xfrm>
            <a:off x="847725" y="3095625"/>
            <a:ext cx="3149649" cy="428625"/>
          </a:xfrm>
          <a:prstGeom prst="rect">
            <a:avLst/>
          </a:prstGeom>
          <a:noFill/>
        </p:spPr>
        <p:txBody>
          <a:bodyPr wrap="square" lIns="0" tIns="0" rIns="0" bIns="0" anchor="t">
            <a:spAutoFit/>
          </a:bodyPr>
          <a:lstStyle/>
          <a:p>
            <a:pPr algn="l"/>
            <a:r>
              <a:rPr sz="1800" b="1" i="0" u="none">
                <a:solidFill>
                  <a:srgbClr val="0284C7"/>
                </a:solidFill>
                <a:latin typeface="Plus Jakarta+Sans"/>
              </a:rPr>
              <a:t>01</a:t>
            </a:r>
          </a:p>
        </p:txBody>
      </p:sp>
      <p:sp>
        <p:nvSpPr>
          <p:cNvPr id="10" name="TextBox 9"/>
          <p:cNvSpPr txBox="1"/>
          <p:nvPr/>
        </p:nvSpPr>
        <p:spPr>
          <a:xfrm>
            <a:off x="847725" y="3638550"/>
            <a:ext cx="3307132" cy="314325"/>
          </a:xfrm>
          <a:prstGeom prst="rect">
            <a:avLst/>
          </a:prstGeom>
          <a:noFill/>
        </p:spPr>
        <p:txBody>
          <a:bodyPr wrap="square" lIns="0" tIns="0" rIns="0" bIns="0" anchor="t">
            <a:spAutoFit/>
          </a:bodyPr>
          <a:lstStyle/>
          <a:p>
            <a:pPr algn="l"/>
            <a:r>
              <a:rPr sz="1350" b="1" i="0" u="none" dirty="0">
                <a:solidFill>
                  <a:srgbClr val="0F172A"/>
                </a:solidFill>
                <a:latin typeface="Plus Jakarta+Sans"/>
              </a:rPr>
              <a:t>Project Proposal</a:t>
            </a:r>
          </a:p>
        </p:txBody>
      </p:sp>
      <p:sp>
        <p:nvSpPr>
          <p:cNvPr id="11" name="TextBox 10"/>
          <p:cNvSpPr txBox="1"/>
          <p:nvPr/>
        </p:nvSpPr>
        <p:spPr>
          <a:xfrm>
            <a:off x="847725" y="4029075"/>
            <a:ext cx="3149649" cy="571500"/>
          </a:xfrm>
          <a:prstGeom prst="rect">
            <a:avLst/>
          </a:prstGeom>
          <a:noFill/>
        </p:spPr>
        <p:txBody>
          <a:bodyPr wrap="square" lIns="0" tIns="0" rIns="0" bIns="0" anchor="t">
            <a:spAutoFit/>
          </a:bodyPr>
          <a:lstStyle/>
          <a:p>
            <a:pPr algn="l"/>
            <a:r>
              <a:rPr sz="1200" b="0" i="0" u="none" dirty="0">
                <a:solidFill>
                  <a:srgbClr val="475569"/>
                </a:solidFill>
                <a:latin typeface="Plus Jakarta+Sans"/>
              </a:rPr>
              <a:t>Clear business problem description and defined success metrics.</a:t>
            </a:r>
          </a:p>
        </p:txBody>
      </p:sp>
      <p:sp>
        <p:nvSpPr>
          <p:cNvPr id="12" name="TextBox 11"/>
          <p:cNvSpPr txBox="1"/>
          <p:nvPr/>
        </p:nvSpPr>
        <p:spPr>
          <a:xfrm>
            <a:off x="847725" y="4676775"/>
            <a:ext cx="3149649" cy="247650"/>
          </a:xfrm>
          <a:prstGeom prst="rect">
            <a:avLst/>
          </a:prstGeom>
          <a:noFill/>
        </p:spPr>
        <p:txBody>
          <a:bodyPr wrap="square" lIns="0" tIns="0" rIns="0" bIns="0" anchor="t">
            <a:spAutoFit/>
          </a:bodyPr>
          <a:lstStyle/>
          <a:p>
            <a:pPr algn="l"/>
            <a:r>
              <a:rPr sz="1050" b="1" i="0" u="none" dirty="0" err="1">
                <a:solidFill>
                  <a:srgbClr val="0284C7"/>
                </a:solidFill>
                <a:latin typeface="Cairo"/>
              </a:rPr>
              <a:t>وصف</a:t>
            </a:r>
            <a:r>
              <a:rPr sz="1050" b="1" i="0" u="none" dirty="0">
                <a:solidFill>
                  <a:srgbClr val="0284C7"/>
                </a:solidFill>
                <a:latin typeface="Cairo"/>
              </a:rPr>
              <a:t> </a:t>
            </a:r>
            <a:r>
              <a:rPr sz="1050" b="1" i="0" u="none" dirty="0" err="1">
                <a:solidFill>
                  <a:srgbClr val="0284C7"/>
                </a:solidFill>
                <a:latin typeface="Cairo"/>
              </a:rPr>
              <a:t>المشكلة</a:t>
            </a:r>
            <a:r>
              <a:rPr sz="1050" b="1" i="0" u="none" dirty="0">
                <a:solidFill>
                  <a:srgbClr val="0284C7"/>
                </a:solidFill>
                <a:latin typeface="Cairo"/>
              </a:rPr>
              <a:t> </a:t>
            </a:r>
            <a:r>
              <a:rPr sz="1050" b="1" i="0" u="none" dirty="0" err="1">
                <a:solidFill>
                  <a:srgbClr val="0284C7"/>
                </a:solidFill>
                <a:latin typeface="Cairo"/>
              </a:rPr>
              <a:t>التجارية</a:t>
            </a:r>
            <a:r>
              <a:rPr sz="1050" b="1" i="0" u="none" dirty="0">
                <a:solidFill>
                  <a:srgbClr val="0284C7"/>
                </a:solidFill>
                <a:latin typeface="Cairo"/>
              </a:rPr>
              <a:t> </a:t>
            </a:r>
            <a:r>
              <a:rPr sz="1050" b="1" i="0" u="none" dirty="0" err="1">
                <a:solidFill>
                  <a:srgbClr val="0284C7"/>
                </a:solidFill>
                <a:latin typeface="Cairo"/>
              </a:rPr>
              <a:t>ومقاييس</a:t>
            </a:r>
            <a:r>
              <a:rPr sz="1050" b="1" i="0" u="none" dirty="0">
                <a:solidFill>
                  <a:srgbClr val="0284C7"/>
                </a:solidFill>
                <a:latin typeface="Cairo"/>
              </a:rPr>
              <a:t> </a:t>
            </a:r>
            <a:r>
              <a:rPr sz="1050" b="1" i="0" u="none" dirty="0" err="1">
                <a:solidFill>
                  <a:srgbClr val="0284C7"/>
                </a:solidFill>
                <a:latin typeface="Cairo"/>
              </a:rPr>
              <a:t>النجاح</a:t>
            </a:r>
            <a:r>
              <a:rPr sz="1050" b="1" i="0" u="none" dirty="0">
                <a:solidFill>
                  <a:srgbClr val="0284C7"/>
                </a:solidFill>
                <a:latin typeface="Cairo"/>
              </a:rPr>
              <a:t>.</a:t>
            </a:r>
          </a:p>
        </p:txBody>
      </p:sp>
      <p:sp>
        <p:nvSpPr>
          <p:cNvPr id="13" name="TextBox 12"/>
          <p:cNvSpPr txBox="1"/>
          <p:nvPr/>
        </p:nvSpPr>
        <p:spPr>
          <a:xfrm>
            <a:off x="4568874" y="3095625"/>
            <a:ext cx="3149649" cy="428625"/>
          </a:xfrm>
          <a:prstGeom prst="rect">
            <a:avLst/>
          </a:prstGeom>
          <a:noFill/>
        </p:spPr>
        <p:txBody>
          <a:bodyPr wrap="square" lIns="0" tIns="0" rIns="0" bIns="0" anchor="t">
            <a:spAutoFit/>
          </a:bodyPr>
          <a:lstStyle/>
          <a:p>
            <a:pPr algn="l"/>
            <a:r>
              <a:rPr sz="1800" b="1" i="0" u="none">
                <a:solidFill>
                  <a:srgbClr val="0284C7"/>
                </a:solidFill>
                <a:latin typeface="Plus Jakarta+Sans"/>
              </a:rPr>
              <a:t>02</a:t>
            </a:r>
          </a:p>
        </p:txBody>
      </p:sp>
      <p:sp>
        <p:nvSpPr>
          <p:cNvPr id="14" name="TextBox 13"/>
          <p:cNvSpPr txBox="1"/>
          <p:nvPr/>
        </p:nvSpPr>
        <p:spPr>
          <a:xfrm>
            <a:off x="4568874" y="3638550"/>
            <a:ext cx="3307132" cy="314325"/>
          </a:xfrm>
          <a:prstGeom prst="rect">
            <a:avLst/>
          </a:prstGeom>
          <a:noFill/>
        </p:spPr>
        <p:txBody>
          <a:bodyPr wrap="square" lIns="0" tIns="0" rIns="0" bIns="0" anchor="t">
            <a:spAutoFit/>
          </a:bodyPr>
          <a:lstStyle/>
          <a:p>
            <a:pPr algn="l"/>
            <a:r>
              <a:rPr sz="1350" b="1" i="0" u="none" dirty="0">
                <a:solidFill>
                  <a:srgbClr val="0F172A"/>
                </a:solidFill>
                <a:latin typeface="Plus Jakarta+Sans"/>
              </a:rPr>
              <a:t>Dataset Exploration</a:t>
            </a:r>
          </a:p>
        </p:txBody>
      </p:sp>
      <p:sp>
        <p:nvSpPr>
          <p:cNvPr id="15" name="TextBox 14"/>
          <p:cNvSpPr txBox="1"/>
          <p:nvPr/>
        </p:nvSpPr>
        <p:spPr>
          <a:xfrm>
            <a:off x="4568874" y="4029075"/>
            <a:ext cx="3149649" cy="571500"/>
          </a:xfrm>
          <a:prstGeom prst="rect">
            <a:avLst/>
          </a:prstGeom>
          <a:noFill/>
        </p:spPr>
        <p:txBody>
          <a:bodyPr wrap="square" lIns="0" tIns="0" rIns="0" bIns="0" anchor="t">
            <a:spAutoFit/>
          </a:bodyPr>
          <a:lstStyle/>
          <a:p>
            <a:pPr algn="l"/>
            <a:r>
              <a:rPr sz="1200" b="0" i="0" u="none" dirty="0">
                <a:solidFill>
                  <a:srgbClr val="475569"/>
                </a:solidFill>
                <a:latin typeface="Plus Jakarta+Sans"/>
              </a:rPr>
              <a:t>Feature descriptions, target variable identification, and data source.</a:t>
            </a:r>
          </a:p>
        </p:txBody>
      </p:sp>
      <p:sp>
        <p:nvSpPr>
          <p:cNvPr id="16" name="TextBox 15"/>
          <p:cNvSpPr txBox="1"/>
          <p:nvPr/>
        </p:nvSpPr>
        <p:spPr>
          <a:xfrm>
            <a:off x="4568874" y="4676775"/>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تحديد المتغير المستهدف ومصدر البيانات.</a:t>
            </a:r>
          </a:p>
        </p:txBody>
      </p:sp>
      <p:sp>
        <p:nvSpPr>
          <p:cNvPr id="17" name="TextBox 16"/>
          <p:cNvSpPr txBox="1"/>
          <p:nvPr/>
        </p:nvSpPr>
        <p:spPr>
          <a:xfrm>
            <a:off x="8290024" y="3095625"/>
            <a:ext cx="3149649" cy="428625"/>
          </a:xfrm>
          <a:prstGeom prst="rect">
            <a:avLst/>
          </a:prstGeom>
          <a:noFill/>
        </p:spPr>
        <p:txBody>
          <a:bodyPr wrap="square" lIns="0" tIns="0" rIns="0" bIns="0" anchor="t">
            <a:spAutoFit/>
          </a:bodyPr>
          <a:lstStyle/>
          <a:p>
            <a:pPr algn="l"/>
            <a:r>
              <a:rPr sz="1800" b="1" i="0" u="none">
                <a:solidFill>
                  <a:srgbClr val="0284C7"/>
                </a:solidFill>
                <a:latin typeface="Plus Jakarta+Sans"/>
              </a:rPr>
              <a:t>03</a:t>
            </a:r>
          </a:p>
        </p:txBody>
      </p:sp>
      <p:sp>
        <p:nvSpPr>
          <p:cNvPr id="18" name="TextBox 17"/>
          <p:cNvSpPr txBox="1"/>
          <p:nvPr/>
        </p:nvSpPr>
        <p:spPr>
          <a:xfrm>
            <a:off x="8290024" y="3638550"/>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GitHub &amp; Python Proof</a:t>
            </a:r>
          </a:p>
        </p:txBody>
      </p:sp>
      <p:sp>
        <p:nvSpPr>
          <p:cNvPr id="19" name="TextBox 18"/>
          <p:cNvSpPr txBox="1"/>
          <p:nvPr/>
        </p:nvSpPr>
        <p:spPr>
          <a:xfrm>
            <a:off x="8290024" y="4029075"/>
            <a:ext cx="3149649" cy="571500"/>
          </a:xfrm>
          <a:prstGeom prst="rect">
            <a:avLst/>
          </a:prstGeom>
          <a:noFill/>
        </p:spPr>
        <p:txBody>
          <a:bodyPr wrap="square" lIns="0" tIns="0" rIns="0" bIns="0" anchor="t">
            <a:spAutoFit/>
          </a:bodyPr>
          <a:lstStyle/>
          <a:p>
            <a:pPr algn="l"/>
            <a:r>
              <a:rPr sz="1200" b="0" i="0" u="none" dirty="0">
                <a:solidFill>
                  <a:srgbClr val="475569"/>
                </a:solidFill>
                <a:latin typeface="Plus Jakarta+Sans"/>
              </a:rPr>
              <a:t>Initial dataset loading verified via Python and pushed repository.</a:t>
            </a:r>
          </a:p>
        </p:txBody>
      </p:sp>
      <p:sp>
        <p:nvSpPr>
          <p:cNvPr id="20" name="TextBox 19"/>
          <p:cNvSpPr txBox="1"/>
          <p:nvPr/>
        </p:nvSpPr>
        <p:spPr>
          <a:xfrm>
            <a:off x="8290024" y="4676775"/>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إثبات التحميل البرمجي ورفع الملفات على جيت هاب.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4514850"/>
            <a:ext cx="10972800" cy="800100"/>
          </a:xfrm>
          <a:prstGeom prst="roundRect">
            <a:avLst>
              <a:gd name="adj" fmla="val 9523"/>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Arial" panose="020B0604020202020204" pitchFamily="34" charset="0"/>
              <a:buChar char="•"/>
            </a:pPr>
            <a:r>
              <a:rPr lang="ar-JO" dirty="0">
                <a:solidFill>
                  <a:schemeClr val="tx2">
                    <a:lumMod val="60000"/>
                    <a:lumOff val="40000"/>
                  </a:schemeClr>
                </a:solidFill>
              </a:rPr>
              <a:t>14</a:t>
            </a:r>
            <a:r>
              <a:rPr lang="en-US" dirty="0">
                <a:solidFill>
                  <a:schemeClr val="tx2">
                    <a:lumMod val="60000"/>
                    <a:lumOff val="40000"/>
                  </a:schemeClr>
                </a:solidFill>
              </a:rPr>
              <a:t> -</a:t>
            </a:r>
            <a:r>
              <a:rPr lang="ar-JO" dirty="0">
                <a:solidFill>
                  <a:schemeClr val="tx2">
                    <a:lumMod val="60000"/>
                    <a:lumOff val="40000"/>
                  </a:schemeClr>
                </a:solidFill>
              </a:rPr>
              <a:t> </a:t>
            </a:r>
            <a:r>
              <a:rPr lang="en-US" dirty="0">
                <a:solidFill>
                  <a:schemeClr val="tx2">
                    <a:lumMod val="60000"/>
                    <a:lumOff val="40000"/>
                  </a:schemeClr>
                </a:solidFill>
              </a:rPr>
              <a:t>Features</a:t>
            </a:r>
            <a:endParaRPr dirty="0">
              <a:solidFill>
                <a:schemeClr val="tx2">
                  <a:lumMod val="60000"/>
                  <a:lumOff val="40000"/>
                </a:schemeClr>
              </a:solidFill>
            </a:endParaRPr>
          </a:p>
        </p:txBody>
      </p:sp>
      <p:sp>
        <p:nvSpPr>
          <p:cNvPr id="3" name="Rounded Rectangle 2"/>
          <p:cNvSpPr/>
          <p:nvPr/>
        </p:nvSpPr>
        <p:spPr>
          <a:xfrm>
            <a:off x="609600" y="2524125"/>
            <a:ext cx="3505200" cy="1647825"/>
          </a:xfrm>
          <a:prstGeom prst="roundRect">
            <a:avLst>
              <a:gd name="adj" fmla="val 92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43400" y="2524125"/>
            <a:ext cx="3505200" cy="1647825"/>
          </a:xfrm>
          <a:prstGeom prst="roundRect">
            <a:avLst>
              <a:gd name="adj" fmla="val 92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77200" y="2524125"/>
            <a:ext cx="3505200" cy="1647825"/>
          </a:xfrm>
          <a:prstGeom prst="roundRect">
            <a:avLst>
              <a:gd name="adj" fmla="val 92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4514850"/>
            <a:ext cx="38100" cy="800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533400"/>
            <a:ext cx="11582400" cy="171450"/>
          </a:xfrm>
          <a:prstGeom prst="rect">
            <a:avLst/>
          </a:prstGeom>
          <a:noFill/>
        </p:spPr>
        <p:txBody>
          <a:bodyPr wrap="none" lIns="0" tIns="0" rIns="0" bIns="0" anchor="t">
            <a:spAutoFit/>
          </a:bodyPr>
          <a:lstStyle/>
          <a:p>
            <a:pPr algn="l"/>
            <a:r>
              <a:rPr sz="1050" b="1" i="0" u="none">
                <a:solidFill>
                  <a:srgbClr val="2563EB"/>
                </a:solidFill>
                <a:latin typeface="Plus Jakarta Sans"/>
              </a:rPr>
              <a:t>PROJECT SUCCESS CRITERIA</a:t>
            </a:r>
          </a:p>
        </p:txBody>
      </p:sp>
      <p:sp>
        <p:nvSpPr>
          <p:cNvPr id="10" name="TextBox 9"/>
          <p:cNvSpPr txBox="1"/>
          <p:nvPr/>
        </p:nvSpPr>
        <p:spPr>
          <a:xfrm>
            <a:off x="516731" y="2800350"/>
            <a:ext cx="3690937" cy="495300"/>
          </a:xfrm>
          <a:prstGeom prst="rect">
            <a:avLst/>
          </a:prstGeom>
          <a:noFill/>
        </p:spPr>
        <p:txBody>
          <a:bodyPr wrap="none" lIns="0" tIns="0" rIns="0" bIns="0" anchor="t">
            <a:spAutoFit/>
          </a:bodyPr>
          <a:lstStyle/>
          <a:p>
            <a:pPr algn="ctr">
              <a:lnSpc>
                <a:spcPts val="3900"/>
              </a:lnSpc>
            </a:pPr>
            <a:r>
              <a:rPr sz="3900" b="1" i="0" u="none">
                <a:solidFill>
                  <a:srgbClr val="2563EB"/>
                </a:solidFill>
                <a:latin typeface="Plus Jakarta Sans"/>
              </a:rPr>
              <a:t>10,000</a:t>
            </a:r>
          </a:p>
        </p:txBody>
      </p:sp>
      <p:sp>
        <p:nvSpPr>
          <p:cNvPr id="11" name="TextBox 10"/>
          <p:cNvSpPr txBox="1"/>
          <p:nvPr/>
        </p:nvSpPr>
        <p:spPr>
          <a:xfrm>
            <a:off x="516731" y="3409950"/>
            <a:ext cx="3690937" cy="200025"/>
          </a:xfrm>
          <a:prstGeom prst="rect">
            <a:avLst/>
          </a:prstGeom>
          <a:noFill/>
        </p:spPr>
        <p:txBody>
          <a:bodyPr wrap="none" lIns="0" tIns="0" rIns="0" bIns="0" anchor="t">
            <a:spAutoFit/>
          </a:bodyPr>
          <a:lstStyle/>
          <a:p>
            <a:pPr algn="ctr"/>
            <a:r>
              <a:rPr sz="1200" b="1" i="0" u="none">
                <a:solidFill>
                  <a:srgbClr val="0F172A"/>
                </a:solidFill>
                <a:latin typeface="Plus Jakarta Sans"/>
              </a:rPr>
              <a:t>Customer Account Records</a:t>
            </a:r>
          </a:p>
        </p:txBody>
      </p:sp>
      <p:sp>
        <p:nvSpPr>
          <p:cNvPr id="12" name="TextBox 11"/>
          <p:cNvSpPr txBox="1"/>
          <p:nvPr/>
        </p:nvSpPr>
        <p:spPr>
          <a:xfrm>
            <a:off x="516731" y="3648075"/>
            <a:ext cx="3690937" cy="247650"/>
          </a:xfrm>
          <a:prstGeom prst="rect">
            <a:avLst/>
          </a:prstGeom>
          <a:noFill/>
        </p:spPr>
        <p:txBody>
          <a:bodyPr wrap="square" lIns="0" tIns="0" rIns="0" bIns="0" anchor="t">
            <a:spAutoFit/>
          </a:bodyPr>
          <a:lstStyle/>
          <a:p>
            <a:pPr algn="ctr"/>
            <a:r>
              <a:rPr sz="1050" b="0" i="0" u="none">
                <a:solidFill>
                  <a:srgbClr val="64748B"/>
                </a:solidFill>
                <a:latin typeface="Cairo"/>
              </a:rPr>
              <a:t>سجلات العملاء الجاهزة للتحليل</a:t>
            </a:r>
          </a:p>
        </p:txBody>
      </p:sp>
      <p:sp>
        <p:nvSpPr>
          <p:cNvPr id="13" name="TextBox 12"/>
          <p:cNvSpPr txBox="1"/>
          <p:nvPr/>
        </p:nvSpPr>
        <p:spPr>
          <a:xfrm>
            <a:off x="4250531" y="2800350"/>
            <a:ext cx="3690937" cy="495300"/>
          </a:xfrm>
          <a:prstGeom prst="rect">
            <a:avLst/>
          </a:prstGeom>
          <a:noFill/>
        </p:spPr>
        <p:txBody>
          <a:bodyPr wrap="none" lIns="0" tIns="0" rIns="0" bIns="0" anchor="t">
            <a:spAutoFit/>
          </a:bodyPr>
          <a:lstStyle/>
          <a:p>
            <a:pPr algn="ctr">
              <a:lnSpc>
                <a:spcPts val="3900"/>
              </a:lnSpc>
            </a:pPr>
            <a:r>
              <a:rPr sz="3900" b="1" i="0" u="none">
                <a:solidFill>
                  <a:srgbClr val="0F172A"/>
                </a:solidFill>
                <a:latin typeface="Plus Jakarta Sans"/>
              </a:rPr>
              <a:t>Exited</a:t>
            </a:r>
          </a:p>
        </p:txBody>
      </p:sp>
      <p:sp>
        <p:nvSpPr>
          <p:cNvPr id="14" name="TextBox 13"/>
          <p:cNvSpPr txBox="1"/>
          <p:nvPr/>
        </p:nvSpPr>
        <p:spPr>
          <a:xfrm>
            <a:off x="4250531" y="3409950"/>
            <a:ext cx="3690937" cy="200025"/>
          </a:xfrm>
          <a:prstGeom prst="rect">
            <a:avLst/>
          </a:prstGeom>
          <a:noFill/>
        </p:spPr>
        <p:txBody>
          <a:bodyPr wrap="none" lIns="0" tIns="0" rIns="0" bIns="0" anchor="t">
            <a:spAutoFit/>
          </a:bodyPr>
          <a:lstStyle/>
          <a:p>
            <a:pPr algn="ctr"/>
            <a:r>
              <a:rPr sz="1200" b="1" i="0" u="none">
                <a:solidFill>
                  <a:srgbClr val="0F172A"/>
                </a:solidFill>
                <a:latin typeface="Plus Jakarta Sans"/>
              </a:rPr>
              <a:t>Binary Target Variable</a:t>
            </a:r>
          </a:p>
        </p:txBody>
      </p:sp>
      <p:sp>
        <p:nvSpPr>
          <p:cNvPr id="15" name="TextBox 14"/>
          <p:cNvSpPr txBox="1"/>
          <p:nvPr/>
        </p:nvSpPr>
        <p:spPr>
          <a:xfrm>
            <a:off x="4250531" y="3648075"/>
            <a:ext cx="3690937" cy="247650"/>
          </a:xfrm>
          <a:prstGeom prst="rect">
            <a:avLst/>
          </a:prstGeom>
          <a:noFill/>
        </p:spPr>
        <p:txBody>
          <a:bodyPr wrap="square" lIns="0" tIns="0" rIns="0" bIns="0" anchor="t">
            <a:spAutoFit/>
          </a:bodyPr>
          <a:lstStyle/>
          <a:p>
            <a:pPr algn="ctr"/>
            <a:r>
              <a:rPr sz="1050" b="0" i="0" u="none">
                <a:solidFill>
                  <a:srgbClr val="64748B"/>
                </a:solidFill>
                <a:latin typeface="Cairo"/>
              </a:rPr>
              <a:t>متغير التنبؤ الصريح (1 / 0)</a:t>
            </a:r>
          </a:p>
        </p:txBody>
      </p:sp>
      <p:sp>
        <p:nvSpPr>
          <p:cNvPr id="16" name="TextBox 15"/>
          <p:cNvSpPr txBox="1"/>
          <p:nvPr/>
        </p:nvSpPr>
        <p:spPr>
          <a:xfrm>
            <a:off x="7984331" y="2800350"/>
            <a:ext cx="3690937" cy="495300"/>
          </a:xfrm>
          <a:prstGeom prst="rect">
            <a:avLst/>
          </a:prstGeom>
          <a:noFill/>
        </p:spPr>
        <p:txBody>
          <a:bodyPr wrap="none" lIns="0" tIns="0" rIns="0" bIns="0" anchor="t">
            <a:spAutoFit/>
          </a:bodyPr>
          <a:lstStyle/>
          <a:p>
            <a:pPr algn="ctr">
              <a:lnSpc>
                <a:spcPts val="3900"/>
              </a:lnSpc>
            </a:pPr>
            <a:r>
              <a:rPr sz="3900" b="1" i="0" u="none">
                <a:solidFill>
                  <a:srgbClr val="8B5CF6"/>
                </a:solidFill>
                <a:latin typeface="Plus Jakarta Sans"/>
              </a:rPr>
              <a:t>Top 15%</a:t>
            </a:r>
          </a:p>
        </p:txBody>
      </p:sp>
      <p:sp>
        <p:nvSpPr>
          <p:cNvPr id="17" name="TextBox 16"/>
          <p:cNvSpPr txBox="1"/>
          <p:nvPr/>
        </p:nvSpPr>
        <p:spPr>
          <a:xfrm>
            <a:off x="7984331" y="3409950"/>
            <a:ext cx="3690937" cy="200025"/>
          </a:xfrm>
          <a:prstGeom prst="rect">
            <a:avLst/>
          </a:prstGeom>
          <a:noFill/>
        </p:spPr>
        <p:txBody>
          <a:bodyPr wrap="none" lIns="0" tIns="0" rIns="0" bIns="0" anchor="t">
            <a:spAutoFit/>
          </a:bodyPr>
          <a:lstStyle/>
          <a:p>
            <a:pPr algn="ctr"/>
            <a:r>
              <a:rPr sz="1200" b="1" i="0" u="none">
                <a:solidFill>
                  <a:srgbClr val="0F172A"/>
                </a:solidFill>
                <a:latin typeface="Plus Jakarta Sans"/>
              </a:rPr>
              <a:t>High-Risk Churn Isolation</a:t>
            </a:r>
          </a:p>
        </p:txBody>
      </p:sp>
      <p:sp>
        <p:nvSpPr>
          <p:cNvPr id="18" name="TextBox 17"/>
          <p:cNvSpPr txBox="1"/>
          <p:nvPr/>
        </p:nvSpPr>
        <p:spPr>
          <a:xfrm>
            <a:off x="7984331" y="3648075"/>
            <a:ext cx="3690937" cy="247650"/>
          </a:xfrm>
          <a:prstGeom prst="rect">
            <a:avLst/>
          </a:prstGeom>
          <a:noFill/>
        </p:spPr>
        <p:txBody>
          <a:bodyPr wrap="square" lIns="0" tIns="0" rIns="0" bIns="0" anchor="t">
            <a:spAutoFit/>
          </a:bodyPr>
          <a:lstStyle/>
          <a:p>
            <a:pPr algn="ctr"/>
            <a:r>
              <a:rPr sz="1050" b="0" i="0" u="none">
                <a:solidFill>
                  <a:srgbClr val="64748B"/>
                </a:solidFill>
                <a:latin typeface="Cairo"/>
              </a:rPr>
              <a:t>استهداف العملاء الأكثر عرضة للمغادرة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2547937"/>
            <a:ext cx="3505200" cy="2743200"/>
          </a:xfrm>
          <a:prstGeom prst="roundRect">
            <a:avLst>
              <a:gd name="adj" fmla="val 555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547937"/>
            <a:ext cx="3505200" cy="2743200"/>
          </a:xfrm>
          <a:prstGeom prst="roundRect">
            <a:avLst>
              <a:gd name="adj" fmla="val 555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547937"/>
            <a:ext cx="3505200" cy="2743200"/>
          </a:xfrm>
          <a:prstGeom prst="roundRect">
            <a:avLst>
              <a:gd name="adj" fmla="val 555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23925" y="2862262"/>
            <a:ext cx="457200" cy="457200"/>
          </a:xfrm>
          <a:prstGeom prst="rect">
            <a:avLst/>
          </a:prstGeom>
        </p:spPr>
      </p:pic>
      <p:pic>
        <p:nvPicPr>
          <p:cNvPr id="6" name="Picture 5" descr="image.png"/>
          <p:cNvPicPr>
            <a:picLocks noChangeAspect="1"/>
          </p:cNvPicPr>
          <p:nvPr/>
        </p:nvPicPr>
        <p:blipFill>
          <a:blip r:embed="rId3"/>
          <a:stretch>
            <a:fillRect/>
          </a:stretch>
        </p:blipFill>
        <p:spPr>
          <a:xfrm>
            <a:off x="4657725" y="2862262"/>
            <a:ext cx="457200" cy="457200"/>
          </a:xfrm>
          <a:prstGeom prst="rect">
            <a:avLst/>
          </a:prstGeom>
        </p:spPr>
      </p:pic>
      <p:pic>
        <p:nvPicPr>
          <p:cNvPr id="7" name="Picture 6" descr="image.png"/>
          <p:cNvPicPr>
            <a:picLocks noChangeAspect="1"/>
          </p:cNvPicPr>
          <p:nvPr/>
        </p:nvPicPr>
        <p:blipFill>
          <a:blip r:embed="rId4"/>
          <a:stretch>
            <a:fillRect/>
          </a:stretch>
        </p:blipFill>
        <p:spPr>
          <a:xfrm>
            <a:off x="8391525" y="2862262"/>
            <a:ext cx="457200" cy="457200"/>
          </a:xfrm>
          <a:prstGeom prst="rect">
            <a:avLst/>
          </a:prstGeom>
        </p:spPr>
      </p:pic>
      <p:pic>
        <p:nvPicPr>
          <p:cNvPr id="8" name="Picture 7" descr="image.png"/>
          <p:cNvPicPr>
            <a:picLocks noChangeAspect="1"/>
          </p:cNvPicPr>
          <p:nvPr/>
        </p:nvPicPr>
        <p:blipFill>
          <a:blip r:embed="rId5"/>
          <a:stretch>
            <a:fillRect/>
          </a:stretch>
        </p:blipFill>
        <p:spPr>
          <a:xfrm>
            <a:off x="1057275" y="2995612"/>
            <a:ext cx="190500" cy="190500"/>
          </a:xfrm>
          <a:prstGeom prst="rect">
            <a:avLst/>
          </a:prstGeom>
        </p:spPr>
      </p:pic>
      <p:pic>
        <p:nvPicPr>
          <p:cNvPr id="9" name="Picture 8" descr="image.png"/>
          <p:cNvPicPr>
            <a:picLocks noChangeAspect="1"/>
          </p:cNvPicPr>
          <p:nvPr/>
        </p:nvPicPr>
        <p:blipFill>
          <a:blip r:embed="rId6"/>
          <a:stretch>
            <a:fillRect/>
          </a:stretch>
        </p:blipFill>
        <p:spPr>
          <a:xfrm>
            <a:off x="4767262" y="2995612"/>
            <a:ext cx="238125" cy="190500"/>
          </a:xfrm>
          <a:prstGeom prst="rect">
            <a:avLst/>
          </a:prstGeom>
        </p:spPr>
      </p:pic>
      <p:pic>
        <p:nvPicPr>
          <p:cNvPr id="10" name="Picture 9" descr="image.png"/>
          <p:cNvPicPr>
            <a:picLocks noChangeAspect="1"/>
          </p:cNvPicPr>
          <p:nvPr/>
        </p:nvPicPr>
        <p:blipFill>
          <a:blip r:embed="rId7"/>
          <a:stretch>
            <a:fillRect/>
          </a:stretch>
        </p:blipFill>
        <p:spPr>
          <a:xfrm>
            <a:off x="8501062" y="2995612"/>
            <a:ext cx="238125" cy="190500"/>
          </a:xfrm>
          <a:prstGeom prst="rect">
            <a:avLst/>
          </a:prstGeom>
        </p:spPr>
      </p:pic>
      <p:sp>
        <p:nvSpPr>
          <p:cNvPr id="11" name="TextBox 10"/>
          <p:cNvSpPr txBox="1"/>
          <p:nvPr/>
        </p:nvSpPr>
        <p:spPr>
          <a:xfrm>
            <a:off x="9344025" y="885825"/>
            <a:ext cx="2333625" cy="285750"/>
          </a:xfrm>
          <a:prstGeom prst="rect">
            <a:avLst/>
          </a:prstGeom>
          <a:noFill/>
        </p:spPr>
        <p:txBody>
          <a:bodyPr wrap="square" lIns="0" tIns="0" rIns="0" bIns="0" anchor="t">
            <a:spAutoFit/>
          </a:bodyPr>
          <a:lstStyle/>
          <a:p>
            <a:pPr algn="l"/>
            <a:r>
              <a:rPr sz="1200" b="1" i="0" u="none">
                <a:solidFill>
                  <a:srgbClr val="64748B"/>
                </a:solidFill>
                <a:latin typeface="Cairo"/>
              </a:rPr>
              <a:t>أهمية تنظيف وفهم البيانات مسبقاً</a:t>
            </a:r>
          </a:p>
        </p:txBody>
      </p:sp>
      <p:sp>
        <p:nvSpPr>
          <p:cNvPr id="12" name="TextBox 11"/>
          <p:cNvSpPr txBox="1"/>
          <p:nvPr/>
        </p:nvSpPr>
        <p:spPr>
          <a:xfrm>
            <a:off x="609600" y="533400"/>
            <a:ext cx="5155406" cy="171450"/>
          </a:xfrm>
          <a:prstGeom prst="rect">
            <a:avLst/>
          </a:prstGeom>
          <a:noFill/>
        </p:spPr>
        <p:txBody>
          <a:bodyPr wrap="none" lIns="0" tIns="0" rIns="0" bIns="0" anchor="t">
            <a:spAutoFit/>
          </a:bodyPr>
          <a:lstStyle/>
          <a:p>
            <a:pPr algn="l"/>
            <a:r>
              <a:rPr sz="1050" b="1" i="0" u="none">
                <a:solidFill>
                  <a:srgbClr val="2563EB"/>
                </a:solidFill>
                <a:latin typeface="Plus Jakarta Sans"/>
              </a:rPr>
              <a:t>MILESTONE BASICS</a:t>
            </a:r>
          </a:p>
        </p:txBody>
      </p:sp>
      <p:sp>
        <p:nvSpPr>
          <p:cNvPr id="13" name="TextBox 12"/>
          <p:cNvSpPr txBox="1"/>
          <p:nvPr/>
        </p:nvSpPr>
        <p:spPr>
          <a:xfrm>
            <a:off x="609600" y="742950"/>
            <a:ext cx="5413176" cy="428625"/>
          </a:xfrm>
          <a:prstGeom prst="rect">
            <a:avLst/>
          </a:prstGeom>
          <a:noFill/>
        </p:spPr>
        <p:txBody>
          <a:bodyPr wrap="none" lIns="0" tIns="0" rIns="0" bIns="0" anchor="t">
            <a:spAutoFit/>
          </a:bodyPr>
          <a:lstStyle/>
          <a:p>
            <a:pPr algn="l"/>
            <a:r>
              <a:rPr sz="2700" b="1" i="0" u="none" dirty="0">
                <a:solidFill>
                  <a:srgbClr val="0F172A"/>
                </a:solidFill>
                <a:latin typeface="Plus Jakarta Sans"/>
              </a:rPr>
              <a:t>Why Milestone 2 Matters</a:t>
            </a:r>
          </a:p>
        </p:txBody>
      </p:sp>
      <p:sp>
        <p:nvSpPr>
          <p:cNvPr id="14" name="TextBox 13"/>
          <p:cNvSpPr txBox="1"/>
          <p:nvPr/>
        </p:nvSpPr>
        <p:spPr>
          <a:xfrm>
            <a:off x="923925" y="3471862"/>
            <a:ext cx="3775471" cy="266700"/>
          </a:xfrm>
          <a:prstGeom prst="rect">
            <a:avLst/>
          </a:prstGeom>
          <a:noFill/>
        </p:spPr>
        <p:txBody>
          <a:bodyPr wrap="none" lIns="0" tIns="0" rIns="0" bIns="0" anchor="t">
            <a:spAutoFit/>
          </a:bodyPr>
          <a:lstStyle/>
          <a:p>
            <a:pPr algn="l"/>
            <a:r>
              <a:rPr sz="1650" b="1" i="0" u="none">
                <a:solidFill>
                  <a:srgbClr val="0F172A"/>
                </a:solidFill>
                <a:latin typeface="Plus Jakarta Sans"/>
              </a:rPr>
              <a:t>Foundation Assumption</a:t>
            </a:r>
          </a:p>
        </p:txBody>
      </p:sp>
      <p:sp>
        <p:nvSpPr>
          <p:cNvPr id="15" name="TextBox 14"/>
          <p:cNvSpPr txBox="1"/>
          <p:nvPr/>
        </p:nvSpPr>
        <p:spPr>
          <a:xfrm>
            <a:off x="923925" y="3890962"/>
            <a:ext cx="29718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Every later milestone and machine learning model assumes your dataset is clean and well understood.</a:t>
            </a:r>
          </a:p>
        </p:txBody>
      </p:sp>
      <p:sp>
        <p:nvSpPr>
          <p:cNvPr id="16" name="TextBox 15"/>
          <p:cNvSpPr txBox="1"/>
          <p:nvPr/>
        </p:nvSpPr>
        <p:spPr>
          <a:xfrm>
            <a:off x="923925" y="4729162"/>
            <a:ext cx="2971800" cy="247650"/>
          </a:xfrm>
          <a:prstGeom prst="rect">
            <a:avLst/>
          </a:prstGeom>
          <a:noFill/>
        </p:spPr>
        <p:txBody>
          <a:bodyPr wrap="square" lIns="0" tIns="0" rIns="0" bIns="0" anchor="t">
            <a:spAutoFit/>
          </a:bodyPr>
          <a:lstStyle/>
          <a:p>
            <a:pPr algn="l"/>
            <a:r>
              <a:rPr sz="1050" b="1" i="0" u="none">
                <a:solidFill>
                  <a:srgbClr val="2563EB"/>
                </a:solidFill>
                <a:latin typeface="Cairo"/>
              </a:rPr>
              <a:t>الأساس لكل النماذج والتحليلات اللاحقة</a:t>
            </a:r>
          </a:p>
        </p:txBody>
      </p:sp>
      <p:sp>
        <p:nvSpPr>
          <p:cNvPr id="17" name="TextBox 16"/>
          <p:cNvSpPr txBox="1"/>
          <p:nvPr/>
        </p:nvSpPr>
        <p:spPr>
          <a:xfrm>
            <a:off x="4657725" y="3471862"/>
            <a:ext cx="3775471" cy="266700"/>
          </a:xfrm>
          <a:prstGeom prst="rect">
            <a:avLst/>
          </a:prstGeom>
          <a:noFill/>
        </p:spPr>
        <p:txBody>
          <a:bodyPr wrap="none" lIns="0" tIns="0" rIns="0" bIns="0" anchor="t">
            <a:spAutoFit/>
          </a:bodyPr>
          <a:lstStyle/>
          <a:p>
            <a:pPr algn="l"/>
            <a:r>
              <a:rPr sz="1650" b="1" i="0" u="none">
                <a:solidFill>
                  <a:srgbClr val="0F172A"/>
                </a:solidFill>
                <a:latin typeface="Plus Jakarta Sans"/>
              </a:rPr>
              <a:t>Preventing Quiet Errors</a:t>
            </a:r>
          </a:p>
        </p:txBody>
      </p:sp>
      <p:sp>
        <p:nvSpPr>
          <p:cNvPr id="18" name="TextBox 17"/>
          <p:cNvSpPr txBox="1"/>
          <p:nvPr/>
        </p:nvSpPr>
        <p:spPr>
          <a:xfrm>
            <a:off x="4657725" y="3890962"/>
            <a:ext cx="29718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A dirty dataset quietly produces wrong statistics, distorted charts, and failing models later on.</a:t>
            </a:r>
          </a:p>
        </p:txBody>
      </p:sp>
      <p:sp>
        <p:nvSpPr>
          <p:cNvPr id="19" name="TextBox 18"/>
          <p:cNvSpPr txBox="1"/>
          <p:nvPr/>
        </p:nvSpPr>
        <p:spPr>
          <a:xfrm>
            <a:off x="4657725" y="4729162"/>
            <a:ext cx="2971800" cy="247650"/>
          </a:xfrm>
          <a:prstGeom prst="rect">
            <a:avLst/>
          </a:prstGeom>
          <a:noFill/>
        </p:spPr>
        <p:txBody>
          <a:bodyPr wrap="square" lIns="0" tIns="0" rIns="0" bIns="0" anchor="t">
            <a:spAutoFit/>
          </a:bodyPr>
          <a:lstStyle/>
          <a:p>
            <a:pPr algn="l"/>
            <a:r>
              <a:rPr sz="1050" b="1" i="0" u="none">
                <a:solidFill>
                  <a:srgbClr val="16A34A"/>
                </a:solidFill>
                <a:latin typeface="Cairo"/>
              </a:rPr>
              <a:t>تجنب الأخطاء الخفية في الإحصائيات</a:t>
            </a:r>
          </a:p>
        </p:txBody>
      </p:sp>
      <p:sp>
        <p:nvSpPr>
          <p:cNvPr id="20" name="TextBox 19"/>
          <p:cNvSpPr txBox="1"/>
          <p:nvPr/>
        </p:nvSpPr>
        <p:spPr>
          <a:xfrm>
            <a:off x="8391525" y="3471862"/>
            <a:ext cx="3775471" cy="266700"/>
          </a:xfrm>
          <a:prstGeom prst="rect">
            <a:avLst/>
          </a:prstGeom>
          <a:noFill/>
        </p:spPr>
        <p:txBody>
          <a:bodyPr wrap="none" lIns="0" tIns="0" rIns="0" bIns="0" anchor="t">
            <a:spAutoFit/>
          </a:bodyPr>
          <a:lstStyle/>
          <a:p>
            <a:pPr algn="l"/>
            <a:r>
              <a:rPr sz="1650" b="1" i="0" u="none">
                <a:solidFill>
                  <a:srgbClr val="0F172A"/>
                </a:solidFill>
                <a:latin typeface="Plus Jakarta Sans"/>
              </a:rPr>
              <a:t>Defense &amp; Justification</a:t>
            </a:r>
          </a:p>
        </p:txBody>
      </p:sp>
      <p:sp>
        <p:nvSpPr>
          <p:cNvPr id="21" name="TextBox 20"/>
          <p:cNvSpPr txBox="1"/>
          <p:nvPr/>
        </p:nvSpPr>
        <p:spPr>
          <a:xfrm>
            <a:off x="8391525" y="3890962"/>
            <a:ext cx="29718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Explaining cleaning decisions out loud separates genuine understanding from guesswork.</a:t>
            </a:r>
          </a:p>
        </p:txBody>
      </p:sp>
      <p:sp>
        <p:nvSpPr>
          <p:cNvPr id="22" name="TextBox 21"/>
          <p:cNvSpPr txBox="1"/>
          <p:nvPr/>
        </p:nvSpPr>
        <p:spPr>
          <a:xfrm>
            <a:off x="8391525" y="4729162"/>
            <a:ext cx="2971800" cy="247650"/>
          </a:xfrm>
          <a:prstGeom prst="rect">
            <a:avLst/>
          </a:prstGeom>
          <a:noFill/>
        </p:spPr>
        <p:txBody>
          <a:bodyPr wrap="square" lIns="0" tIns="0" rIns="0" bIns="0" anchor="t">
            <a:spAutoFit/>
          </a:bodyPr>
          <a:lstStyle/>
          <a:p>
            <a:pPr algn="l"/>
            <a:r>
              <a:rPr sz="1050" b="1" i="0" u="none">
                <a:solidFill>
                  <a:srgbClr val="9333EA"/>
                </a:solidFill>
                <a:latin typeface="Cairo"/>
              </a:rPr>
              <a:t>شرح وتبرير القرارات بوضوح تام</a:t>
            </a:r>
          </a:p>
        </p:txBody>
      </p:sp>
      <p:sp>
        <p:nvSpPr>
          <p:cNvPr id="23" name="TextBox 22"/>
          <p:cNvSpPr txBox="1"/>
          <p:nvPr/>
        </p:nvSpPr>
        <p:spPr>
          <a:xfrm>
            <a:off x="3543300" y="2947987"/>
            <a:ext cx="542925" cy="285750"/>
          </a:xfrm>
          <a:prstGeom prst="rect">
            <a:avLst/>
          </a:prstGeom>
          <a:noFill/>
        </p:spPr>
        <p:txBody>
          <a:bodyPr wrap="none" lIns="0" tIns="0" rIns="0" bIns="0" anchor="t">
            <a:spAutoFit/>
          </a:bodyPr>
          <a:lstStyle/>
          <a:p>
            <a:pPr algn="l"/>
            <a:r>
              <a:rPr sz="1800" b="1" i="0" u="none">
                <a:solidFill>
                  <a:srgbClr val="0F172A"/>
                </a:solidFill>
                <a:latin typeface="Plus Jakarta Sans"/>
              </a:rPr>
              <a:t>01</a:t>
            </a:r>
          </a:p>
        </p:txBody>
      </p:sp>
      <p:sp>
        <p:nvSpPr>
          <p:cNvPr id="24" name="TextBox 23"/>
          <p:cNvSpPr txBox="1"/>
          <p:nvPr/>
        </p:nvSpPr>
        <p:spPr>
          <a:xfrm>
            <a:off x="7239000" y="2947987"/>
            <a:ext cx="581025" cy="285750"/>
          </a:xfrm>
          <a:prstGeom prst="rect">
            <a:avLst/>
          </a:prstGeom>
          <a:noFill/>
        </p:spPr>
        <p:txBody>
          <a:bodyPr wrap="none" lIns="0" tIns="0" rIns="0" bIns="0" anchor="t">
            <a:spAutoFit/>
          </a:bodyPr>
          <a:lstStyle/>
          <a:p>
            <a:pPr algn="l"/>
            <a:r>
              <a:rPr sz="1800" b="1" i="0" u="none">
                <a:solidFill>
                  <a:srgbClr val="0F172A"/>
                </a:solidFill>
                <a:latin typeface="Plus Jakarta Sans"/>
              </a:rPr>
              <a:t>02</a:t>
            </a:r>
          </a:p>
        </p:txBody>
      </p:sp>
      <p:sp>
        <p:nvSpPr>
          <p:cNvPr id="25" name="TextBox 24"/>
          <p:cNvSpPr txBox="1"/>
          <p:nvPr/>
        </p:nvSpPr>
        <p:spPr>
          <a:xfrm>
            <a:off x="10963275" y="2947987"/>
            <a:ext cx="590550" cy="285750"/>
          </a:xfrm>
          <a:prstGeom prst="rect">
            <a:avLst/>
          </a:prstGeom>
          <a:noFill/>
        </p:spPr>
        <p:txBody>
          <a:bodyPr wrap="none" lIns="0" tIns="0" rIns="0" bIns="0" anchor="t">
            <a:spAutoFit/>
          </a:bodyPr>
          <a:lstStyle/>
          <a:p>
            <a:pPr algn="l"/>
            <a:r>
              <a:rPr sz="1800" b="1" i="0" u="none">
                <a:solidFill>
                  <a:srgbClr val="0F172A"/>
                </a:solidFill>
                <a:latin typeface="Plus Jakarta Sans"/>
              </a:rPr>
              <a:t>03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2738437"/>
            <a:ext cx="3505200" cy="2066925"/>
          </a:xfrm>
          <a:prstGeom prst="roundRect">
            <a:avLst>
              <a:gd name="adj" fmla="val 5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738437"/>
            <a:ext cx="3505200" cy="2066925"/>
          </a:xfrm>
          <a:prstGeom prst="roundRect">
            <a:avLst>
              <a:gd name="adj" fmla="val 5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738437"/>
            <a:ext cx="3505200" cy="2066925"/>
          </a:xfrm>
          <a:prstGeom prst="roundRect">
            <a:avLst>
              <a:gd name="adj" fmla="val 5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923925" y="3052762"/>
            <a:ext cx="457200" cy="457200"/>
          </a:xfrm>
          <a:prstGeom prst="rect">
            <a:avLst/>
          </a:prstGeom>
        </p:spPr>
      </p:pic>
      <p:pic>
        <p:nvPicPr>
          <p:cNvPr id="6" name="Picture 5" descr="image.png"/>
          <p:cNvPicPr>
            <a:picLocks noChangeAspect="1"/>
          </p:cNvPicPr>
          <p:nvPr/>
        </p:nvPicPr>
        <p:blipFill>
          <a:blip r:embed="rId3"/>
          <a:stretch>
            <a:fillRect/>
          </a:stretch>
        </p:blipFill>
        <p:spPr>
          <a:xfrm>
            <a:off x="4657725" y="3052762"/>
            <a:ext cx="457200" cy="457200"/>
          </a:xfrm>
          <a:prstGeom prst="rect">
            <a:avLst/>
          </a:prstGeom>
        </p:spPr>
      </p:pic>
      <p:pic>
        <p:nvPicPr>
          <p:cNvPr id="7" name="Picture 6" descr="image.png"/>
          <p:cNvPicPr>
            <a:picLocks noChangeAspect="1"/>
          </p:cNvPicPr>
          <p:nvPr/>
        </p:nvPicPr>
        <p:blipFill>
          <a:blip r:embed="rId4"/>
          <a:stretch>
            <a:fillRect/>
          </a:stretch>
        </p:blipFill>
        <p:spPr>
          <a:xfrm>
            <a:off x="8391525" y="3052762"/>
            <a:ext cx="457200" cy="457200"/>
          </a:xfrm>
          <a:prstGeom prst="rect">
            <a:avLst/>
          </a:prstGeom>
        </p:spPr>
      </p:pic>
      <p:pic>
        <p:nvPicPr>
          <p:cNvPr id="8" name="Picture 7" descr="image.png"/>
          <p:cNvPicPr>
            <a:picLocks noChangeAspect="1"/>
          </p:cNvPicPr>
          <p:nvPr/>
        </p:nvPicPr>
        <p:blipFill>
          <a:blip r:embed="rId5"/>
          <a:stretch>
            <a:fillRect/>
          </a:stretch>
        </p:blipFill>
        <p:spPr>
          <a:xfrm>
            <a:off x="1057275" y="3186112"/>
            <a:ext cx="190500" cy="190500"/>
          </a:xfrm>
          <a:prstGeom prst="rect">
            <a:avLst/>
          </a:prstGeom>
        </p:spPr>
      </p:pic>
      <p:pic>
        <p:nvPicPr>
          <p:cNvPr id="9" name="Picture 8" descr="image.png"/>
          <p:cNvPicPr>
            <a:picLocks noChangeAspect="1"/>
          </p:cNvPicPr>
          <p:nvPr/>
        </p:nvPicPr>
        <p:blipFill>
          <a:blip r:embed="rId6"/>
          <a:stretch>
            <a:fillRect/>
          </a:stretch>
        </p:blipFill>
        <p:spPr>
          <a:xfrm>
            <a:off x="4776787" y="3186112"/>
            <a:ext cx="219075" cy="190500"/>
          </a:xfrm>
          <a:prstGeom prst="rect">
            <a:avLst/>
          </a:prstGeom>
        </p:spPr>
      </p:pic>
      <p:pic>
        <p:nvPicPr>
          <p:cNvPr id="10" name="Picture 9" descr="image.png"/>
          <p:cNvPicPr>
            <a:picLocks noChangeAspect="1"/>
          </p:cNvPicPr>
          <p:nvPr/>
        </p:nvPicPr>
        <p:blipFill>
          <a:blip r:embed="rId7"/>
          <a:stretch>
            <a:fillRect/>
          </a:stretch>
        </p:blipFill>
        <p:spPr>
          <a:xfrm>
            <a:off x="8524875" y="3186112"/>
            <a:ext cx="190500" cy="190500"/>
          </a:xfrm>
          <a:prstGeom prst="rect">
            <a:avLst/>
          </a:prstGeom>
        </p:spPr>
      </p:pic>
      <p:sp>
        <p:nvSpPr>
          <p:cNvPr id="11" name="TextBox 10"/>
          <p:cNvSpPr txBox="1"/>
          <p:nvPr/>
        </p:nvSpPr>
        <p:spPr>
          <a:xfrm>
            <a:off x="609600" y="457200"/>
            <a:ext cx="6563320" cy="381000"/>
          </a:xfrm>
          <a:prstGeom prst="rect">
            <a:avLst/>
          </a:prstGeom>
          <a:noFill/>
        </p:spPr>
        <p:txBody>
          <a:bodyPr wrap="none" lIns="0" tIns="0" rIns="0" bIns="0" anchor="t">
            <a:spAutoFit/>
          </a:bodyPr>
          <a:lstStyle/>
          <a:p>
            <a:pPr algn="l"/>
            <a:r>
              <a:rPr sz="2400" b="1" i="0" u="none" dirty="0">
                <a:solidFill>
                  <a:srgbClr val="0F172A"/>
                </a:solidFill>
                <a:latin typeface="Space Grotesk"/>
              </a:rPr>
              <a:t>Presentation Objectives &amp; Agenda</a:t>
            </a:r>
          </a:p>
        </p:txBody>
      </p:sp>
      <p:sp>
        <p:nvSpPr>
          <p:cNvPr id="12" name="TextBox 11"/>
          <p:cNvSpPr txBox="1"/>
          <p:nvPr/>
        </p:nvSpPr>
        <p:spPr>
          <a:xfrm>
            <a:off x="9934575" y="557212"/>
            <a:ext cx="2059781" cy="180975"/>
          </a:xfrm>
          <a:prstGeom prst="rect">
            <a:avLst/>
          </a:prstGeom>
          <a:noFill/>
        </p:spPr>
        <p:txBody>
          <a:bodyPr wrap="none" lIns="0" tIns="0" rIns="0" bIns="0" anchor="t">
            <a:spAutoFit/>
          </a:bodyPr>
          <a:lstStyle/>
          <a:p>
            <a:pPr algn="l"/>
            <a:r>
              <a:rPr sz="1125" b="1" i="0" u="none">
                <a:solidFill>
                  <a:srgbClr val="64748B"/>
                </a:solidFill>
                <a:latin typeface="Inter"/>
              </a:rPr>
              <a:t>MILESTONE 2 SCOPE</a:t>
            </a:r>
          </a:p>
        </p:txBody>
      </p:sp>
      <p:sp>
        <p:nvSpPr>
          <p:cNvPr id="13" name="TextBox 12"/>
          <p:cNvSpPr txBox="1"/>
          <p:nvPr/>
        </p:nvSpPr>
        <p:spPr>
          <a:xfrm>
            <a:off x="923925" y="3700462"/>
            <a:ext cx="3775471" cy="247650"/>
          </a:xfrm>
          <a:prstGeom prst="rect">
            <a:avLst/>
          </a:prstGeom>
          <a:noFill/>
        </p:spPr>
        <p:txBody>
          <a:bodyPr wrap="none" lIns="0" tIns="0" rIns="0" bIns="0" anchor="t">
            <a:spAutoFit/>
          </a:bodyPr>
          <a:lstStyle/>
          <a:p>
            <a:pPr algn="l"/>
            <a:r>
              <a:rPr sz="1500" b="1" i="0" u="none">
                <a:solidFill>
                  <a:srgbClr val="0F172A"/>
                </a:solidFill>
                <a:latin typeface="Space Grotesk"/>
              </a:rPr>
              <a:t>1. Dataset Architecture</a:t>
            </a:r>
          </a:p>
        </p:txBody>
      </p:sp>
      <p:sp>
        <p:nvSpPr>
          <p:cNvPr id="14" name="TextBox 13"/>
          <p:cNvSpPr txBox="1"/>
          <p:nvPr/>
        </p:nvSpPr>
        <p:spPr>
          <a:xfrm>
            <a:off x="923925" y="4062412"/>
            <a:ext cx="2971800"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Data dictionary, feature types, and understanding initial customer attributes.</a:t>
            </a:r>
          </a:p>
        </p:txBody>
      </p:sp>
      <p:sp>
        <p:nvSpPr>
          <p:cNvPr id="15" name="TextBox 14"/>
          <p:cNvSpPr txBox="1"/>
          <p:nvPr/>
        </p:nvSpPr>
        <p:spPr>
          <a:xfrm>
            <a:off x="4657725" y="3700462"/>
            <a:ext cx="3775471" cy="247650"/>
          </a:xfrm>
          <a:prstGeom prst="rect">
            <a:avLst/>
          </a:prstGeom>
          <a:noFill/>
        </p:spPr>
        <p:txBody>
          <a:bodyPr wrap="none" lIns="0" tIns="0" rIns="0" bIns="0" anchor="t">
            <a:spAutoFit/>
          </a:bodyPr>
          <a:lstStyle/>
          <a:p>
            <a:pPr algn="l"/>
            <a:r>
              <a:rPr sz="1500" b="1" i="0" u="none">
                <a:solidFill>
                  <a:srgbClr val="0F172A"/>
                </a:solidFill>
                <a:latin typeface="Space Grotesk"/>
              </a:rPr>
              <a:t>2. Cleaning Justifications</a:t>
            </a:r>
          </a:p>
        </p:txBody>
      </p:sp>
      <p:sp>
        <p:nvSpPr>
          <p:cNvPr id="16" name="TextBox 15"/>
          <p:cNvSpPr txBox="1"/>
          <p:nvPr/>
        </p:nvSpPr>
        <p:spPr>
          <a:xfrm>
            <a:off x="4657725" y="4062412"/>
            <a:ext cx="2971800"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Defending handling of missing values, duplicates, and non-informative features.</a:t>
            </a:r>
          </a:p>
        </p:txBody>
      </p:sp>
      <p:sp>
        <p:nvSpPr>
          <p:cNvPr id="17" name="TextBox 16"/>
          <p:cNvSpPr txBox="1"/>
          <p:nvPr/>
        </p:nvSpPr>
        <p:spPr>
          <a:xfrm>
            <a:off x="8391525" y="3700462"/>
            <a:ext cx="3775471" cy="247650"/>
          </a:xfrm>
          <a:prstGeom prst="rect">
            <a:avLst/>
          </a:prstGeom>
          <a:noFill/>
        </p:spPr>
        <p:txBody>
          <a:bodyPr wrap="none" lIns="0" tIns="0" rIns="0" bIns="0" anchor="t">
            <a:spAutoFit/>
          </a:bodyPr>
          <a:lstStyle/>
          <a:p>
            <a:pPr algn="l"/>
            <a:r>
              <a:rPr sz="1500" b="1" i="0" u="none">
                <a:solidFill>
                  <a:srgbClr val="0F172A"/>
                </a:solidFill>
                <a:latin typeface="Space Grotesk"/>
              </a:rPr>
              <a:t>3. Impact &amp; Deliverables</a:t>
            </a:r>
          </a:p>
        </p:txBody>
      </p:sp>
      <p:sp>
        <p:nvSpPr>
          <p:cNvPr id="18" name="TextBox 17"/>
          <p:cNvSpPr txBox="1"/>
          <p:nvPr/>
        </p:nvSpPr>
        <p:spPr>
          <a:xfrm>
            <a:off x="8391525" y="4062412"/>
            <a:ext cx="2971800" cy="428625"/>
          </a:xfrm>
          <a:prstGeom prst="rect">
            <a:avLst/>
          </a:prstGeom>
          <a:noFill/>
        </p:spPr>
        <p:txBody>
          <a:bodyPr wrap="square" lIns="0" tIns="0" rIns="0" bIns="0" anchor="t">
            <a:spAutoFit/>
          </a:bodyPr>
          <a:lstStyle/>
          <a:p>
            <a:pPr algn="l">
              <a:lnSpc>
                <a:spcPts val="1687"/>
              </a:lnSpc>
            </a:pPr>
            <a:r>
              <a:rPr sz="1125" b="0" i="0" u="none">
                <a:solidFill>
                  <a:srgbClr val="475569"/>
                </a:solidFill>
                <a:latin typeface="Inter"/>
              </a:rPr>
              <a:t>Evaluating before-vs-after dataset health and GitHub pipeline deliverables.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467850" y="533400"/>
            <a:ext cx="2114550"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438400"/>
            <a:ext cx="10972800" cy="3143250"/>
          </a:xfrm>
          <a:prstGeom prst="roundRect">
            <a:avLst>
              <a:gd name="adj" fmla="val 0"/>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428545194"/>
              </p:ext>
            </p:extLst>
          </p:nvPr>
        </p:nvGraphicFramePr>
        <p:xfrm>
          <a:off x="609600" y="2438400"/>
          <a:ext cx="10963274" cy="3143250"/>
        </p:xfrm>
        <a:graphic>
          <a:graphicData uri="http://schemas.openxmlformats.org/drawingml/2006/table">
            <a:tbl>
              <a:tblPr/>
              <a:tblGrid>
                <a:gridCol w="3790354">
                  <a:extLst>
                    <a:ext uri="{9D8B030D-6E8A-4147-A177-3AD203B41FA5}">
                      <a16:colId xmlns:a16="http://schemas.microsoft.com/office/drawing/2014/main" val="20000"/>
                    </a:ext>
                  </a:extLst>
                </a:gridCol>
                <a:gridCol w="4131915">
                  <a:extLst>
                    <a:ext uri="{9D8B030D-6E8A-4147-A177-3AD203B41FA5}">
                      <a16:colId xmlns:a16="http://schemas.microsoft.com/office/drawing/2014/main" val="20001"/>
                    </a:ext>
                  </a:extLst>
                </a:gridCol>
                <a:gridCol w="3041005">
                  <a:extLst>
                    <a:ext uri="{9D8B030D-6E8A-4147-A177-3AD203B41FA5}">
                      <a16:colId xmlns:a16="http://schemas.microsoft.com/office/drawing/2014/main" val="20002"/>
                    </a:ext>
                  </a:extLst>
                </a:gridCol>
              </a:tblGrid>
              <a:tr h="628650">
                <a:tc>
                  <a:txBody>
                    <a:bodyPr/>
                    <a:lstStyle/>
                    <a:p>
                      <a:pPr algn="l"/>
                      <a:r>
                        <a:rPr sz="1350" b="1" i="0" u="none">
                          <a:solidFill>
                            <a:srgbClr val="FFFFFF"/>
                          </a:solidFill>
                          <a:latin typeface="Plus Jakarta+Sans"/>
                        </a:rPr>
                        <a:t>Metric / Feature</a:t>
                      </a:r>
                    </a:p>
                  </a:txBody>
                  <a:tcPr marL="63500" marR="63500" marT="25400" marB="25400" anchor="ctr">
                    <a:lnL>
                      <a:noFill/>
                    </a:lnL>
                    <a:lnR>
                      <a:noFill/>
                    </a:lnR>
                    <a:lnT>
                      <a:noFill/>
                    </a:lnT>
                    <a:lnB>
                      <a:noFill/>
                    </a:lnB>
                    <a:solidFill>
                      <a:srgbClr val="0284C7"/>
                    </a:solidFill>
                  </a:tcPr>
                </a:tc>
                <a:tc>
                  <a:txBody>
                    <a:bodyPr/>
                    <a:lstStyle/>
                    <a:p>
                      <a:pPr algn="l"/>
                      <a:r>
                        <a:rPr sz="1350" b="1" i="0" u="none">
                          <a:solidFill>
                            <a:srgbClr val="FFFFFF"/>
                          </a:solidFill>
                          <a:latin typeface="Plus Jakarta+Sans"/>
                        </a:rPr>
                        <a:t>Before Cleaning</a:t>
                      </a:r>
                    </a:p>
                  </a:txBody>
                  <a:tcPr marL="63500" marR="63500" marT="25400" marB="25400" anchor="ctr">
                    <a:lnL>
                      <a:noFill/>
                    </a:lnL>
                    <a:lnR>
                      <a:noFill/>
                    </a:lnR>
                    <a:lnT>
                      <a:noFill/>
                    </a:lnT>
                    <a:lnB>
                      <a:noFill/>
                    </a:lnB>
                    <a:solidFill>
                      <a:srgbClr val="0284C7"/>
                    </a:solidFill>
                  </a:tcPr>
                </a:tc>
                <a:tc>
                  <a:txBody>
                    <a:bodyPr/>
                    <a:lstStyle/>
                    <a:p>
                      <a:pPr algn="l"/>
                      <a:r>
                        <a:rPr sz="1350" b="1" i="0" u="none">
                          <a:solidFill>
                            <a:srgbClr val="FFFFFF"/>
                          </a:solidFill>
                          <a:latin typeface="Plus Jakarta+Sans"/>
                        </a:rPr>
                        <a:t>After Cleaning</a:t>
                      </a:r>
                    </a:p>
                  </a:txBody>
                  <a:tcPr marL="63500" marR="63500" marT="25400" marB="25400" anchor="ctr">
                    <a:lnL>
                      <a:noFill/>
                    </a:lnL>
                    <a:lnR>
                      <a:noFill/>
                    </a:lnR>
                    <a:lnT>
                      <a:noFill/>
                    </a:lnT>
                    <a:lnB>
                      <a:noFill/>
                    </a:lnB>
                    <a:solidFill>
                      <a:srgbClr val="0284C7"/>
                    </a:solidFill>
                  </a:tcPr>
                </a:tc>
                <a:extLst>
                  <a:ext uri="{0D108BD9-81ED-4DB2-BD59-A6C34878D82A}">
                    <a16:rowId xmlns:a16="http://schemas.microsoft.com/office/drawing/2014/main" val="10000"/>
                  </a:ext>
                </a:extLst>
              </a:tr>
              <a:tr h="628650">
                <a:tc>
                  <a:txBody>
                    <a:bodyPr/>
                    <a:lstStyle/>
                    <a:p>
                      <a:pPr algn="l"/>
                      <a:r>
                        <a:rPr sz="1275" b="1" i="0" u="none">
                          <a:solidFill>
                            <a:srgbClr val="334155"/>
                          </a:solidFill>
                          <a:latin typeface="Plus Jakarta+Sans"/>
                        </a:rPr>
                        <a:t>Total Dataset Rows</a:t>
                      </a:r>
                    </a:p>
                  </a:txBody>
                  <a:tcPr marL="63500" marR="63500" marT="25400" marB="25400" anchor="ctr">
                    <a:lnL>
                      <a:noFill/>
                    </a:lnL>
                    <a:lnR>
                      <a:noFill/>
                    </a:lnR>
                    <a:lnT>
                      <a:noFill/>
                    </a:lnT>
                    <a:lnB>
                      <a:noFill/>
                    </a:lnB>
                    <a:solidFill>
                      <a:srgbClr val="F8FAFC"/>
                    </a:solidFill>
                  </a:tcPr>
                </a:tc>
                <a:tc>
                  <a:txBody>
                    <a:bodyPr/>
                    <a:lstStyle/>
                    <a:p>
                      <a:pPr algn="l"/>
                      <a:r>
                        <a:rPr sz="1275" b="0" i="0" u="none" dirty="0">
                          <a:solidFill>
                            <a:srgbClr val="334155"/>
                          </a:solidFill>
                          <a:latin typeface="Plus Jakarta+Sans"/>
                        </a:rPr>
                        <a:t>10,0</a:t>
                      </a:r>
                      <a:r>
                        <a:rPr lang="en-US" sz="1275" b="0" i="0" u="none" dirty="0">
                          <a:solidFill>
                            <a:srgbClr val="334155"/>
                          </a:solidFill>
                          <a:latin typeface="Plus Jakarta+Sans"/>
                        </a:rPr>
                        <a:t>18</a:t>
                      </a:r>
                      <a:endParaRPr sz="1275" b="0" i="0" u="none" dirty="0">
                        <a:solidFill>
                          <a:srgbClr val="334155"/>
                        </a:solidFill>
                        <a:latin typeface="Plus Jakarta+Sans"/>
                      </a:endParaRPr>
                    </a:p>
                  </a:txBody>
                  <a:tcPr marL="63500" marR="63500" marT="25400" marB="25400" anchor="ctr">
                    <a:lnL>
                      <a:noFill/>
                    </a:lnL>
                    <a:lnR>
                      <a:noFill/>
                    </a:lnR>
                    <a:lnT>
                      <a:noFill/>
                    </a:lnT>
                    <a:lnB>
                      <a:noFill/>
                    </a:lnB>
                    <a:solidFill>
                      <a:srgbClr val="F8FAFC"/>
                    </a:solidFill>
                  </a:tcPr>
                </a:tc>
                <a:tc>
                  <a:txBody>
                    <a:bodyPr/>
                    <a:lstStyle/>
                    <a:p>
                      <a:pPr algn="l"/>
                      <a:r>
                        <a:rPr lang="ar-JO" sz="1275" b="1" i="0" u="none" dirty="0">
                          <a:solidFill>
                            <a:srgbClr val="0284C7"/>
                          </a:solidFill>
                          <a:latin typeface="Plus Jakarta+Sans"/>
                        </a:rPr>
                        <a:t>10,000</a:t>
                      </a:r>
                      <a:r>
                        <a:rPr sz="1275" b="1" i="0" u="none" dirty="0">
                          <a:solidFill>
                            <a:srgbClr val="0284C7"/>
                          </a:solidFill>
                          <a:latin typeface="Plus Jakarta+Sans"/>
                        </a:rPr>
                        <a:t> (Cleaned)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1"/>
                  </a:ext>
                </a:extLst>
              </a:tr>
              <a:tr h="628650">
                <a:tc>
                  <a:txBody>
                    <a:bodyPr/>
                    <a:lstStyle/>
                    <a:p>
                      <a:pPr algn="l"/>
                      <a:r>
                        <a:rPr sz="1275" b="1" i="0" u="none">
                          <a:solidFill>
                            <a:srgbClr val="334155"/>
                          </a:solidFill>
                          <a:latin typeface="Plus Jakarta+Sans"/>
                        </a:rPr>
                        <a:t>Missing Values</a:t>
                      </a:r>
                    </a:p>
                  </a:txBody>
                  <a:tcPr marL="63500" marR="63500" marT="25400" marB="25400" anchor="ctr">
                    <a:lnL>
                      <a:noFill/>
                    </a:lnL>
                    <a:lnR>
                      <a:noFill/>
                    </a:lnR>
                    <a:lnT>
                      <a:noFill/>
                    </a:lnT>
                    <a:lnB>
                      <a:noFill/>
                    </a:lnB>
                    <a:solidFill>
                      <a:srgbClr val="F8FAFC"/>
                    </a:solidFill>
                  </a:tcPr>
                </a:tc>
                <a:tc>
                  <a:txBody>
                    <a:bodyPr/>
                    <a:lstStyle/>
                    <a:p>
                      <a:pPr algn="l"/>
                      <a:r>
                        <a:rPr lang="ar-JO" sz="1275" b="0" i="0" u="none" dirty="0">
                          <a:solidFill>
                            <a:srgbClr val="334155"/>
                          </a:solidFill>
                          <a:latin typeface="Plus Jakarta+Sans"/>
                        </a:rPr>
                        <a:t>550</a:t>
                      </a:r>
                      <a:r>
                        <a:rPr sz="1275" b="0" i="0" u="none" dirty="0">
                          <a:solidFill>
                            <a:srgbClr val="334155"/>
                          </a:solidFill>
                          <a:latin typeface="Plus Jakarta+Sans"/>
                        </a:rPr>
                        <a:t> missing records</a:t>
                      </a:r>
                    </a:p>
                  </a:txBody>
                  <a:tcPr marL="63500" marR="63500" marT="25400" marB="25400" anchor="ctr">
                    <a:lnL>
                      <a:noFill/>
                    </a:lnL>
                    <a:lnR>
                      <a:noFill/>
                    </a:lnR>
                    <a:lnT>
                      <a:noFill/>
                    </a:lnT>
                    <a:lnB>
                      <a:noFill/>
                    </a:lnB>
                    <a:solidFill>
                      <a:srgbClr val="F8FAFC"/>
                    </a:solidFill>
                  </a:tcPr>
                </a:tc>
                <a:tc>
                  <a:txBody>
                    <a:bodyPr/>
                    <a:lstStyle/>
                    <a:p>
                      <a:pPr algn="l"/>
                      <a:r>
                        <a:rPr sz="1275" b="1" i="0" u="none">
                          <a:solidFill>
                            <a:srgbClr val="0284C7"/>
                          </a:solidFill>
                          <a:latin typeface="Plus Jakarta+Sans"/>
                        </a:rPr>
                        <a:t>0 missing records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628650">
                <a:tc>
                  <a:txBody>
                    <a:bodyPr/>
                    <a:lstStyle/>
                    <a:p>
                      <a:pPr algn="l"/>
                      <a:r>
                        <a:rPr sz="1275" b="1" i="0" u="none">
                          <a:solidFill>
                            <a:srgbClr val="334155"/>
                          </a:solidFill>
                          <a:latin typeface="Plus Jakarta+Sans"/>
                        </a:rPr>
                        <a:t>Duplicate Rows</a:t>
                      </a:r>
                    </a:p>
                  </a:txBody>
                  <a:tcPr marL="63500" marR="63500" marT="25400" marB="25400" anchor="ctr">
                    <a:lnL>
                      <a:noFill/>
                    </a:lnL>
                    <a:lnR>
                      <a:noFill/>
                    </a:lnR>
                    <a:lnT>
                      <a:noFill/>
                    </a:lnT>
                    <a:lnB>
                      <a:noFill/>
                    </a:lnB>
                    <a:solidFill>
                      <a:srgbClr val="F8FAFC"/>
                    </a:solidFill>
                  </a:tcPr>
                </a:tc>
                <a:tc>
                  <a:txBody>
                    <a:bodyPr/>
                    <a:lstStyle/>
                    <a:p>
                      <a:pPr algn="l"/>
                      <a:r>
                        <a:rPr lang="ar-JO" sz="1275" b="0" i="0" u="none" dirty="0">
                          <a:solidFill>
                            <a:srgbClr val="334155"/>
                          </a:solidFill>
                          <a:latin typeface="Plus Jakarta+Sans"/>
                        </a:rPr>
                        <a:t>18</a:t>
                      </a:r>
                      <a:r>
                        <a:rPr sz="1275" b="0" i="0" u="none" dirty="0">
                          <a:solidFill>
                            <a:srgbClr val="334155"/>
                          </a:solidFill>
                          <a:latin typeface="Plus Jakarta+Sans"/>
                        </a:rPr>
                        <a:t> duplicates</a:t>
                      </a:r>
                    </a:p>
                  </a:txBody>
                  <a:tcPr marL="63500" marR="63500" marT="25400" marB="25400" anchor="ctr">
                    <a:lnL>
                      <a:noFill/>
                    </a:lnL>
                    <a:lnR>
                      <a:noFill/>
                    </a:lnR>
                    <a:lnT>
                      <a:noFill/>
                    </a:lnT>
                    <a:lnB>
                      <a:noFill/>
                    </a:lnB>
                    <a:solidFill>
                      <a:srgbClr val="F8FAFC"/>
                    </a:solidFill>
                  </a:tcPr>
                </a:tc>
                <a:tc>
                  <a:txBody>
                    <a:bodyPr/>
                    <a:lstStyle/>
                    <a:p>
                      <a:pPr algn="l"/>
                      <a:r>
                        <a:rPr sz="1275" b="1" i="0" u="none">
                          <a:solidFill>
                            <a:srgbClr val="0284C7"/>
                          </a:solidFill>
                          <a:latin typeface="Plus Jakarta+Sans"/>
                        </a:rPr>
                        <a:t>0 duplicates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3"/>
                  </a:ext>
                </a:extLst>
              </a:tr>
              <a:tr h="628650">
                <a:tc>
                  <a:txBody>
                    <a:bodyPr/>
                    <a:lstStyle/>
                    <a:p>
                      <a:pPr algn="l"/>
                      <a:r>
                        <a:rPr sz="1275" b="1" i="0" u="none">
                          <a:solidFill>
                            <a:srgbClr val="334155"/>
                          </a:solidFill>
                          <a:latin typeface="Plus Jakarta+Sans"/>
                        </a:rPr>
                        <a:t>Account Balance Outliers</a:t>
                      </a:r>
                    </a:p>
                  </a:txBody>
                  <a:tcPr marL="63500" marR="63500" marT="25400" marB="25400" anchor="ctr">
                    <a:lnL>
                      <a:noFill/>
                    </a:lnL>
                    <a:lnR>
                      <a:noFill/>
                    </a:lnR>
                    <a:lnT>
                      <a:noFill/>
                    </a:lnT>
                    <a:lnB>
                      <a:noFill/>
                    </a:lnB>
                    <a:solidFill>
                      <a:srgbClr val="F8FAFC"/>
                    </a:solidFill>
                  </a:tcPr>
                </a:tc>
                <a:tc>
                  <a:txBody>
                    <a:bodyPr/>
                    <a:lstStyle/>
                    <a:p>
                      <a:pPr algn="l"/>
                      <a:r>
                        <a:rPr sz="1275" b="0" i="0" u="none">
                          <a:solidFill>
                            <a:srgbClr val="334155"/>
                          </a:solidFill>
                          <a:latin typeface="Plus Jakarta+Sans"/>
                        </a:rPr>
                        <a:t>Extreme anomalies present</a:t>
                      </a:r>
                    </a:p>
                  </a:txBody>
                  <a:tcPr marL="63500" marR="63500" marT="25400" marB="25400" anchor="ctr">
                    <a:lnL>
                      <a:noFill/>
                    </a:lnL>
                    <a:lnR>
                      <a:noFill/>
                    </a:lnR>
                    <a:lnT>
                      <a:noFill/>
                    </a:lnT>
                    <a:lnB>
                      <a:noFill/>
                    </a:lnB>
                    <a:solidFill>
                      <a:srgbClr val="F8FAFC"/>
                    </a:solidFill>
                  </a:tcPr>
                </a:tc>
                <a:tc>
                  <a:txBody>
                    <a:bodyPr/>
                    <a:lstStyle/>
                    <a:p>
                      <a:pPr algn="l"/>
                      <a:r>
                        <a:rPr sz="1275" b="1" i="0" u="none" dirty="0">
                          <a:solidFill>
                            <a:srgbClr val="0284C7"/>
                          </a:solidFill>
                          <a:latin typeface="Plus Jakarta+Sans"/>
                        </a:rPr>
                        <a:t>Capped &amp; Handled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09600" y="533400"/>
            <a:ext cx="4914900"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2 · Metrics</a:t>
            </a:r>
          </a:p>
        </p:txBody>
      </p:sp>
      <p:sp>
        <p:nvSpPr>
          <p:cNvPr id="6" name="TextBox 5"/>
          <p:cNvSpPr txBox="1"/>
          <p:nvPr/>
        </p:nvSpPr>
        <p:spPr>
          <a:xfrm>
            <a:off x="9620250" y="609600"/>
            <a:ext cx="1905000" cy="285750"/>
          </a:xfrm>
          <a:prstGeom prst="rect">
            <a:avLst/>
          </a:prstGeom>
          <a:noFill/>
        </p:spPr>
        <p:txBody>
          <a:bodyPr wrap="square" lIns="0" tIns="0" rIns="0" bIns="0" anchor="t">
            <a:spAutoFit/>
          </a:bodyPr>
          <a:lstStyle/>
          <a:p>
            <a:pPr algn="l"/>
            <a:r>
              <a:rPr sz="1050" b="1" i="0" u="none">
                <a:solidFill>
                  <a:srgbClr val="0284C7"/>
                </a:solidFill>
                <a:latin typeface="Plus Jakarta+Sans"/>
              </a:rPr>
              <a:t>مقارنة البيانات قبل وبعد التنظيف</a:t>
            </a:r>
          </a:p>
        </p:txBody>
      </p:sp>
      <p:sp>
        <p:nvSpPr>
          <p:cNvPr id="7" name="TextBox 6"/>
          <p:cNvSpPr txBox="1"/>
          <p:nvPr/>
        </p:nvSpPr>
        <p:spPr>
          <a:xfrm>
            <a:off x="609600" y="857250"/>
            <a:ext cx="5160645" cy="571500"/>
          </a:xfrm>
          <a:prstGeom prst="rect">
            <a:avLst/>
          </a:prstGeom>
          <a:noFill/>
        </p:spPr>
        <p:txBody>
          <a:bodyPr wrap="square" lIns="0" tIns="0" rIns="0" bIns="0" anchor="t">
            <a:spAutoFit/>
          </a:bodyPr>
          <a:lstStyle/>
          <a:p>
            <a:pPr algn="l"/>
            <a:r>
              <a:rPr sz="2400" b="1" i="0" u="none">
                <a:solidFill>
                  <a:srgbClr val="0F172A"/>
                </a:solidFill>
                <a:latin typeface="Plus Jakarta+Sans"/>
              </a:rPr>
              <a:t>Before-and-After Cleaning Snapshot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9353550" y="533400"/>
            <a:ext cx="2228850" cy="438150"/>
          </a:xfrm>
          <a:prstGeom prst="roundRect">
            <a:avLst>
              <a:gd name="adj" fmla="val 43478"/>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881312"/>
            <a:ext cx="3530649" cy="2257425"/>
          </a:xfrm>
          <a:prstGeom prst="roundRect">
            <a:avLst>
              <a:gd name="adj" fmla="val 59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30749" y="2881312"/>
            <a:ext cx="3530649" cy="2257425"/>
          </a:xfrm>
          <a:prstGeom prst="roundRect">
            <a:avLst>
              <a:gd name="adj" fmla="val 59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51899" y="2881312"/>
            <a:ext cx="3530649" cy="2257425"/>
          </a:xfrm>
          <a:prstGeom prst="roundRect">
            <a:avLst>
              <a:gd name="adj" fmla="val 59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847725" y="3214687"/>
            <a:ext cx="209550" cy="209550"/>
          </a:xfrm>
          <a:prstGeom prst="rect">
            <a:avLst/>
          </a:prstGeom>
        </p:spPr>
      </p:pic>
      <p:pic>
        <p:nvPicPr>
          <p:cNvPr id="7" name="Picture 6" descr="image.png"/>
          <p:cNvPicPr>
            <a:picLocks noChangeAspect="1"/>
          </p:cNvPicPr>
          <p:nvPr/>
        </p:nvPicPr>
        <p:blipFill>
          <a:blip r:embed="rId3"/>
          <a:stretch>
            <a:fillRect/>
          </a:stretch>
        </p:blipFill>
        <p:spPr>
          <a:xfrm>
            <a:off x="4568874" y="3214687"/>
            <a:ext cx="209550" cy="209550"/>
          </a:xfrm>
          <a:prstGeom prst="rect">
            <a:avLst/>
          </a:prstGeom>
        </p:spPr>
      </p:pic>
      <p:pic>
        <p:nvPicPr>
          <p:cNvPr id="8" name="Picture 7" descr="image.png"/>
          <p:cNvPicPr>
            <a:picLocks noChangeAspect="1"/>
          </p:cNvPicPr>
          <p:nvPr/>
        </p:nvPicPr>
        <p:blipFill>
          <a:blip r:embed="rId4"/>
          <a:stretch>
            <a:fillRect/>
          </a:stretch>
        </p:blipFill>
        <p:spPr>
          <a:xfrm>
            <a:off x="8290024" y="3214687"/>
            <a:ext cx="209550" cy="209550"/>
          </a:xfrm>
          <a:prstGeom prst="rect">
            <a:avLst/>
          </a:prstGeom>
        </p:spPr>
      </p:pic>
      <p:sp>
        <p:nvSpPr>
          <p:cNvPr id="9" name="TextBox 8"/>
          <p:cNvSpPr txBox="1"/>
          <p:nvPr/>
        </p:nvSpPr>
        <p:spPr>
          <a:xfrm>
            <a:off x="609600" y="533400"/>
            <a:ext cx="5153025" cy="895350"/>
          </a:xfrm>
          <a:prstGeom prst="rect">
            <a:avLst/>
          </a:prstGeom>
          <a:noFill/>
        </p:spPr>
        <p:txBody>
          <a:bodyPr wrap="square" lIns="0" tIns="0" rIns="0" bIns="0" anchor="t">
            <a:spAutoFit/>
          </a:bodyPr>
          <a:lstStyle/>
          <a:p>
            <a:pPr algn="l"/>
            <a:r>
              <a:rPr sz="1050" b="1" i="0" u="none">
                <a:solidFill>
                  <a:srgbClr val="0284C7"/>
                </a:solidFill>
                <a:latin typeface="Plus Jakarta+Sans"/>
              </a:rPr>
              <a:t>Milestone Safeguards</a:t>
            </a:r>
          </a:p>
        </p:txBody>
      </p:sp>
      <p:sp>
        <p:nvSpPr>
          <p:cNvPr id="10" name="TextBox 9"/>
          <p:cNvSpPr txBox="1"/>
          <p:nvPr/>
        </p:nvSpPr>
        <p:spPr>
          <a:xfrm>
            <a:off x="9505950" y="609600"/>
            <a:ext cx="2019300" cy="285750"/>
          </a:xfrm>
          <a:prstGeom prst="rect">
            <a:avLst/>
          </a:prstGeom>
          <a:noFill/>
        </p:spPr>
        <p:txBody>
          <a:bodyPr wrap="square" lIns="0" tIns="0" rIns="0" bIns="0" anchor="t">
            <a:spAutoFit/>
          </a:bodyPr>
          <a:lstStyle/>
          <a:p>
            <a:pPr algn="l"/>
            <a:r>
              <a:rPr sz="1050" b="1" i="0" u="none">
                <a:solidFill>
                  <a:srgbClr val="0284C7"/>
                </a:solidFill>
                <a:latin typeface="Plus Jakarta+Sans"/>
              </a:rPr>
              <a:t>أبرز الأخطاء الشائعة وكيفية تفاديها</a:t>
            </a:r>
          </a:p>
        </p:txBody>
      </p:sp>
      <p:sp>
        <p:nvSpPr>
          <p:cNvPr id="11" name="TextBox 10"/>
          <p:cNvSpPr txBox="1"/>
          <p:nvPr/>
        </p:nvSpPr>
        <p:spPr>
          <a:xfrm>
            <a:off x="609600" y="857250"/>
            <a:ext cx="5410676" cy="571500"/>
          </a:xfrm>
          <a:prstGeom prst="rect">
            <a:avLst/>
          </a:prstGeom>
          <a:noFill/>
        </p:spPr>
        <p:txBody>
          <a:bodyPr wrap="square" lIns="0" tIns="0" rIns="0" bIns="0" anchor="t">
            <a:spAutoFit/>
          </a:bodyPr>
          <a:lstStyle/>
          <a:p>
            <a:pPr algn="l"/>
            <a:r>
              <a:rPr sz="2400" b="1" i="0" u="none" dirty="0">
                <a:solidFill>
                  <a:srgbClr val="0F172A"/>
                </a:solidFill>
                <a:latin typeface="Plus Jakarta+Sans"/>
              </a:rPr>
              <a:t>Common Pitfalls &amp; How to Avoid Them</a:t>
            </a:r>
          </a:p>
        </p:txBody>
      </p:sp>
      <p:sp>
        <p:nvSpPr>
          <p:cNvPr id="12" name="TextBox 11"/>
          <p:cNvSpPr txBox="1"/>
          <p:nvPr/>
        </p:nvSpPr>
        <p:spPr>
          <a:xfrm>
            <a:off x="847725" y="3633787"/>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Cleaning Without Checking</a:t>
            </a:r>
          </a:p>
        </p:txBody>
      </p:sp>
      <p:sp>
        <p:nvSpPr>
          <p:cNvPr id="13" name="TextBox 12"/>
          <p:cNvSpPr txBox="1"/>
          <p:nvPr/>
        </p:nvSpPr>
        <p:spPr>
          <a:xfrm>
            <a:off x="847725" y="4024312"/>
            <a:ext cx="3149649" cy="552450"/>
          </a:xfrm>
          <a:prstGeom prst="rect">
            <a:avLst/>
          </a:prstGeom>
          <a:noFill/>
        </p:spPr>
        <p:txBody>
          <a:bodyPr wrap="square" lIns="0" tIns="0" rIns="0" bIns="0" anchor="t">
            <a:spAutoFit/>
          </a:bodyPr>
          <a:lstStyle/>
          <a:p>
            <a:pPr algn="l"/>
            <a:r>
              <a:rPr sz="1125" b="0" i="0" u="none">
                <a:solidFill>
                  <a:srgbClr val="475569"/>
                </a:solidFill>
                <a:latin typeface="Plus Jakarta+Sans"/>
              </a:rPr>
              <a:t>Dropping rows blindly before confirming underlying structural issues.</a:t>
            </a:r>
          </a:p>
        </p:txBody>
      </p:sp>
      <p:sp>
        <p:nvSpPr>
          <p:cNvPr id="14" name="TextBox 13"/>
          <p:cNvSpPr txBox="1"/>
          <p:nvPr/>
        </p:nvSpPr>
        <p:spPr>
          <a:xfrm>
            <a:off x="847725" y="4652962"/>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حذف الصفوف عشوائياً بدون فحص دقيق.</a:t>
            </a:r>
          </a:p>
        </p:txBody>
      </p:sp>
      <p:sp>
        <p:nvSpPr>
          <p:cNvPr id="15" name="TextBox 14"/>
          <p:cNvSpPr txBox="1"/>
          <p:nvPr/>
        </p:nvSpPr>
        <p:spPr>
          <a:xfrm>
            <a:off x="4568874" y="3633787"/>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Treating Outliers as Errors</a:t>
            </a:r>
          </a:p>
        </p:txBody>
      </p:sp>
      <p:sp>
        <p:nvSpPr>
          <p:cNvPr id="16" name="TextBox 15"/>
          <p:cNvSpPr txBox="1"/>
          <p:nvPr/>
        </p:nvSpPr>
        <p:spPr>
          <a:xfrm>
            <a:off x="4568874" y="4024312"/>
            <a:ext cx="3149649" cy="552450"/>
          </a:xfrm>
          <a:prstGeom prst="rect">
            <a:avLst/>
          </a:prstGeom>
          <a:noFill/>
        </p:spPr>
        <p:txBody>
          <a:bodyPr wrap="square" lIns="0" tIns="0" rIns="0" bIns="0" anchor="t">
            <a:spAutoFit/>
          </a:bodyPr>
          <a:lstStyle/>
          <a:p>
            <a:pPr algn="l"/>
            <a:r>
              <a:rPr sz="1125" b="0" i="0" u="none">
                <a:solidFill>
                  <a:srgbClr val="475569"/>
                </a:solidFill>
                <a:latin typeface="Plus Jakarta+Sans"/>
              </a:rPr>
              <a:t>Deleting valid high-value customer balances that carry real insight.</a:t>
            </a:r>
          </a:p>
        </p:txBody>
      </p:sp>
      <p:sp>
        <p:nvSpPr>
          <p:cNvPr id="17" name="TextBox 16"/>
          <p:cNvSpPr txBox="1"/>
          <p:nvPr/>
        </p:nvSpPr>
        <p:spPr>
          <a:xfrm>
            <a:off x="4568874" y="4652962"/>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اعتبار القيم الشاذة أخطاء برمجية دائماً.</a:t>
            </a:r>
          </a:p>
        </p:txBody>
      </p:sp>
      <p:sp>
        <p:nvSpPr>
          <p:cNvPr id="18" name="TextBox 17"/>
          <p:cNvSpPr txBox="1"/>
          <p:nvPr/>
        </p:nvSpPr>
        <p:spPr>
          <a:xfrm>
            <a:off x="8290024" y="3633787"/>
            <a:ext cx="3307132" cy="314325"/>
          </a:xfrm>
          <a:prstGeom prst="rect">
            <a:avLst/>
          </a:prstGeom>
          <a:noFill/>
        </p:spPr>
        <p:txBody>
          <a:bodyPr wrap="square" lIns="0" tIns="0" rIns="0" bIns="0" anchor="t">
            <a:spAutoFit/>
          </a:bodyPr>
          <a:lstStyle/>
          <a:p>
            <a:pPr algn="l"/>
            <a:r>
              <a:rPr sz="1350" b="1" i="0" u="none">
                <a:solidFill>
                  <a:srgbClr val="0F172A"/>
                </a:solidFill>
                <a:latin typeface="Plus Jakarta+Sans"/>
              </a:rPr>
              <a:t>Missing GitHub Push</a:t>
            </a:r>
          </a:p>
        </p:txBody>
      </p:sp>
      <p:sp>
        <p:nvSpPr>
          <p:cNvPr id="19" name="TextBox 18"/>
          <p:cNvSpPr txBox="1"/>
          <p:nvPr/>
        </p:nvSpPr>
        <p:spPr>
          <a:xfrm>
            <a:off x="8290024" y="4024312"/>
            <a:ext cx="3149649" cy="552450"/>
          </a:xfrm>
          <a:prstGeom prst="rect">
            <a:avLst/>
          </a:prstGeom>
          <a:noFill/>
        </p:spPr>
        <p:txBody>
          <a:bodyPr wrap="square" lIns="0" tIns="0" rIns="0" bIns="0" anchor="t">
            <a:spAutoFit/>
          </a:bodyPr>
          <a:lstStyle/>
          <a:p>
            <a:pPr algn="l"/>
            <a:r>
              <a:rPr sz="1125" b="0" i="0" u="none">
                <a:solidFill>
                  <a:srgbClr val="475569"/>
                </a:solidFill>
                <a:latin typeface="Plus Jakarta+Sans"/>
              </a:rPr>
              <a:t>Uncommitted repository work cannot be reviewed or officially graded.</a:t>
            </a:r>
          </a:p>
        </p:txBody>
      </p:sp>
      <p:sp>
        <p:nvSpPr>
          <p:cNvPr id="20" name="TextBox 19"/>
          <p:cNvSpPr txBox="1"/>
          <p:nvPr/>
        </p:nvSpPr>
        <p:spPr>
          <a:xfrm>
            <a:off x="8290024" y="4652962"/>
            <a:ext cx="3149649" cy="247650"/>
          </a:xfrm>
          <a:prstGeom prst="rect">
            <a:avLst/>
          </a:prstGeom>
          <a:noFill/>
        </p:spPr>
        <p:txBody>
          <a:bodyPr wrap="square" lIns="0" tIns="0" rIns="0" bIns="0" anchor="t">
            <a:spAutoFit/>
          </a:bodyPr>
          <a:lstStyle/>
          <a:p>
            <a:pPr algn="l"/>
            <a:r>
              <a:rPr sz="1050" b="1" i="0" u="none">
                <a:solidFill>
                  <a:srgbClr val="0284C7"/>
                </a:solidFill>
                <a:latin typeface="Cairo"/>
              </a:rPr>
              <a:t>عدم تحديث المستودع على جيت هاب.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6A6"/>
          </a:solidFill>
          <a:ln w="12700">
            <a:solidFill>
              <a:srgbClr val="00A6A6">
                <a:alpha val="0"/>
              </a:srgbClr>
            </a:solidFill>
            <a:prstDash val="solid"/>
          </a:ln>
        </p:spPr>
        <p:txBody>
          <a:bodyPr/>
          <a:lstStyle/>
          <a:p>
            <a:endParaRPr lang="en-US"/>
          </a:p>
        </p:txBody>
      </p:sp>
      <p:sp>
        <p:nvSpPr>
          <p:cNvPr id="3" name="Shape 1"/>
          <p:cNvSpPr/>
          <p:nvPr/>
        </p:nvSpPr>
        <p:spPr>
          <a:xfrm>
            <a:off x="8156448" y="164592"/>
            <a:ext cx="3703320" cy="3703320"/>
          </a:xfrm>
          <a:prstGeom prst="ellipse">
            <a:avLst/>
          </a:prstGeom>
          <a:solidFill>
            <a:srgbClr val="3D5A80">
              <a:alpha val="75000"/>
            </a:srgbClr>
          </a:solidFill>
          <a:ln w="12700">
            <a:solidFill>
              <a:srgbClr val="3D5A80">
                <a:alpha val="0"/>
              </a:srgbClr>
            </a:solidFill>
            <a:prstDash val="solid"/>
          </a:ln>
        </p:spPr>
        <p:txBody>
          <a:bodyPr/>
          <a:lstStyle/>
          <a:p>
            <a:endParaRPr lang="en-US"/>
          </a:p>
        </p:txBody>
      </p:sp>
      <p:sp>
        <p:nvSpPr>
          <p:cNvPr id="4" name="Shape 2"/>
          <p:cNvSpPr/>
          <p:nvPr/>
        </p:nvSpPr>
        <p:spPr>
          <a:xfrm>
            <a:off x="8668512" y="749808"/>
            <a:ext cx="2962656" cy="2962656"/>
          </a:xfrm>
          <a:prstGeom prst="ellipse">
            <a:avLst/>
          </a:prstGeom>
          <a:solidFill>
            <a:srgbClr val="00A6A6">
              <a:alpha val="90000"/>
            </a:srgbClr>
          </a:solidFill>
          <a:ln w="12700">
            <a:solidFill>
              <a:srgbClr val="00A6A6">
                <a:alpha val="0"/>
              </a:srgbClr>
            </a:solidFill>
            <a:prstDash val="solid"/>
          </a:ln>
        </p:spPr>
        <p:txBody>
          <a:bodyPr/>
          <a:lstStyle/>
          <a:p>
            <a:endParaRPr lang="en-US"/>
          </a:p>
        </p:txBody>
      </p:sp>
      <p:sp>
        <p:nvSpPr>
          <p:cNvPr id="5" name="Shape 3"/>
          <p:cNvSpPr/>
          <p:nvPr/>
        </p:nvSpPr>
        <p:spPr>
          <a:xfrm>
            <a:off x="9400032" y="1481328"/>
            <a:ext cx="1481328" cy="1481328"/>
          </a:xfrm>
          <a:prstGeom prst="ellipse">
            <a:avLst/>
          </a:prstGeom>
          <a:solidFill>
            <a:srgbClr val="F4A261"/>
          </a:solidFill>
          <a:ln w="12700">
            <a:solidFill>
              <a:srgbClr val="F4A261">
                <a:alpha val="0"/>
              </a:srgbClr>
            </a:solidFill>
            <a:prstDash val="solid"/>
          </a:ln>
        </p:spPr>
        <p:txBody>
          <a:bodyPr/>
          <a:lstStyle/>
          <a:p>
            <a:endParaRPr lang="en-US"/>
          </a:p>
        </p:txBody>
      </p:sp>
      <p:sp>
        <p:nvSpPr>
          <p:cNvPr id="6" name="Shape 4"/>
          <p:cNvSpPr/>
          <p:nvPr/>
        </p:nvSpPr>
        <p:spPr>
          <a:xfrm>
            <a:off x="786384" y="786384"/>
            <a:ext cx="1481328" cy="283464"/>
          </a:xfrm>
          <a:prstGeom prst="roundRect">
            <a:avLst>
              <a:gd name="adj" fmla="val 32258"/>
            </a:avLst>
          </a:prstGeom>
          <a:solidFill>
            <a:srgbClr val="00A6A6"/>
          </a:solidFill>
          <a:ln w="12700">
            <a:solidFill>
              <a:srgbClr val="00A6A6">
                <a:alpha val="0"/>
              </a:srgbClr>
            </a:solidFill>
            <a:prstDash val="solid"/>
          </a:ln>
        </p:spPr>
        <p:txBody>
          <a:bodyPr/>
          <a:lstStyle/>
          <a:p>
            <a:endParaRPr lang="en-US"/>
          </a:p>
        </p:txBody>
      </p:sp>
      <p:sp>
        <p:nvSpPr>
          <p:cNvPr id="7" name="Text 5"/>
          <p:cNvSpPr txBox="1"/>
          <p:nvPr/>
        </p:nvSpPr>
        <p:spPr>
          <a:xfrm>
            <a:off x="859536" y="795528"/>
            <a:ext cx="1335024" cy="228600"/>
          </a:xfrm>
          <a:prstGeom prst="rect">
            <a:avLst/>
          </a:prstGeom>
          <a:noFill/>
          <a:ln/>
        </p:spPr>
        <p:txBody>
          <a:bodyPr wrap="square" lIns="0" tIns="0" rIns="0" bIns="0" rtlCol="0" anchor="ctr">
            <a:normAutofit/>
          </a:bodyPr>
          <a:lstStyle/>
          <a:p>
            <a:pPr marL="0" indent="0" algn="ctr">
              <a:buNone/>
            </a:pPr>
            <a:r>
              <a:rPr lang="en-US" sz="950" b="1" dirty="0">
                <a:solidFill>
                  <a:srgbClr val="102A43"/>
                </a:solidFill>
                <a:latin typeface="Aptos" pitchFamily="34" charset="0"/>
                <a:ea typeface="Aptos" pitchFamily="34" charset="-122"/>
                <a:cs typeface="Aptos" pitchFamily="34" charset="-120"/>
              </a:rPr>
              <a:t>MILESTONE 3</a:t>
            </a:r>
            <a:endParaRPr lang="en-US" sz="950" dirty="0"/>
          </a:p>
        </p:txBody>
      </p:sp>
      <p:sp>
        <p:nvSpPr>
          <p:cNvPr id="8" name="Text 6"/>
          <p:cNvSpPr txBox="1"/>
          <p:nvPr/>
        </p:nvSpPr>
        <p:spPr>
          <a:xfrm>
            <a:off x="768096" y="1417320"/>
            <a:ext cx="7223760" cy="1572768"/>
          </a:xfrm>
          <a:prstGeom prst="rect">
            <a:avLst/>
          </a:prstGeom>
          <a:noFill/>
          <a:ln/>
        </p:spPr>
        <p:txBody>
          <a:bodyPr wrap="square" lIns="0" tIns="0" rIns="0" bIns="0" rtlCol="0" anchor="ctr">
            <a:normAutofit/>
          </a:bodyPr>
          <a:lstStyle/>
          <a:p>
            <a:pPr marL="0" indent="0" algn="l">
              <a:buNone/>
            </a:pPr>
            <a:r>
              <a:rPr lang="en-US" sz="3100" b="1" dirty="0">
                <a:solidFill>
                  <a:srgbClr val="FFFFFF"/>
                </a:solidFill>
                <a:latin typeface="Aptos Display" pitchFamily="34" charset="0"/>
                <a:ea typeface="Aptos Display" pitchFamily="34" charset="-122"/>
                <a:cs typeface="Aptos Display" pitchFamily="34" charset="-120"/>
              </a:rPr>
              <a:t>BANK CUSTOMER</a:t>
            </a:r>
            <a:endParaRPr lang="en-US" sz="3100" dirty="0"/>
          </a:p>
          <a:p>
            <a:pPr marL="0" indent="0" algn="l">
              <a:buNone/>
            </a:pPr>
            <a:r>
              <a:rPr lang="en-US" sz="3100" b="1" dirty="0">
                <a:solidFill>
                  <a:srgbClr val="FFFFFF"/>
                </a:solidFill>
                <a:latin typeface="Aptos Display" pitchFamily="34" charset="0"/>
                <a:ea typeface="Aptos Display" pitchFamily="34" charset="-122"/>
                <a:cs typeface="Aptos Display" pitchFamily="34" charset="-120"/>
              </a:rPr>
              <a:t>CHURN PREDICTION</a:t>
            </a:r>
            <a:endParaRPr lang="en-US" sz="3100" dirty="0"/>
          </a:p>
        </p:txBody>
      </p:sp>
      <p:sp>
        <p:nvSpPr>
          <p:cNvPr id="9" name="Text 7"/>
          <p:cNvSpPr txBox="1"/>
          <p:nvPr/>
        </p:nvSpPr>
        <p:spPr>
          <a:xfrm>
            <a:off x="804672" y="3246120"/>
            <a:ext cx="7040880" cy="841248"/>
          </a:xfrm>
          <a:prstGeom prst="rect">
            <a:avLst/>
          </a:prstGeom>
          <a:noFill/>
          <a:ln/>
        </p:spPr>
        <p:txBody>
          <a:bodyPr wrap="square" lIns="0" tIns="0" rIns="0" bIns="0" rtlCol="0" anchor="t">
            <a:normAutofit fontScale="92500" lnSpcReduction="20000"/>
          </a:bodyPr>
          <a:lstStyle/>
          <a:p>
            <a:pPr marL="0" indent="0" algn="l">
              <a:buNone/>
            </a:pPr>
            <a:r>
              <a:rPr lang="en-US" sz="1800" dirty="0">
                <a:solidFill>
                  <a:srgbClr val="D9E2EC"/>
                </a:solidFill>
                <a:latin typeface="Aptos" pitchFamily="34" charset="0"/>
                <a:ea typeface="Aptos" pitchFamily="34" charset="-122"/>
                <a:cs typeface="Aptos" pitchFamily="34" charset="-120"/>
              </a:rPr>
              <a:t>Exploratory Data Analysis, Feature Engineering</a:t>
            </a:r>
            <a:endParaRPr lang="en-US" sz="1800" dirty="0"/>
          </a:p>
          <a:p>
            <a:r>
              <a:rPr lang="en-US" sz="1800" dirty="0">
                <a:solidFill>
                  <a:srgbClr val="D9E2EC"/>
                </a:solidFill>
                <a:latin typeface="Aptos" pitchFamily="34" charset="0"/>
                <a:ea typeface="Aptos" pitchFamily="34" charset="-122"/>
                <a:cs typeface="Aptos" pitchFamily="34" charset="-120"/>
              </a:rPr>
              <a:t>and Leakage-Safe Preprocessing</a:t>
            </a:r>
            <a:r>
              <a:rPr lang="ar-JO" sz="1800" dirty="0">
                <a:solidFill>
                  <a:srgbClr val="D9E2EC"/>
                </a:solidFill>
                <a:latin typeface="Aptos" pitchFamily="34" charset="0"/>
                <a:ea typeface="Aptos" pitchFamily="34" charset="-122"/>
                <a:cs typeface="Aptos" pitchFamily="34" charset="-120"/>
              </a:rPr>
              <a:t> </a:t>
            </a:r>
            <a:r>
              <a:rPr lang="en-US" b="1" dirty="0">
                <a:solidFill>
                  <a:schemeClr val="bg1">
                    <a:lumMod val="75000"/>
                  </a:schemeClr>
                </a:solidFill>
              </a:rPr>
              <a:t>Pipeline</a:t>
            </a:r>
            <a:endParaRPr lang="ar-JO" sz="1800" dirty="0">
              <a:solidFill>
                <a:schemeClr val="bg1">
                  <a:lumMod val="75000"/>
                </a:schemeClr>
              </a:solidFill>
              <a:latin typeface="Aptos" pitchFamily="34" charset="0"/>
              <a:ea typeface="Aptos" pitchFamily="34" charset="-122"/>
              <a:cs typeface="Aptos" pitchFamily="34" charset="-120"/>
            </a:endParaRPr>
          </a:p>
          <a:p>
            <a:pPr marL="0" indent="0" algn="l">
              <a:buNone/>
            </a:pPr>
            <a:endParaRPr lang="ar-JO" sz="1800" dirty="0">
              <a:solidFill>
                <a:srgbClr val="D9E2EC"/>
              </a:solidFill>
              <a:latin typeface="Aptos" pitchFamily="34" charset="0"/>
              <a:ea typeface="Aptos" pitchFamily="34" charset="-122"/>
              <a:cs typeface="Aptos" pitchFamily="34" charset="-120"/>
            </a:endParaRPr>
          </a:p>
          <a:p>
            <a:r>
              <a:rPr lang="en-US" dirty="0" err="1">
                <a:solidFill>
                  <a:schemeClr val="bg1">
                    <a:lumMod val="85000"/>
                  </a:schemeClr>
                </a:solidFill>
              </a:rPr>
              <a:t>تحليل</a:t>
            </a:r>
            <a:r>
              <a:rPr lang="en-US" dirty="0">
                <a:solidFill>
                  <a:schemeClr val="bg1">
                    <a:lumMod val="85000"/>
                  </a:schemeClr>
                </a:solidFill>
              </a:rPr>
              <a:t> </a:t>
            </a:r>
            <a:r>
              <a:rPr lang="en-US" dirty="0" err="1">
                <a:solidFill>
                  <a:schemeClr val="bg1">
                    <a:lumMod val="85000"/>
                  </a:schemeClr>
                </a:solidFill>
              </a:rPr>
              <a:t>البيانات</a:t>
            </a:r>
            <a:r>
              <a:rPr lang="en-US" dirty="0">
                <a:solidFill>
                  <a:schemeClr val="bg1">
                    <a:lumMod val="85000"/>
                  </a:schemeClr>
                </a:solidFill>
              </a:rPr>
              <a:t> </a:t>
            </a:r>
            <a:r>
              <a:rPr lang="en-US" dirty="0" err="1">
                <a:solidFill>
                  <a:schemeClr val="bg1">
                    <a:lumMod val="85000"/>
                  </a:schemeClr>
                </a:solidFill>
              </a:rPr>
              <a:t>الاستكشافي</a:t>
            </a:r>
            <a:r>
              <a:rPr lang="en-US" dirty="0">
                <a:solidFill>
                  <a:schemeClr val="bg1">
                    <a:lumMod val="85000"/>
                  </a:schemeClr>
                </a:solidFill>
              </a:rPr>
              <a:t>، </a:t>
            </a:r>
            <a:r>
              <a:rPr lang="en-US" dirty="0" err="1">
                <a:solidFill>
                  <a:schemeClr val="bg1">
                    <a:lumMod val="85000"/>
                  </a:schemeClr>
                </a:solidFill>
              </a:rPr>
              <a:t>هندسة</a:t>
            </a:r>
            <a:r>
              <a:rPr lang="en-US" dirty="0">
                <a:solidFill>
                  <a:schemeClr val="bg1">
                    <a:lumMod val="85000"/>
                  </a:schemeClr>
                </a:solidFill>
              </a:rPr>
              <a:t> </a:t>
            </a:r>
            <a:r>
              <a:rPr lang="en-US" dirty="0" err="1">
                <a:solidFill>
                  <a:schemeClr val="bg1">
                    <a:lumMod val="85000"/>
                  </a:schemeClr>
                </a:solidFill>
              </a:rPr>
              <a:t>الخصائص</a:t>
            </a:r>
            <a:r>
              <a:rPr lang="en-US" dirty="0">
                <a:solidFill>
                  <a:schemeClr val="bg1">
                    <a:lumMod val="85000"/>
                  </a:schemeClr>
                </a:solidFill>
              </a:rPr>
              <a:t>، </a:t>
            </a:r>
            <a:r>
              <a:rPr lang="en-US" dirty="0" err="1">
                <a:solidFill>
                  <a:schemeClr val="bg1">
                    <a:lumMod val="85000"/>
                  </a:schemeClr>
                </a:solidFill>
              </a:rPr>
              <a:t>والمعالجة</a:t>
            </a:r>
            <a:r>
              <a:rPr lang="en-US" dirty="0">
                <a:solidFill>
                  <a:schemeClr val="bg1">
                    <a:lumMod val="85000"/>
                  </a:schemeClr>
                </a:solidFill>
              </a:rPr>
              <a:t> </a:t>
            </a:r>
            <a:r>
              <a:rPr lang="en-US" dirty="0" err="1">
                <a:solidFill>
                  <a:schemeClr val="bg1">
                    <a:lumMod val="85000"/>
                  </a:schemeClr>
                </a:solidFill>
              </a:rPr>
              <a:t>المسبقة</a:t>
            </a:r>
            <a:r>
              <a:rPr lang="en-US" dirty="0">
                <a:solidFill>
                  <a:schemeClr val="bg1">
                    <a:lumMod val="85000"/>
                  </a:schemeClr>
                </a:solidFill>
              </a:rPr>
              <a:t> </a:t>
            </a:r>
            <a:r>
              <a:rPr lang="en-US" dirty="0" err="1">
                <a:solidFill>
                  <a:schemeClr val="bg1">
                    <a:lumMod val="85000"/>
                  </a:schemeClr>
                </a:solidFill>
              </a:rPr>
              <a:t>الآمنة</a:t>
            </a:r>
            <a:r>
              <a:rPr lang="en-US" dirty="0">
                <a:solidFill>
                  <a:schemeClr val="bg1">
                    <a:lumMod val="85000"/>
                  </a:schemeClr>
                </a:solidFill>
              </a:rPr>
              <a:t> </a:t>
            </a:r>
            <a:r>
              <a:rPr lang="en-US" dirty="0" err="1">
                <a:solidFill>
                  <a:schemeClr val="bg1">
                    <a:lumMod val="85000"/>
                  </a:schemeClr>
                </a:solidFill>
              </a:rPr>
              <a:t>من</a:t>
            </a:r>
            <a:r>
              <a:rPr lang="en-US" dirty="0">
                <a:solidFill>
                  <a:schemeClr val="bg1">
                    <a:lumMod val="85000"/>
                  </a:schemeClr>
                </a:solidFill>
              </a:rPr>
              <a:t> </a:t>
            </a:r>
            <a:r>
              <a:rPr lang="en-US" dirty="0" err="1">
                <a:solidFill>
                  <a:schemeClr val="bg1">
                    <a:lumMod val="85000"/>
                  </a:schemeClr>
                </a:solidFill>
              </a:rPr>
              <a:t>التسريب</a:t>
            </a:r>
            <a:r>
              <a:rPr lang="en-US" dirty="0">
                <a:solidFill>
                  <a:schemeClr val="bg1">
                    <a:lumMod val="85000"/>
                  </a:schemeClr>
                </a:solidFill>
              </a:rPr>
              <a:t> </a:t>
            </a:r>
            <a:endParaRPr lang="en-US" sz="1800" dirty="0">
              <a:solidFill>
                <a:schemeClr val="bg1">
                  <a:lumMod val="85000"/>
                </a:schemeClr>
              </a:solidFill>
            </a:endParaRPr>
          </a:p>
        </p:txBody>
      </p:sp>
      <p:sp>
        <p:nvSpPr>
          <p:cNvPr id="10" name="Shape 8"/>
          <p:cNvSpPr/>
          <p:nvPr/>
        </p:nvSpPr>
        <p:spPr>
          <a:xfrm>
            <a:off x="804672" y="4572000"/>
            <a:ext cx="1005840" cy="0"/>
          </a:xfrm>
          <a:prstGeom prst="line">
            <a:avLst/>
          </a:prstGeom>
          <a:noFill/>
          <a:ln w="38100">
            <a:solidFill>
              <a:srgbClr val="F4A261"/>
            </a:solidFill>
            <a:prstDash val="solid"/>
          </a:ln>
        </p:spPr>
        <p:txBody>
          <a:bodyPr/>
          <a:lstStyle/>
          <a:p>
            <a:endParaRPr lang="en-US"/>
          </a:p>
        </p:txBody>
      </p:sp>
      <p:sp>
        <p:nvSpPr>
          <p:cNvPr id="11" name="Text 9"/>
          <p:cNvSpPr txBox="1"/>
          <p:nvPr/>
        </p:nvSpPr>
        <p:spPr>
          <a:xfrm>
            <a:off x="804672" y="4800600"/>
            <a:ext cx="5669280" cy="320040"/>
          </a:xfrm>
          <a:prstGeom prst="rect">
            <a:avLst/>
          </a:prstGeom>
          <a:noFill/>
          <a:ln/>
        </p:spPr>
        <p:txBody>
          <a:bodyPr wrap="square" lIns="0" tIns="0" rIns="0" bIns="0" rtlCol="0" anchor="ctr">
            <a:normAutofit/>
          </a:bodyPr>
          <a:lstStyle/>
          <a:p>
            <a:pPr marL="0" indent="0" algn="l">
              <a:buNone/>
            </a:pPr>
            <a:r>
              <a:rPr lang="en-US" sz="1300" dirty="0">
                <a:solidFill>
                  <a:srgbClr val="BCCCDC"/>
                </a:solidFill>
                <a:latin typeface="Aptos" pitchFamily="34" charset="0"/>
                <a:ea typeface="Aptos" pitchFamily="34" charset="-122"/>
                <a:cs typeface="Aptos" pitchFamily="34" charset="-120"/>
              </a:rPr>
              <a:t>Prepared for Demo Session 3</a:t>
            </a:r>
            <a:endParaRPr lang="en-US" sz="1300" dirty="0"/>
          </a:p>
        </p:txBody>
      </p:sp>
      <p:sp>
        <p:nvSpPr>
          <p:cNvPr id="12" name="Text 10"/>
          <p:cNvSpPr txBox="1"/>
          <p:nvPr/>
        </p:nvSpPr>
        <p:spPr>
          <a:xfrm>
            <a:off x="804672" y="5230368"/>
            <a:ext cx="6035040" cy="320040"/>
          </a:xfrm>
          <a:prstGeom prst="rect">
            <a:avLst/>
          </a:prstGeom>
          <a:noFill/>
          <a:ln/>
        </p:spPr>
        <p:txBody>
          <a:bodyPr wrap="square" lIns="0" tIns="0" rIns="0" bIns="0"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The final checkpoint before model training</a:t>
            </a:r>
            <a:endParaRPr lang="en-US" sz="1400" dirty="0"/>
          </a:p>
        </p:txBody>
      </p:sp>
      <p:sp>
        <p:nvSpPr>
          <p:cNvPr id="13" name="Text 11"/>
          <p:cNvSpPr txBox="1"/>
          <p:nvPr/>
        </p:nvSpPr>
        <p:spPr>
          <a:xfrm>
            <a:off x="804672" y="6126480"/>
            <a:ext cx="5212080" cy="228600"/>
          </a:xfrm>
          <a:prstGeom prst="rect">
            <a:avLst/>
          </a:prstGeom>
          <a:noFill/>
          <a:ln/>
        </p:spPr>
        <p:txBody>
          <a:bodyPr wrap="square" lIns="0" tIns="0" rIns="0" bIns="0" rtlCol="0" anchor="ctr">
            <a:normAutofit/>
          </a:bodyPr>
          <a:lstStyle/>
          <a:p>
            <a:pPr marL="0" indent="0" algn="l">
              <a:buNone/>
            </a:pPr>
            <a:r>
              <a:rPr lang="en-US" sz="900" b="1" kern="0" spc="120" dirty="0">
                <a:solidFill>
                  <a:srgbClr val="9FB3C8"/>
                </a:solidFill>
                <a:latin typeface="Aptos" pitchFamily="34" charset="0"/>
                <a:ea typeface="Aptos" pitchFamily="34" charset="-122"/>
                <a:cs typeface="Aptos" pitchFamily="34" charset="-120"/>
              </a:rPr>
              <a:t>DATA  →  INSIGHTS  →  PREPARATION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01 / MILESTONE GOAL</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What does Milestone 3 demonstrate?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 clear explanation of the findings, preprocessing choices, and evidence that the final data are ready for modeling.</a:t>
            </a:r>
            <a:endParaRPr lang="en-US" sz="1250" dirty="0"/>
          </a:p>
        </p:txBody>
      </p:sp>
      <p:sp>
        <p:nvSpPr>
          <p:cNvPr id="5" name="Shape 3"/>
          <p:cNvSpPr/>
          <p:nvPr/>
        </p:nvSpPr>
        <p:spPr>
          <a:xfrm>
            <a:off x="640080"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841248" y="2057400"/>
            <a:ext cx="548640"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7" name="Text 5"/>
          <p:cNvSpPr txBox="1"/>
          <p:nvPr/>
        </p:nvSpPr>
        <p:spPr>
          <a:xfrm>
            <a:off x="914400"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01</a:t>
            </a:r>
            <a:endParaRPr lang="en-US" sz="950" dirty="0"/>
          </a:p>
        </p:txBody>
      </p:sp>
      <p:sp>
        <p:nvSpPr>
          <p:cNvPr id="8" name="Text 6"/>
          <p:cNvSpPr txBox="1"/>
          <p:nvPr/>
        </p:nvSpPr>
        <p:spPr>
          <a:xfrm>
            <a:off x="841248"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Explore</a:t>
            </a:r>
            <a:endParaRPr lang="en-US" sz="1900" dirty="0"/>
          </a:p>
        </p:txBody>
      </p:sp>
      <p:sp>
        <p:nvSpPr>
          <p:cNvPr id="9" name="Text 7"/>
          <p:cNvSpPr txBox="1"/>
          <p:nvPr/>
        </p:nvSpPr>
        <p:spPr>
          <a:xfrm>
            <a:off x="841248"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Visualize churn patterns and compare customer groups.</a:t>
            </a:r>
            <a:endParaRPr lang="en-US" sz="1300" dirty="0"/>
          </a:p>
        </p:txBody>
      </p:sp>
      <p:sp>
        <p:nvSpPr>
          <p:cNvPr id="10" name="Shape 8"/>
          <p:cNvSpPr/>
          <p:nvPr/>
        </p:nvSpPr>
        <p:spPr>
          <a:xfrm>
            <a:off x="3538728"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3739896" y="2057400"/>
            <a:ext cx="548640"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12" name="Text 10"/>
          <p:cNvSpPr txBox="1"/>
          <p:nvPr/>
        </p:nvSpPr>
        <p:spPr>
          <a:xfrm>
            <a:off x="3813048"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02</a:t>
            </a:r>
            <a:endParaRPr lang="en-US" sz="950" dirty="0"/>
          </a:p>
        </p:txBody>
      </p:sp>
      <p:sp>
        <p:nvSpPr>
          <p:cNvPr id="13" name="Text 11"/>
          <p:cNvSpPr txBox="1"/>
          <p:nvPr/>
        </p:nvSpPr>
        <p:spPr>
          <a:xfrm>
            <a:off x="3739896"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Explain</a:t>
            </a:r>
            <a:endParaRPr lang="en-US" sz="1900" dirty="0"/>
          </a:p>
        </p:txBody>
      </p:sp>
      <p:sp>
        <p:nvSpPr>
          <p:cNvPr id="14" name="Text 12"/>
          <p:cNvSpPr txBox="1"/>
          <p:nvPr/>
        </p:nvSpPr>
        <p:spPr>
          <a:xfrm>
            <a:off x="3739896"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Translate charts into business insights and interpret correlations carefully.</a:t>
            </a:r>
            <a:endParaRPr lang="en-US" sz="1300" dirty="0"/>
          </a:p>
        </p:txBody>
      </p:sp>
      <p:sp>
        <p:nvSpPr>
          <p:cNvPr id="15" name="Shape 13"/>
          <p:cNvSpPr/>
          <p:nvPr/>
        </p:nvSpPr>
        <p:spPr>
          <a:xfrm>
            <a:off x="6437376"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6638544" y="2057400"/>
            <a:ext cx="548640"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17" name="Text 15"/>
          <p:cNvSpPr txBox="1"/>
          <p:nvPr/>
        </p:nvSpPr>
        <p:spPr>
          <a:xfrm>
            <a:off x="6711696"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03</a:t>
            </a:r>
            <a:endParaRPr lang="en-US" sz="950" dirty="0"/>
          </a:p>
        </p:txBody>
      </p:sp>
      <p:sp>
        <p:nvSpPr>
          <p:cNvPr id="18" name="Text 16"/>
          <p:cNvSpPr txBox="1"/>
          <p:nvPr/>
        </p:nvSpPr>
        <p:spPr>
          <a:xfrm>
            <a:off x="6638544"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Prepare</a:t>
            </a:r>
            <a:endParaRPr lang="en-US" sz="1900" dirty="0"/>
          </a:p>
        </p:txBody>
      </p:sp>
      <p:sp>
        <p:nvSpPr>
          <p:cNvPr id="19" name="Text 17"/>
          <p:cNvSpPr txBox="1"/>
          <p:nvPr/>
        </p:nvSpPr>
        <p:spPr>
          <a:xfrm>
            <a:off x="6638544"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Engineer useful features and build a complete preprocessing pipeline.</a:t>
            </a:r>
            <a:endParaRPr lang="en-US" sz="1300" dirty="0"/>
          </a:p>
        </p:txBody>
      </p:sp>
      <p:sp>
        <p:nvSpPr>
          <p:cNvPr id="20" name="Shape 18"/>
          <p:cNvSpPr/>
          <p:nvPr/>
        </p:nvSpPr>
        <p:spPr>
          <a:xfrm>
            <a:off x="9336024" y="1847088"/>
            <a:ext cx="2587752" cy="2487168"/>
          </a:xfrm>
          <a:prstGeom prst="roundRect">
            <a:avLst>
              <a:gd name="adj" fmla="val 4412"/>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9537192" y="2057400"/>
            <a:ext cx="548640" cy="283464"/>
          </a:xfrm>
          <a:prstGeom prst="roundRect">
            <a:avLst>
              <a:gd name="adj" fmla="val 32258"/>
            </a:avLst>
          </a:prstGeom>
          <a:solidFill>
            <a:srgbClr val="E5F5EF"/>
          </a:solidFill>
          <a:ln w="12700">
            <a:solidFill>
              <a:srgbClr val="E5F5EF">
                <a:alpha val="0"/>
              </a:srgbClr>
            </a:solidFill>
            <a:prstDash val="solid"/>
          </a:ln>
        </p:spPr>
        <p:txBody>
          <a:bodyPr/>
          <a:lstStyle/>
          <a:p>
            <a:endParaRPr lang="en-US"/>
          </a:p>
        </p:txBody>
      </p:sp>
      <p:sp>
        <p:nvSpPr>
          <p:cNvPr id="22" name="Text 20"/>
          <p:cNvSpPr txBox="1"/>
          <p:nvPr/>
        </p:nvSpPr>
        <p:spPr>
          <a:xfrm>
            <a:off x="9610344" y="2066544"/>
            <a:ext cx="402336" cy="228600"/>
          </a:xfrm>
          <a:prstGeom prst="rect">
            <a:avLst/>
          </a:prstGeom>
          <a:noFill/>
          <a:ln/>
        </p:spPr>
        <p:txBody>
          <a:bodyPr wrap="square" lIns="0" tIns="0" rIns="0" bIns="0" rtlCol="0" anchor="ctr">
            <a:normAutofit/>
          </a:bodyPr>
          <a:lstStyle/>
          <a:p>
            <a:pPr marL="0" indent="0" algn="ctr">
              <a:buNone/>
            </a:pPr>
            <a:r>
              <a:rPr lang="en-US" sz="950" b="1" dirty="0">
                <a:solidFill>
                  <a:srgbClr val="2A9D8F"/>
                </a:solidFill>
                <a:latin typeface="Aptos" pitchFamily="34" charset="0"/>
                <a:ea typeface="Aptos" pitchFamily="34" charset="-122"/>
                <a:cs typeface="Aptos" pitchFamily="34" charset="-120"/>
              </a:rPr>
              <a:t>04</a:t>
            </a:r>
            <a:endParaRPr lang="en-US" sz="950" dirty="0"/>
          </a:p>
        </p:txBody>
      </p:sp>
      <p:sp>
        <p:nvSpPr>
          <p:cNvPr id="23" name="Text 21"/>
          <p:cNvSpPr txBox="1"/>
          <p:nvPr/>
        </p:nvSpPr>
        <p:spPr>
          <a:xfrm>
            <a:off x="9537192" y="2624328"/>
            <a:ext cx="2148840" cy="384048"/>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Validate</a:t>
            </a:r>
            <a:endParaRPr lang="en-US" sz="1900" dirty="0"/>
          </a:p>
        </p:txBody>
      </p:sp>
      <p:sp>
        <p:nvSpPr>
          <p:cNvPr id="24" name="Text 22"/>
          <p:cNvSpPr txBox="1"/>
          <p:nvPr/>
        </p:nvSpPr>
        <p:spPr>
          <a:xfrm>
            <a:off x="9537192" y="3127248"/>
            <a:ext cx="2148840" cy="868680"/>
          </a:xfrm>
          <a:prstGeom prst="rect">
            <a:avLst/>
          </a:prstGeom>
          <a:noFill/>
          <a:ln/>
        </p:spPr>
        <p:txBody>
          <a:bodyPr wrap="square" lIns="0" tIns="0" rIns="0" bIns="0" rtlCol="0" anchor="t">
            <a:normAutofit/>
          </a:bodyPr>
          <a:lstStyle/>
          <a:p>
            <a:pPr marL="0" indent="0" algn="l">
              <a:buNone/>
            </a:pPr>
            <a:r>
              <a:rPr lang="en-US" sz="1300" dirty="0">
                <a:solidFill>
                  <a:srgbClr val="52606D"/>
                </a:solidFill>
                <a:latin typeface="Aptos" pitchFamily="34" charset="0"/>
                <a:ea typeface="Aptos" pitchFamily="34" charset="-122"/>
                <a:cs typeface="Aptos" pitchFamily="34" charset="-120"/>
              </a:rPr>
              <a:t>Confirm numeric features, no missing values, and zero train/test overlap.</a:t>
            </a:r>
            <a:endParaRPr lang="en-US" sz="1300" dirty="0"/>
          </a:p>
        </p:txBody>
      </p:sp>
      <p:sp>
        <p:nvSpPr>
          <p:cNvPr id="25" name="Shape 23"/>
          <p:cNvSpPr/>
          <p:nvPr/>
        </p:nvSpPr>
        <p:spPr>
          <a:xfrm>
            <a:off x="658368" y="4736592"/>
            <a:ext cx="10927080" cy="850392"/>
          </a:xfrm>
          <a:prstGeom prst="roundRect">
            <a:avLst>
              <a:gd name="adj" fmla="val 12903"/>
            </a:avLst>
          </a:prstGeom>
          <a:solidFill>
            <a:srgbClr val="102A43"/>
          </a:solidFill>
          <a:ln w="10160">
            <a:solidFill>
              <a:srgbClr val="102A43">
                <a:alpha val="0"/>
              </a:srgbClr>
            </a:solidFill>
            <a:prstDash val="solid"/>
          </a:ln>
        </p:spPr>
        <p:txBody>
          <a:bodyPr/>
          <a:lstStyle/>
          <a:p>
            <a:endParaRPr lang="en-US"/>
          </a:p>
        </p:txBody>
      </p:sp>
      <p:sp>
        <p:nvSpPr>
          <p:cNvPr id="26" name="Text 24"/>
          <p:cNvSpPr txBox="1"/>
          <p:nvPr/>
        </p:nvSpPr>
        <p:spPr>
          <a:xfrm>
            <a:off x="941832" y="4937760"/>
            <a:ext cx="10287000" cy="384048"/>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Aptos" pitchFamily="34" charset="0"/>
                <a:ea typeface="Aptos" pitchFamily="34" charset="-122"/>
                <a:cs typeface="Aptos" pitchFamily="34" charset="-120"/>
              </a:rPr>
              <a:t>Milestone 3 is the final data-preparation checkpoint — model training comes next.</a:t>
            </a:r>
            <a:endParaRPr lang="en-US" sz="1700" dirty="0"/>
          </a:p>
        </p:txBody>
      </p:sp>
      <p:sp>
        <p:nvSpPr>
          <p:cNvPr id="27" name="Shape 2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8" name="Text 2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9"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02 / DATA OVERVIEW</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The starting dataset</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Initial data were inspected before any records or columns were removed.</a:t>
            </a:r>
            <a:endParaRPr lang="en-US" sz="1250" dirty="0"/>
          </a:p>
        </p:txBody>
      </p:sp>
      <p:sp>
        <p:nvSpPr>
          <p:cNvPr id="5" name="Shape 3"/>
          <p:cNvSpPr/>
          <p:nvPr/>
        </p:nvSpPr>
        <p:spPr>
          <a:xfrm>
            <a:off x="65836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658368" y="1664208"/>
            <a:ext cx="64008" cy="1280160"/>
          </a:xfrm>
          <a:prstGeom prst="rect">
            <a:avLst/>
          </a:prstGeom>
          <a:solidFill>
            <a:srgbClr val="3D5A80"/>
          </a:solidFill>
          <a:ln w="10160">
            <a:solidFill>
              <a:srgbClr val="3D5A80">
                <a:alpha val="0"/>
              </a:srgbClr>
            </a:solidFill>
            <a:prstDash val="solid"/>
          </a:ln>
        </p:spPr>
        <p:txBody>
          <a:bodyPr/>
          <a:lstStyle/>
          <a:p>
            <a:endParaRPr lang="en-US"/>
          </a:p>
        </p:txBody>
      </p:sp>
      <p:sp>
        <p:nvSpPr>
          <p:cNvPr id="7" name="Text 5"/>
          <p:cNvSpPr txBox="1"/>
          <p:nvPr/>
        </p:nvSpPr>
        <p:spPr>
          <a:xfrm>
            <a:off x="86868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10,018</a:t>
            </a:r>
            <a:endParaRPr lang="en-US" sz="2500" dirty="0"/>
          </a:p>
        </p:txBody>
      </p:sp>
      <p:sp>
        <p:nvSpPr>
          <p:cNvPr id="8" name="Text 6"/>
          <p:cNvSpPr txBox="1"/>
          <p:nvPr/>
        </p:nvSpPr>
        <p:spPr>
          <a:xfrm>
            <a:off x="868680" y="226771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Rows at import</a:t>
            </a:r>
            <a:endParaRPr lang="en-US" sz="1200" dirty="0"/>
          </a:p>
        </p:txBody>
      </p:sp>
      <p:sp>
        <p:nvSpPr>
          <p:cNvPr id="9" name="Text 7"/>
          <p:cNvSpPr txBox="1"/>
          <p:nvPr/>
        </p:nvSpPr>
        <p:spPr>
          <a:xfrm>
            <a:off x="86868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Raw dataset</a:t>
            </a:r>
            <a:endParaRPr lang="en-US" sz="950" dirty="0"/>
          </a:p>
        </p:txBody>
      </p:sp>
      <p:sp>
        <p:nvSpPr>
          <p:cNvPr id="10" name="Shape 8"/>
          <p:cNvSpPr/>
          <p:nvPr/>
        </p:nvSpPr>
        <p:spPr>
          <a:xfrm>
            <a:off x="335584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3355848" y="1664208"/>
            <a:ext cx="64008" cy="1280160"/>
          </a:xfrm>
          <a:prstGeom prst="rect">
            <a:avLst/>
          </a:prstGeom>
          <a:solidFill>
            <a:srgbClr val="00A6A6"/>
          </a:solidFill>
          <a:ln w="10160">
            <a:solidFill>
              <a:srgbClr val="00A6A6">
                <a:alpha val="0"/>
              </a:srgbClr>
            </a:solidFill>
            <a:prstDash val="solid"/>
          </a:ln>
        </p:spPr>
        <p:txBody>
          <a:bodyPr/>
          <a:lstStyle/>
          <a:p>
            <a:endParaRPr lang="en-US"/>
          </a:p>
        </p:txBody>
      </p:sp>
      <p:sp>
        <p:nvSpPr>
          <p:cNvPr id="12" name="Text 10"/>
          <p:cNvSpPr txBox="1"/>
          <p:nvPr/>
        </p:nvSpPr>
        <p:spPr>
          <a:xfrm>
            <a:off x="356616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14</a:t>
            </a:r>
            <a:endParaRPr lang="en-US" sz="2500" dirty="0"/>
          </a:p>
        </p:txBody>
      </p:sp>
      <p:sp>
        <p:nvSpPr>
          <p:cNvPr id="13" name="Text 11"/>
          <p:cNvSpPr txBox="1"/>
          <p:nvPr/>
        </p:nvSpPr>
        <p:spPr>
          <a:xfrm>
            <a:off x="3566160" y="2267712"/>
            <a:ext cx="2176272" cy="347472"/>
          </a:xfrm>
          <a:prstGeom prst="rect">
            <a:avLst/>
          </a:prstGeom>
          <a:noFill/>
          <a:ln/>
        </p:spPr>
        <p:txBody>
          <a:bodyPr wrap="square" lIns="0" tIns="0" rIns="0" bIns="0" rtlCol="0" anchor="t">
            <a:normAutofit/>
          </a:bodyPr>
          <a:lstStyle/>
          <a:p>
            <a:r>
              <a:rPr lang="en-US" sz="1200" b="1" dirty="0">
                <a:solidFill>
                  <a:schemeClr val="bg1">
                    <a:lumMod val="50000"/>
                  </a:schemeClr>
                </a:solidFill>
                <a:latin typeface="Aptos" panose="020B0004020202020204" pitchFamily="34" charset="0"/>
              </a:rPr>
              <a:t>Features</a:t>
            </a:r>
            <a:r>
              <a:rPr lang="en-US" sz="1200" b="1" dirty="0">
                <a:solidFill>
                  <a:srgbClr val="52606D"/>
                </a:solidFill>
                <a:latin typeface="Aptos" pitchFamily="34" charset="0"/>
                <a:ea typeface="Aptos" pitchFamily="34" charset="-122"/>
                <a:cs typeface="Aptos" pitchFamily="34" charset="-120"/>
              </a:rPr>
              <a:t> at import</a:t>
            </a:r>
            <a:endParaRPr lang="en-US" sz="1200" dirty="0"/>
          </a:p>
        </p:txBody>
      </p:sp>
      <p:sp>
        <p:nvSpPr>
          <p:cNvPr id="14" name="Text 12"/>
          <p:cNvSpPr txBox="1"/>
          <p:nvPr/>
        </p:nvSpPr>
        <p:spPr>
          <a:xfrm>
            <a:off x="356616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Including the target</a:t>
            </a:r>
            <a:endParaRPr lang="en-US" sz="950" dirty="0"/>
          </a:p>
        </p:txBody>
      </p:sp>
      <p:sp>
        <p:nvSpPr>
          <p:cNvPr id="15" name="Shape 13"/>
          <p:cNvSpPr/>
          <p:nvPr/>
        </p:nvSpPr>
        <p:spPr>
          <a:xfrm>
            <a:off x="605332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6053328" y="1664208"/>
            <a:ext cx="64008" cy="1280160"/>
          </a:xfrm>
          <a:prstGeom prst="rect">
            <a:avLst/>
          </a:prstGeom>
          <a:solidFill>
            <a:srgbClr val="F4A261"/>
          </a:solidFill>
          <a:ln w="10160">
            <a:solidFill>
              <a:srgbClr val="F4A261">
                <a:alpha val="0"/>
              </a:srgbClr>
            </a:solidFill>
            <a:prstDash val="solid"/>
          </a:ln>
        </p:spPr>
        <p:txBody>
          <a:bodyPr/>
          <a:lstStyle/>
          <a:p>
            <a:endParaRPr lang="en-US"/>
          </a:p>
        </p:txBody>
      </p:sp>
      <p:sp>
        <p:nvSpPr>
          <p:cNvPr id="17" name="Text 15"/>
          <p:cNvSpPr txBox="1"/>
          <p:nvPr/>
        </p:nvSpPr>
        <p:spPr>
          <a:xfrm>
            <a:off x="626364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550</a:t>
            </a:r>
            <a:endParaRPr lang="en-US" sz="2500" dirty="0"/>
          </a:p>
        </p:txBody>
      </p:sp>
      <p:sp>
        <p:nvSpPr>
          <p:cNvPr id="18" name="Text 16"/>
          <p:cNvSpPr txBox="1"/>
          <p:nvPr/>
        </p:nvSpPr>
        <p:spPr>
          <a:xfrm>
            <a:off x="6263640" y="226771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Missing cells</a:t>
            </a:r>
            <a:endParaRPr lang="en-US" sz="1200" dirty="0"/>
          </a:p>
        </p:txBody>
      </p:sp>
      <p:sp>
        <p:nvSpPr>
          <p:cNvPr id="19" name="Text 17"/>
          <p:cNvSpPr txBox="1"/>
          <p:nvPr/>
        </p:nvSpPr>
        <p:spPr>
          <a:xfrm>
            <a:off x="626364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Across 3 numeric columns</a:t>
            </a:r>
            <a:endParaRPr lang="en-US" sz="950" dirty="0"/>
          </a:p>
        </p:txBody>
      </p:sp>
      <p:sp>
        <p:nvSpPr>
          <p:cNvPr id="20" name="Shape 18"/>
          <p:cNvSpPr/>
          <p:nvPr/>
        </p:nvSpPr>
        <p:spPr>
          <a:xfrm>
            <a:off x="8750808" y="166420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8750808" y="1664208"/>
            <a:ext cx="64008" cy="1280160"/>
          </a:xfrm>
          <a:prstGeom prst="rect">
            <a:avLst/>
          </a:prstGeom>
          <a:solidFill>
            <a:srgbClr val="E76F51"/>
          </a:solidFill>
          <a:ln w="10160">
            <a:solidFill>
              <a:srgbClr val="E76F51">
                <a:alpha val="0"/>
              </a:srgbClr>
            </a:solidFill>
            <a:prstDash val="solid"/>
          </a:ln>
        </p:spPr>
        <p:txBody>
          <a:bodyPr/>
          <a:lstStyle/>
          <a:p>
            <a:endParaRPr lang="en-US"/>
          </a:p>
        </p:txBody>
      </p:sp>
      <p:sp>
        <p:nvSpPr>
          <p:cNvPr id="22" name="Text 20"/>
          <p:cNvSpPr txBox="1"/>
          <p:nvPr/>
        </p:nvSpPr>
        <p:spPr>
          <a:xfrm>
            <a:off x="8961120" y="181051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18</a:t>
            </a:r>
            <a:endParaRPr lang="en-US" sz="2500" dirty="0"/>
          </a:p>
        </p:txBody>
      </p:sp>
      <p:sp>
        <p:nvSpPr>
          <p:cNvPr id="23" name="Text 21"/>
          <p:cNvSpPr txBox="1"/>
          <p:nvPr/>
        </p:nvSpPr>
        <p:spPr>
          <a:xfrm>
            <a:off x="8961120" y="226771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Exact duplicate rows</a:t>
            </a:r>
            <a:endParaRPr lang="en-US" sz="1200" dirty="0"/>
          </a:p>
        </p:txBody>
      </p:sp>
      <p:sp>
        <p:nvSpPr>
          <p:cNvPr id="24" name="Text 22"/>
          <p:cNvSpPr txBox="1"/>
          <p:nvPr/>
        </p:nvSpPr>
        <p:spPr>
          <a:xfrm>
            <a:off x="8961120" y="262432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Detected before cleaning</a:t>
            </a:r>
            <a:endParaRPr lang="en-US" sz="950" dirty="0"/>
          </a:p>
        </p:txBody>
      </p:sp>
      <p:sp>
        <p:nvSpPr>
          <p:cNvPr id="25" name="Shape 23"/>
          <p:cNvSpPr/>
          <p:nvPr/>
        </p:nvSpPr>
        <p:spPr>
          <a:xfrm>
            <a:off x="658368" y="3291840"/>
            <a:ext cx="6537960" cy="2258568"/>
          </a:xfrm>
          <a:prstGeom prst="roundRect">
            <a:avLst>
              <a:gd name="adj" fmla="val 4858"/>
            </a:avLst>
          </a:prstGeom>
          <a:solidFill>
            <a:srgbClr val="FFFFFF"/>
          </a:solidFill>
          <a:ln w="10160">
            <a:solidFill>
              <a:srgbClr val="D9E2EC"/>
            </a:solidFill>
            <a:prstDash val="solid"/>
          </a:ln>
        </p:spPr>
        <p:txBody>
          <a:bodyPr/>
          <a:lstStyle/>
          <a:p>
            <a:endParaRPr lang="en-US"/>
          </a:p>
        </p:txBody>
      </p:sp>
      <p:sp>
        <p:nvSpPr>
          <p:cNvPr id="26" name="Text 24"/>
          <p:cNvSpPr txBox="1"/>
          <p:nvPr/>
        </p:nvSpPr>
        <p:spPr>
          <a:xfrm>
            <a:off x="932688" y="3529584"/>
            <a:ext cx="2011680" cy="292608"/>
          </a:xfrm>
          <a:prstGeom prst="rect">
            <a:avLst/>
          </a:prstGeom>
          <a:noFill/>
          <a:ln/>
        </p:spPr>
        <p:txBody>
          <a:bodyPr wrap="square" lIns="0" tIns="0" rIns="0" bIns="0" rtlCol="0" anchor="ctr">
            <a:normAutofit/>
          </a:bodyPr>
          <a:lstStyle/>
          <a:p>
            <a:pPr marL="0" indent="0" algn="l">
              <a:buNone/>
            </a:pPr>
            <a:r>
              <a:rPr lang="en-US" sz="1700" b="1" dirty="0">
                <a:solidFill>
                  <a:srgbClr val="102A43"/>
                </a:solidFill>
                <a:latin typeface="Aptos" pitchFamily="34" charset="0"/>
                <a:ea typeface="Aptos" pitchFamily="34" charset="-122"/>
                <a:cs typeface="Aptos" pitchFamily="34" charset="-120"/>
              </a:rPr>
              <a:t>Target variable</a:t>
            </a:r>
            <a:endParaRPr lang="en-US" sz="1700" dirty="0"/>
          </a:p>
        </p:txBody>
      </p:sp>
      <p:sp>
        <p:nvSpPr>
          <p:cNvPr id="27" name="Shape 25"/>
          <p:cNvSpPr/>
          <p:nvPr/>
        </p:nvSpPr>
        <p:spPr>
          <a:xfrm>
            <a:off x="941832" y="4050792"/>
            <a:ext cx="1371600"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28" name="Text 26"/>
          <p:cNvSpPr txBox="1"/>
          <p:nvPr/>
        </p:nvSpPr>
        <p:spPr>
          <a:xfrm>
            <a:off x="1014984" y="4059936"/>
            <a:ext cx="122529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Exited = 0</a:t>
            </a:r>
            <a:endParaRPr lang="en-US" sz="950" dirty="0"/>
          </a:p>
        </p:txBody>
      </p:sp>
      <p:sp>
        <p:nvSpPr>
          <p:cNvPr id="29" name="Text 27"/>
          <p:cNvSpPr txBox="1"/>
          <p:nvPr/>
        </p:nvSpPr>
        <p:spPr>
          <a:xfrm>
            <a:off x="2487168" y="4059936"/>
            <a:ext cx="2103120" cy="274320"/>
          </a:xfrm>
          <a:prstGeom prst="rect">
            <a:avLst/>
          </a:prstGeom>
          <a:noFill/>
          <a:ln/>
        </p:spPr>
        <p:txBody>
          <a:bodyPr wrap="square" lIns="0" tIns="0" rIns="0" bIns="0" rtlCol="0" anchor="ctr">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Customer stayed</a:t>
            </a:r>
            <a:endParaRPr lang="en-US" sz="1400" dirty="0"/>
          </a:p>
        </p:txBody>
      </p:sp>
      <p:sp>
        <p:nvSpPr>
          <p:cNvPr id="30" name="Shape 28"/>
          <p:cNvSpPr/>
          <p:nvPr/>
        </p:nvSpPr>
        <p:spPr>
          <a:xfrm>
            <a:off x="941832" y="4617720"/>
            <a:ext cx="1371600"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31" name="Text 29"/>
          <p:cNvSpPr txBox="1"/>
          <p:nvPr/>
        </p:nvSpPr>
        <p:spPr>
          <a:xfrm>
            <a:off x="1014984" y="4626864"/>
            <a:ext cx="1225296" cy="228600"/>
          </a:xfrm>
          <a:prstGeom prst="rect">
            <a:avLst/>
          </a:prstGeom>
          <a:noFill/>
          <a:ln/>
        </p:spPr>
        <p:txBody>
          <a:bodyPr wrap="square" lIns="0" tIns="0" rIns="0" bIns="0" rtlCol="0" anchor="ctr">
            <a:normAutofit/>
          </a:bodyPr>
          <a:lstStyle/>
          <a:p>
            <a:pPr marL="0" indent="0" algn="ctr">
              <a:buNone/>
            </a:pPr>
            <a:r>
              <a:rPr lang="en-US" sz="950" b="1" dirty="0">
                <a:solidFill>
                  <a:srgbClr val="A65A00"/>
                </a:solidFill>
                <a:latin typeface="Aptos" pitchFamily="34" charset="0"/>
                <a:ea typeface="Aptos" pitchFamily="34" charset="-122"/>
                <a:cs typeface="Aptos" pitchFamily="34" charset="-120"/>
              </a:rPr>
              <a:t>Exited = 1</a:t>
            </a:r>
            <a:endParaRPr lang="en-US" sz="950" dirty="0"/>
          </a:p>
        </p:txBody>
      </p:sp>
      <p:sp>
        <p:nvSpPr>
          <p:cNvPr id="32" name="Text 30"/>
          <p:cNvSpPr txBox="1"/>
          <p:nvPr/>
        </p:nvSpPr>
        <p:spPr>
          <a:xfrm>
            <a:off x="2487168" y="4626864"/>
            <a:ext cx="3246120" cy="274320"/>
          </a:xfrm>
          <a:prstGeom prst="rect">
            <a:avLst/>
          </a:prstGeom>
          <a:noFill/>
          <a:ln/>
        </p:spPr>
        <p:txBody>
          <a:bodyPr wrap="square" lIns="0" tIns="0" rIns="0" bIns="0" rtlCol="0" anchor="ctr">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Customer exited / churned</a:t>
            </a:r>
            <a:endParaRPr lang="en-US" sz="1400" dirty="0"/>
          </a:p>
        </p:txBody>
      </p:sp>
      <p:sp>
        <p:nvSpPr>
          <p:cNvPr id="33" name="Shape 31"/>
          <p:cNvSpPr/>
          <p:nvPr/>
        </p:nvSpPr>
        <p:spPr>
          <a:xfrm>
            <a:off x="7424928" y="3291840"/>
            <a:ext cx="3867912" cy="2258568"/>
          </a:xfrm>
          <a:prstGeom prst="roundRect">
            <a:avLst>
              <a:gd name="adj" fmla="val 4858"/>
            </a:avLst>
          </a:prstGeom>
          <a:solidFill>
            <a:srgbClr val="FFFFFF"/>
          </a:solidFill>
          <a:ln w="10160">
            <a:solidFill>
              <a:srgbClr val="D9E2EC"/>
            </a:solidFill>
            <a:prstDash val="solid"/>
          </a:ln>
        </p:spPr>
        <p:txBody>
          <a:bodyPr/>
          <a:lstStyle/>
          <a:p>
            <a:endParaRPr lang="en-US"/>
          </a:p>
        </p:txBody>
      </p:sp>
      <p:sp>
        <p:nvSpPr>
          <p:cNvPr id="34" name="Text 32"/>
          <p:cNvSpPr txBox="1"/>
          <p:nvPr/>
        </p:nvSpPr>
        <p:spPr>
          <a:xfrm>
            <a:off x="7699248" y="3529584"/>
            <a:ext cx="3200400" cy="310896"/>
          </a:xfrm>
          <a:prstGeom prst="rect">
            <a:avLst/>
          </a:prstGeom>
          <a:noFill/>
          <a:ln/>
        </p:spPr>
        <p:txBody>
          <a:bodyPr wrap="square" lIns="0" tIns="0" rIns="0" bIns="0" rtlCol="0" anchor="ctr">
            <a:normAutofit/>
          </a:bodyPr>
          <a:lstStyle/>
          <a:p>
            <a:pPr marL="0" indent="0" algn="l">
              <a:buNone/>
            </a:pPr>
            <a:r>
              <a:rPr lang="en-US" sz="1700" b="1" dirty="0">
                <a:solidFill>
                  <a:srgbClr val="102A43"/>
                </a:solidFill>
                <a:latin typeface="Aptos" pitchFamily="34" charset="0"/>
                <a:ea typeface="Aptos" pitchFamily="34" charset="-122"/>
                <a:cs typeface="Aptos" pitchFamily="34" charset="-120"/>
              </a:rPr>
              <a:t>Missing values found</a:t>
            </a:r>
            <a:endParaRPr lang="en-US" sz="1700" dirty="0"/>
          </a:p>
        </p:txBody>
      </p:sp>
      <p:sp>
        <p:nvSpPr>
          <p:cNvPr id="35" name="Shape 33"/>
          <p:cNvSpPr/>
          <p:nvPr/>
        </p:nvSpPr>
        <p:spPr>
          <a:xfrm>
            <a:off x="7717536" y="4151376"/>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36" name="Text 34"/>
          <p:cNvSpPr txBox="1"/>
          <p:nvPr/>
        </p:nvSpPr>
        <p:spPr>
          <a:xfrm>
            <a:off x="7918704" y="4050792"/>
            <a:ext cx="2816352" cy="30175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CreditScore: 200</a:t>
            </a:r>
            <a:endParaRPr lang="en-US" sz="1300" dirty="0"/>
          </a:p>
        </p:txBody>
      </p:sp>
      <p:sp>
        <p:nvSpPr>
          <p:cNvPr id="37" name="Shape 35"/>
          <p:cNvSpPr/>
          <p:nvPr/>
        </p:nvSpPr>
        <p:spPr>
          <a:xfrm>
            <a:off x="7717536" y="4590288"/>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38" name="Text 36"/>
          <p:cNvSpPr txBox="1"/>
          <p:nvPr/>
        </p:nvSpPr>
        <p:spPr>
          <a:xfrm>
            <a:off x="7918704" y="4489704"/>
            <a:ext cx="2816352" cy="30175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Age: 250</a:t>
            </a:r>
            <a:endParaRPr lang="en-US" sz="1300" dirty="0"/>
          </a:p>
        </p:txBody>
      </p:sp>
      <p:sp>
        <p:nvSpPr>
          <p:cNvPr id="39" name="Shape 37"/>
          <p:cNvSpPr/>
          <p:nvPr/>
        </p:nvSpPr>
        <p:spPr>
          <a:xfrm>
            <a:off x="7717536" y="5029200"/>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40" name="Text 38"/>
          <p:cNvSpPr txBox="1"/>
          <p:nvPr/>
        </p:nvSpPr>
        <p:spPr>
          <a:xfrm>
            <a:off x="7918704" y="4928616"/>
            <a:ext cx="2816352" cy="30175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EstimatedSalary: 100</a:t>
            </a:r>
            <a:endParaRPr lang="en-US" sz="1300" dirty="0"/>
          </a:p>
        </p:txBody>
      </p:sp>
      <p:sp>
        <p:nvSpPr>
          <p:cNvPr id="41" name="Shape 39"/>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42" name="Text 40"/>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3"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03 / DATA CLEANING</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What was cleaned — and why</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Only exact duplicates and identifier/name columns were removed at the basic-cleaning stage.</a:t>
            </a:r>
            <a:endParaRPr lang="en-US" sz="1250" dirty="0"/>
          </a:p>
        </p:txBody>
      </p:sp>
      <p:sp>
        <p:nvSpPr>
          <p:cNvPr id="5" name="Shape 3"/>
          <p:cNvSpPr/>
          <p:nvPr/>
        </p:nvSpPr>
        <p:spPr>
          <a:xfrm>
            <a:off x="694944" y="1783080"/>
            <a:ext cx="5148072" cy="3456432"/>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6" name="Text 4"/>
          <p:cNvSpPr txBox="1"/>
          <p:nvPr/>
        </p:nvSpPr>
        <p:spPr>
          <a:xfrm>
            <a:off x="987552" y="2057400"/>
            <a:ext cx="4297680" cy="347472"/>
          </a:xfrm>
          <a:prstGeom prst="rect">
            <a:avLst/>
          </a:prstGeom>
          <a:noFill/>
          <a:ln/>
        </p:spPr>
        <p:txBody>
          <a:bodyPr wrap="square" lIns="0" tIns="0" rIns="0" bIns="0" rtlCol="0" anchor="ctr">
            <a:normAutofit/>
          </a:bodyPr>
          <a:lstStyle/>
          <a:p>
            <a:pPr marL="0" indent="0" algn="l">
              <a:buNone/>
            </a:pPr>
            <a:r>
              <a:rPr lang="en-US" sz="1900" b="1" dirty="0">
                <a:solidFill>
                  <a:srgbClr val="102A43"/>
                </a:solidFill>
                <a:latin typeface="Aptos" pitchFamily="34" charset="0"/>
                <a:ea typeface="Aptos" pitchFamily="34" charset="-122"/>
                <a:cs typeface="Aptos" pitchFamily="34" charset="-120"/>
              </a:rPr>
              <a:t>Cleaning decisions</a:t>
            </a:r>
            <a:endParaRPr lang="en-US" sz="1900" dirty="0"/>
          </a:p>
        </p:txBody>
      </p:sp>
      <p:sp>
        <p:nvSpPr>
          <p:cNvPr id="7" name="Shape 5"/>
          <p:cNvSpPr/>
          <p:nvPr/>
        </p:nvSpPr>
        <p:spPr>
          <a:xfrm>
            <a:off x="987552" y="2779776"/>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8" name="Text 6"/>
          <p:cNvSpPr txBox="1"/>
          <p:nvPr/>
        </p:nvSpPr>
        <p:spPr>
          <a:xfrm>
            <a:off x="1188720" y="2679192"/>
            <a:ext cx="4233672" cy="402336"/>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Removed 18 exact duplicate rows.</a:t>
            </a:r>
            <a:endParaRPr lang="en-US" sz="1400" dirty="0"/>
          </a:p>
        </p:txBody>
      </p:sp>
      <p:sp>
        <p:nvSpPr>
          <p:cNvPr id="9" name="Shape 7"/>
          <p:cNvSpPr/>
          <p:nvPr/>
        </p:nvSpPr>
        <p:spPr>
          <a:xfrm>
            <a:off x="987552" y="3392424"/>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0" name="Text 8"/>
          <p:cNvSpPr txBox="1"/>
          <p:nvPr/>
        </p:nvSpPr>
        <p:spPr>
          <a:xfrm>
            <a:off x="1188720" y="3291840"/>
            <a:ext cx="4233672" cy="530352"/>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Dropped RowNumber and CustomerId because they are identifiers.</a:t>
            </a:r>
            <a:endParaRPr lang="en-US" sz="1400" dirty="0"/>
          </a:p>
        </p:txBody>
      </p:sp>
      <p:sp>
        <p:nvSpPr>
          <p:cNvPr id="11" name="Shape 9"/>
          <p:cNvSpPr/>
          <p:nvPr/>
        </p:nvSpPr>
        <p:spPr>
          <a:xfrm>
            <a:off x="987552" y="4142232"/>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2" name="Text 10"/>
          <p:cNvSpPr txBox="1"/>
          <p:nvPr/>
        </p:nvSpPr>
        <p:spPr>
          <a:xfrm>
            <a:off x="1188720" y="4041648"/>
            <a:ext cx="4233672" cy="649224"/>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Dropped Surname because it is a name field, not a useful modeling feature here.</a:t>
            </a:r>
            <a:endParaRPr lang="en-US" sz="1400" dirty="0"/>
          </a:p>
        </p:txBody>
      </p:sp>
      <p:sp>
        <p:nvSpPr>
          <p:cNvPr id="13" name="Shape 11"/>
          <p:cNvSpPr/>
          <p:nvPr/>
        </p:nvSpPr>
        <p:spPr>
          <a:xfrm>
            <a:off x="987552" y="4901184"/>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14" name="Text 12"/>
          <p:cNvSpPr txBox="1"/>
          <p:nvPr/>
        </p:nvSpPr>
        <p:spPr>
          <a:xfrm>
            <a:off x="1188720" y="4800600"/>
            <a:ext cx="4233672" cy="530352"/>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Kept missing feature values temporarily; they are imputed after splitting.</a:t>
            </a:r>
            <a:endParaRPr lang="en-US" sz="1400" dirty="0"/>
          </a:p>
        </p:txBody>
      </p:sp>
      <p:sp>
        <p:nvSpPr>
          <p:cNvPr id="15" name="Shape 13"/>
          <p:cNvSpPr/>
          <p:nvPr/>
        </p:nvSpPr>
        <p:spPr>
          <a:xfrm>
            <a:off x="6172200" y="1783080"/>
            <a:ext cx="5294376" cy="3456432"/>
          </a:xfrm>
          <a:prstGeom prst="roundRect">
            <a:avLst>
              <a:gd name="adj" fmla="val 3175"/>
            </a:avLst>
          </a:prstGeom>
          <a:solidFill>
            <a:srgbClr val="102A43"/>
          </a:solidFill>
          <a:ln w="10160">
            <a:solidFill>
              <a:srgbClr val="102A43"/>
            </a:solidFill>
            <a:prstDash val="solid"/>
          </a:ln>
        </p:spPr>
        <p:txBody>
          <a:bodyPr/>
          <a:lstStyle/>
          <a:p>
            <a:endParaRPr lang="en-US"/>
          </a:p>
        </p:txBody>
      </p:sp>
      <p:sp>
        <p:nvSpPr>
          <p:cNvPr id="16" name="Text 14"/>
          <p:cNvSpPr txBox="1"/>
          <p:nvPr/>
        </p:nvSpPr>
        <p:spPr>
          <a:xfrm>
            <a:off x="6510528" y="2103120"/>
            <a:ext cx="4480560" cy="320040"/>
          </a:xfrm>
          <a:prstGeom prst="rect">
            <a:avLst/>
          </a:prstGeom>
          <a:noFill/>
          <a:ln/>
        </p:spPr>
        <p:txBody>
          <a:bodyPr wrap="square" lIns="0" tIns="0" rIns="0" bIns="0" rtlCol="0" anchor="ctr">
            <a:normAutofit/>
          </a:bodyPr>
          <a:lstStyle/>
          <a:p>
            <a:pPr marL="0" indent="0" algn="l">
              <a:buNone/>
            </a:pPr>
            <a:r>
              <a:rPr lang="en-US" sz="1600" b="1" dirty="0">
                <a:solidFill>
                  <a:srgbClr val="BDEDEA"/>
                </a:solidFill>
                <a:latin typeface="Aptos" pitchFamily="34" charset="0"/>
                <a:ea typeface="Aptos" pitchFamily="34" charset="-122"/>
                <a:cs typeface="Aptos" pitchFamily="34" charset="-120"/>
              </a:rPr>
              <a:t>After basic cleaning</a:t>
            </a:r>
            <a:endParaRPr lang="en-US" sz="1600" dirty="0"/>
          </a:p>
        </p:txBody>
      </p:sp>
      <p:sp>
        <p:nvSpPr>
          <p:cNvPr id="17" name="Text 15"/>
          <p:cNvSpPr txBox="1"/>
          <p:nvPr/>
        </p:nvSpPr>
        <p:spPr>
          <a:xfrm>
            <a:off x="6510528" y="2697480"/>
            <a:ext cx="4480560" cy="640080"/>
          </a:xfrm>
          <a:prstGeom prst="rect">
            <a:avLst/>
          </a:prstGeom>
          <a:noFill/>
          <a:ln/>
        </p:spPr>
        <p:txBody>
          <a:bodyPr wrap="square" lIns="0" tIns="0" rIns="0" bIns="0" rtlCol="0" anchor="ctr">
            <a:normAutofit/>
          </a:bodyPr>
          <a:lstStyle/>
          <a:p>
            <a:pPr marL="0" indent="0" algn="l">
              <a:buNone/>
            </a:pPr>
            <a:r>
              <a:rPr lang="en-US" sz="3600" b="1" dirty="0">
                <a:solidFill>
                  <a:srgbClr val="FFFFFF"/>
                </a:solidFill>
                <a:latin typeface="Aptos Display" pitchFamily="34" charset="0"/>
                <a:ea typeface="Aptos Display" pitchFamily="34" charset="-122"/>
                <a:cs typeface="Aptos Display" pitchFamily="34" charset="-120"/>
              </a:rPr>
              <a:t>10,000</a:t>
            </a:r>
            <a:endParaRPr lang="en-US" sz="3600" dirty="0"/>
          </a:p>
        </p:txBody>
      </p:sp>
      <p:sp>
        <p:nvSpPr>
          <p:cNvPr id="18" name="Text 16"/>
          <p:cNvSpPr txBox="1"/>
          <p:nvPr/>
        </p:nvSpPr>
        <p:spPr>
          <a:xfrm>
            <a:off x="6537960" y="3273552"/>
            <a:ext cx="3840480" cy="246888"/>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rows retained</a:t>
            </a:r>
            <a:endParaRPr lang="en-US" sz="1300" dirty="0"/>
          </a:p>
        </p:txBody>
      </p:sp>
      <p:sp>
        <p:nvSpPr>
          <p:cNvPr id="19" name="Shape 17"/>
          <p:cNvSpPr/>
          <p:nvPr/>
        </p:nvSpPr>
        <p:spPr>
          <a:xfrm>
            <a:off x="6510528" y="3730752"/>
            <a:ext cx="4389120" cy="0"/>
          </a:xfrm>
          <a:prstGeom prst="line">
            <a:avLst/>
          </a:prstGeom>
          <a:noFill/>
          <a:ln w="12700">
            <a:solidFill>
              <a:srgbClr val="486581"/>
            </a:solidFill>
            <a:prstDash val="solid"/>
          </a:ln>
        </p:spPr>
        <p:txBody>
          <a:bodyPr/>
          <a:lstStyle/>
          <a:p>
            <a:endParaRPr lang="en-US"/>
          </a:p>
        </p:txBody>
      </p:sp>
      <p:sp>
        <p:nvSpPr>
          <p:cNvPr id="20" name="Text 18"/>
          <p:cNvSpPr txBox="1"/>
          <p:nvPr/>
        </p:nvSpPr>
        <p:spPr>
          <a:xfrm>
            <a:off x="6510528" y="3995928"/>
            <a:ext cx="1280160" cy="548640"/>
          </a:xfrm>
          <a:prstGeom prst="rect">
            <a:avLst/>
          </a:prstGeom>
          <a:noFill/>
          <a:ln/>
        </p:spPr>
        <p:txBody>
          <a:bodyPr wrap="square" lIns="0" tIns="0" rIns="0" bIns="0" rtlCol="0" anchor="ctr">
            <a:normAutofit/>
          </a:bodyPr>
          <a:lstStyle/>
          <a:p>
            <a:pPr marL="0" indent="0" algn="l">
              <a:buNone/>
            </a:pPr>
            <a:r>
              <a:rPr lang="en-US" sz="3000" b="1" dirty="0">
                <a:solidFill>
                  <a:srgbClr val="00A6A6"/>
                </a:solidFill>
                <a:latin typeface="Aptos Display" pitchFamily="34" charset="0"/>
                <a:ea typeface="Aptos Display" pitchFamily="34" charset="-122"/>
                <a:cs typeface="Aptos Display" pitchFamily="34" charset="-120"/>
              </a:rPr>
              <a:t>11</a:t>
            </a:r>
            <a:endParaRPr lang="en-US" sz="3000" dirty="0"/>
          </a:p>
        </p:txBody>
      </p:sp>
      <p:sp>
        <p:nvSpPr>
          <p:cNvPr id="21" name="Text 19"/>
          <p:cNvSpPr txBox="1"/>
          <p:nvPr/>
        </p:nvSpPr>
        <p:spPr>
          <a:xfrm>
            <a:off x="7461504" y="4096512"/>
            <a:ext cx="3291840" cy="274320"/>
          </a:xfrm>
          <a:prstGeom prst="rect">
            <a:avLst/>
          </a:prstGeom>
          <a:noFill/>
          <a:ln/>
        </p:spPr>
        <p:txBody>
          <a:bodyPr wrap="square" lIns="0" tIns="0" rIns="0" bIns="0" rtlCol="0" anchor="ctr">
            <a:normAutofit/>
          </a:bodyPr>
          <a:lstStyle/>
          <a:p>
            <a:r>
              <a:rPr lang="en-US" sz="1400" dirty="0">
                <a:solidFill>
                  <a:schemeClr val="bg1"/>
                </a:solidFill>
              </a:rPr>
              <a:t>Features</a:t>
            </a:r>
            <a:r>
              <a:rPr lang="en-US" sz="1400" dirty="0"/>
              <a:t> </a:t>
            </a:r>
            <a:r>
              <a:rPr lang="en-US" sz="1400" dirty="0">
                <a:solidFill>
                  <a:srgbClr val="FFFFFF"/>
                </a:solidFill>
                <a:latin typeface="Aptos" pitchFamily="34" charset="0"/>
                <a:ea typeface="Aptos" pitchFamily="34" charset="-122"/>
                <a:cs typeface="Aptos" pitchFamily="34" charset="-120"/>
              </a:rPr>
              <a:t> remain</a:t>
            </a:r>
            <a:endParaRPr lang="en-US" sz="1400" dirty="0"/>
          </a:p>
        </p:txBody>
      </p:sp>
      <p:sp>
        <p:nvSpPr>
          <p:cNvPr id="22" name="Text 20"/>
          <p:cNvSpPr txBox="1"/>
          <p:nvPr/>
        </p:nvSpPr>
        <p:spPr>
          <a:xfrm>
            <a:off x="6510528" y="4727448"/>
            <a:ext cx="4352544" cy="393192"/>
          </a:xfrm>
          <a:prstGeom prst="rect">
            <a:avLst/>
          </a:prstGeom>
          <a:noFill/>
          <a:ln/>
        </p:spPr>
        <p:txBody>
          <a:bodyPr wrap="square" lIns="0" tIns="0" rIns="0" bIns="0" rtlCol="0" anchor="t">
            <a:normAutofit/>
          </a:bodyPr>
          <a:lstStyle/>
          <a:p>
            <a:pPr marL="0" indent="0" algn="l">
              <a:buNone/>
            </a:pPr>
            <a:r>
              <a:rPr lang="en-US" sz="1150" dirty="0">
                <a:solidFill>
                  <a:srgbClr val="D9E2EC"/>
                </a:solidFill>
                <a:latin typeface="Aptos" pitchFamily="34" charset="0"/>
                <a:ea typeface="Aptos" pitchFamily="34" charset="-122"/>
                <a:cs typeface="Aptos" pitchFamily="34" charset="-120"/>
              </a:rPr>
              <a:t>Missing values are handled inside the pipeline after train/test split.</a:t>
            </a:r>
            <a:endParaRPr lang="en-US" sz="1150" dirty="0"/>
          </a:p>
        </p:txBody>
      </p:sp>
      <p:sp>
        <p:nvSpPr>
          <p:cNvPr id="23" name="Shape 21"/>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4" name="Text 22"/>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04 / EXPLORATORY DATA ANALYSIS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Questions answered by EDA</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Exploration combined summaries, distribution charts, group comparisons, and correlations.</a:t>
            </a:r>
            <a:endParaRPr lang="en-US" sz="1250" dirty="0"/>
          </a:p>
        </p:txBody>
      </p:sp>
      <p:sp>
        <p:nvSpPr>
          <p:cNvPr id="5" name="Shape 3"/>
          <p:cNvSpPr/>
          <p:nvPr/>
        </p:nvSpPr>
        <p:spPr>
          <a:xfrm>
            <a:off x="676656" y="1773936"/>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859536" y="1947672"/>
            <a:ext cx="47548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7" name="Text 5"/>
          <p:cNvSpPr txBox="1"/>
          <p:nvPr/>
        </p:nvSpPr>
        <p:spPr>
          <a:xfrm>
            <a:off x="932688" y="1956816"/>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01</a:t>
            </a:r>
            <a:endParaRPr lang="en-US" sz="950" dirty="0"/>
          </a:p>
        </p:txBody>
      </p:sp>
      <p:sp>
        <p:nvSpPr>
          <p:cNvPr id="8" name="Text 6"/>
          <p:cNvSpPr txBox="1"/>
          <p:nvPr/>
        </p:nvSpPr>
        <p:spPr>
          <a:xfrm>
            <a:off x="859536" y="2340864"/>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How many customers churn?</a:t>
            </a:r>
            <a:endParaRPr lang="en-US" sz="1450" dirty="0"/>
          </a:p>
        </p:txBody>
      </p:sp>
      <p:sp>
        <p:nvSpPr>
          <p:cNvPr id="9" name="Text 7"/>
          <p:cNvSpPr txBox="1"/>
          <p:nvPr/>
        </p:nvSpPr>
        <p:spPr>
          <a:xfrm>
            <a:off x="859536" y="2779776"/>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Target count and percentage</a:t>
            </a:r>
            <a:endParaRPr lang="en-US" sz="1150" dirty="0"/>
          </a:p>
        </p:txBody>
      </p:sp>
      <p:sp>
        <p:nvSpPr>
          <p:cNvPr id="10" name="Shape 8"/>
          <p:cNvSpPr/>
          <p:nvPr/>
        </p:nvSpPr>
        <p:spPr>
          <a:xfrm>
            <a:off x="4480560" y="1773936"/>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4663440" y="1947672"/>
            <a:ext cx="475488"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12" name="Text 10"/>
          <p:cNvSpPr txBox="1"/>
          <p:nvPr/>
        </p:nvSpPr>
        <p:spPr>
          <a:xfrm>
            <a:off x="4736592" y="1956816"/>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02</a:t>
            </a:r>
            <a:endParaRPr lang="en-US" sz="950" dirty="0"/>
          </a:p>
        </p:txBody>
      </p:sp>
      <p:sp>
        <p:nvSpPr>
          <p:cNvPr id="13" name="Text 11"/>
          <p:cNvSpPr txBox="1"/>
          <p:nvPr/>
        </p:nvSpPr>
        <p:spPr>
          <a:xfrm>
            <a:off x="4663440" y="2340864"/>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Which groups churn more?</a:t>
            </a:r>
            <a:endParaRPr lang="en-US" sz="1450" dirty="0"/>
          </a:p>
        </p:txBody>
      </p:sp>
      <p:sp>
        <p:nvSpPr>
          <p:cNvPr id="14" name="Text 12"/>
          <p:cNvSpPr txBox="1"/>
          <p:nvPr/>
        </p:nvSpPr>
        <p:spPr>
          <a:xfrm>
            <a:off x="4663440" y="2779776"/>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Geography, gender, activity, products</a:t>
            </a:r>
            <a:endParaRPr lang="en-US" sz="1150" dirty="0"/>
          </a:p>
        </p:txBody>
      </p:sp>
      <p:sp>
        <p:nvSpPr>
          <p:cNvPr id="15" name="Shape 13"/>
          <p:cNvSpPr/>
          <p:nvPr/>
        </p:nvSpPr>
        <p:spPr>
          <a:xfrm>
            <a:off x="8284464" y="1773936"/>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8467344" y="1947672"/>
            <a:ext cx="475488"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17" name="Text 15"/>
          <p:cNvSpPr txBox="1"/>
          <p:nvPr/>
        </p:nvSpPr>
        <p:spPr>
          <a:xfrm>
            <a:off x="8540496" y="1956816"/>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03</a:t>
            </a:r>
            <a:endParaRPr lang="en-US" sz="950" dirty="0"/>
          </a:p>
        </p:txBody>
      </p:sp>
      <p:sp>
        <p:nvSpPr>
          <p:cNvPr id="18" name="Text 16"/>
          <p:cNvSpPr txBox="1"/>
          <p:nvPr/>
        </p:nvSpPr>
        <p:spPr>
          <a:xfrm>
            <a:off x="8467344" y="2340864"/>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How does age relate to churn?</a:t>
            </a:r>
            <a:endParaRPr lang="en-US" sz="1450" dirty="0"/>
          </a:p>
        </p:txBody>
      </p:sp>
      <p:sp>
        <p:nvSpPr>
          <p:cNvPr id="19" name="Text 17"/>
          <p:cNvSpPr txBox="1"/>
          <p:nvPr/>
        </p:nvSpPr>
        <p:spPr>
          <a:xfrm>
            <a:off x="8467344" y="2779776"/>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Age distribution and age-group rates</a:t>
            </a:r>
            <a:endParaRPr lang="en-US" sz="1150" dirty="0"/>
          </a:p>
        </p:txBody>
      </p:sp>
      <p:sp>
        <p:nvSpPr>
          <p:cNvPr id="20" name="Shape 18"/>
          <p:cNvSpPr/>
          <p:nvPr/>
        </p:nvSpPr>
        <p:spPr>
          <a:xfrm>
            <a:off x="676656" y="3712464"/>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859536" y="3886200"/>
            <a:ext cx="475488" cy="283464"/>
          </a:xfrm>
          <a:prstGeom prst="roundRect">
            <a:avLst>
              <a:gd name="adj" fmla="val 32258"/>
            </a:avLst>
          </a:prstGeom>
          <a:solidFill>
            <a:srgbClr val="E5F5EF"/>
          </a:solidFill>
          <a:ln w="12700">
            <a:solidFill>
              <a:srgbClr val="E5F5EF">
                <a:alpha val="0"/>
              </a:srgbClr>
            </a:solidFill>
            <a:prstDash val="solid"/>
          </a:ln>
        </p:spPr>
        <p:txBody>
          <a:bodyPr/>
          <a:lstStyle/>
          <a:p>
            <a:endParaRPr lang="en-US"/>
          </a:p>
        </p:txBody>
      </p:sp>
      <p:sp>
        <p:nvSpPr>
          <p:cNvPr id="22" name="Text 20"/>
          <p:cNvSpPr txBox="1"/>
          <p:nvPr/>
        </p:nvSpPr>
        <p:spPr>
          <a:xfrm>
            <a:off x="932688" y="3895344"/>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2A9D8F"/>
                </a:solidFill>
                <a:latin typeface="Aptos" pitchFamily="34" charset="0"/>
                <a:ea typeface="Aptos" pitchFamily="34" charset="-122"/>
                <a:cs typeface="Aptos" pitchFamily="34" charset="-120"/>
              </a:rPr>
              <a:t>04</a:t>
            </a:r>
            <a:endParaRPr lang="en-US" sz="950" dirty="0"/>
          </a:p>
        </p:txBody>
      </p:sp>
      <p:sp>
        <p:nvSpPr>
          <p:cNvPr id="23" name="Text 21"/>
          <p:cNvSpPr txBox="1"/>
          <p:nvPr/>
        </p:nvSpPr>
        <p:spPr>
          <a:xfrm>
            <a:off x="859536" y="4279392"/>
            <a:ext cx="3054096" cy="347472"/>
          </a:xfrm>
          <a:prstGeom prst="rect">
            <a:avLst/>
          </a:prstGeom>
          <a:noFill/>
          <a:ln/>
        </p:spPr>
        <p:txBody>
          <a:bodyPr wrap="square" lIns="0" tIns="0" rIns="0" bIns="0" rtlCol="0" anchor="ctr">
            <a:normAutofit fontScale="92500"/>
          </a:bodyPr>
          <a:lstStyle/>
          <a:p>
            <a:pPr marL="0" indent="0" algn="l">
              <a:buNone/>
            </a:pPr>
            <a:r>
              <a:rPr lang="en-US" sz="1450" b="1" dirty="0">
                <a:solidFill>
                  <a:srgbClr val="102A43"/>
                </a:solidFill>
                <a:latin typeface="Aptos" pitchFamily="34" charset="0"/>
                <a:ea typeface="Aptos" pitchFamily="34" charset="-122"/>
                <a:cs typeface="Aptos" pitchFamily="34" charset="-120"/>
              </a:rPr>
              <a:t>Do numeric variables move together?</a:t>
            </a:r>
            <a:endParaRPr lang="en-US" sz="1450" dirty="0"/>
          </a:p>
        </p:txBody>
      </p:sp>
      <p:sp>
        <p:nvSpPr>
          <p:cNvPr id="24" name="Text 22"/>
          <p:cNvSpPr txBox="1"/>
          <p:nvPr/>
        </p:nvSpPr>
        <p:spPr>
          <a:xfrm>
            <a:off x="859536" y="4718304"/>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Correlation matrix and heatmap</a:t>
            </a:r>
            <a:endParaRPr lang="en-US" sz="1150" dirty="0"/>
          </a:p>
        </p:txBody>
      </p:sp>
      <p:sp>
        <p:nvSpPr>
          <p:cNvPr id="25" name="Shape 23"/>
          <p:cNvSpPr/>
          <p:nvPr/>
        </p:nvSpPr>
        <p:spPr>
          <a:xfrm>
            <a:off x="4480560" y="3712464"/>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26" name="Shape 24"/>
          <p:cNvSpPr/>
          <p:nvPr/>
        </p:nvSpPr>
        <p:spPr>
          <a:xfrm>
            <a:off x="4663440" y="3886200"/>
            <a:ext cx="475488" cy="283464"/>
          </a:xfrm>
          <a:prstGeom prst="roundRect">
            <a:avLst>
              <a:gd name="adj" fmla="val 32258"/>
            </a:avLst>
          </a:prstGeom>
          <a:solidFill>
            <a:srgbClr val="FCEAE7"/>
          </a:solidFill>
          <a:ln w="12700">
            <a:solidFill>
              <a:srgbClr val="FCEAE7">
                <a:alpha val="0"/>
              </a:srgbClr>
            </a:solidFill>
            <a:prstDash val="solid"/>
          </a:ln>
        </p:spPr>
        <p:txBody>
          <a:bodyPr/>
          <a:lstStyle/>
          <a:p>
            <a:endParaRPr lang="en-US"/>
          </a:p>
        </p:txBody>
      </p:sp>
      <p:sp>
        <p:nvSpPr>
          <p:cNvPr id="27" name="Text 25"/>
          <p:cNvSpPr txBox="1"/>
          <p:nvPr/>
        </p:nvSpPr>
        <p:spPr>
          <a:xfrm>
            <a:off x="4736592" y="3895344"/>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E76F51"/>
                </a:solidFill>
                <a:latin typeface="Aptos" pitchFamily="34" charset="0"/>
                <a:ea typeface="Aptos" pitchFamily="34" charset="-122"/>
                <a:cs typeface="Aptos" pitchFamily="34" charset="-120"/>
              </a:rPr>
              <a:t>05</a:t>
            </a:r>
            <a:endParaRPr lang="en-US" sz="950" dirty="0"/>
          </a:p>
        </p:txBody>
      </p:sp>
      <p:sp>
        <p:nvSpPr>
          <p:cNvPr id="28" name="Text 26"/>
          <p:cNvSpPr txBox="1"/>
          <p:nvPr/>
        </p:nvSpPr>
        <p:spPr>
          <a:xfrm>
            <a:off x="4663440" y="4279392"/>
            <a:ext cx="3054096" cy="347472"/>
          </a:xfrm>
          <a:prstGeom prst="rect">
            <a:avLst/>
          </a:prstGeom>
          <a:noFill/>
          <a:ln/>
        </p:spPr>
        <p:txBody>
          <a:bodyPr wrap="square" lIns="0" tIns="0" rIns="0" bIns="0" rtlCol="0" anchor="ctr">
            <a:normAutofit fontScale="92500" lnSpcReduction="20000"/>
          </a:bodyPr>
          <a:lstStyle/>
          <a:p>
            <a:pPr marL="0" indent="0" algn="l">
              <a:buNone/>
            </a:pPr>
            <a:r>
              <a:rPr lang="en-US" sz="1450" b="1" dirty="0">
                <a:solidFill>
                  <a:srgbClr val="102A43"/>
                </a:solidFill>
                <a:latin typeface="Aptos" pitchFamily="34" charset="0"/>
                <a:ea typeface="Aptos" pitchFamily="34" charset="-122"/>
                <a:cs typeface="Aptos" pitchFamily="34" charset="-120"/>
              </a:rPr>
              <a:t>Does balance status matter descriptively?</a:t>
            </a:r>
            <a:endParaRPr lang="en-US" sz="1450" dirty="0"/>
          </a:p>
        </p:txBody>
      </p:sp>
      <p:sp>
        <p:nvSpPr>
          <p:cNvPr id="29" name="Text 27"/>
          <p:cNvSpPr txBox="1"/>
          <p:nvPr/>
        </p:nvSpPr>
        <p:spPr>
          <a:xfrm>
            <a:off x="4663440" y="4718304"/>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Zero vs positive balance</a:t>
            </a:r>
            <a:endParaRPr lang="en-US" sz="1150" dirty="0"/>
          </a:p>
        </p:txBody>
      </p:sp>
      <p:sp>
        <p:nvSpPr>
          <p:cNvPr id="30" name="Shape 28"/>
          <p:cNvSpPr/>
          <p:nvPr/>
        </p:nvSpPr>
        <p:spPr>
          <a:xfrm>
            <a:off x="8284464" y="3712464"/>
            <a:ext cx="3456432" cy="1572768"/>
          </a:xfrm>
          <a:prstGeom prst="roundRect">
            <a:avLst>
              <a:gd name="adj" fmla="val 6977"/>
            </a:avLst>
          </a:prstGeom>
          <a:solidFill>
            <a:srgbClr val="FFFFFF"/>
          </a:solidFill>
          <a:ln w="10160">
            <a:solidFill>
              <a:srgbClr val="D9E2EC"/>
            </a:solidFill>
            <a:prstDash val="solid"/>
          </a:ln>
        </p:spPr>
        <p:txBody>
          <a:bodyPr/>
          <a:lstStyle/>
          <a:p>
            <a:endParaRPr lang="en-US"/>
          </a:p>
        </p:txBody>
      </p:sp>
      <p:sp>
        <p:nvSpPr>
          <p:cNvPr id="31" name="Shape 29"/>
          <p:cNvSpPr/>
          <p:nvPr/>
        </p:nvSpPr>
        <p:spPr>
          <a:xfrm>
            <a:off x="8467344" y="3886200"/>
            <a:ext cx="47548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32" name="Text 30"/>
          <p:cNvSpPr txBox="1"/>
          <p:nvPr/>
        </p:nvSpPr>
        <p:spPr>
          <a:xfrm>
            <a:off x="8540496" y="3895344"/>
            <a:ext cx="32918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06</a:t>
            </a:r>
            <a:endParaRPr lang="en-US" sz="950" dirty="0"/>
          </a:p>
        </p:txBody>
      </p:sp>
      <p:sp>
        <p:nvSpPr>
          <p:cNvPr id="33" name="Text 31"/>
          <p:cNvSpPr txBox="1"/>
          <p:nvPr/>
        </p:nvSpPr>
        <p:spPr>
          <a:xfrm>
            <a:off x="8467344" y="4279392"/>
            <a:ext cx="3054096" cy="347472"/>
          </a:xfrm>
          <a:prstGeom prst="rect">
            <a:avLst/>
          </a:prstGeom>
          <a:noFill/>
          <a:ln/>
        </p:spPr>
        <p:txBody>
          <a:bodyPr wrap="square" lIns="0" tIns="0" rIns="0" bIns="0" rtlCol="0" anchor="ctr">
            <a:normAutofit/>
          </a:bodyPr>
          <a:lstStyle/>
          <a:p>
            <a:pPr marL="0" indent="0" algn="l">
              <a:buNone/>
            </a:pPr>
            <a:r>
              <a:rPr lang="en-US" sz="1450" b="1" dirty="0">
                <a:solidFill>
                  <a:srgbClr val="102A43"/>
                </a:solidFill>
                <a:latin typeface="Aptos" pitchFamily="34" charset="0"/>
                <a:ea typeface="Aptos" pitchFamily="34" charset="-122"/>
                <a:cs typeface="Aptos" pitchFamily="34" charset="-120"/>
              </a:rPr>
              <a:t>What looks useful for preparation?</a:t>
            </a:r>
            <a:endParaRPr lang="en-US" sz="1450" dirty="0"/>
          </a:p>
        </p:txBody>
      </p:sp>
      <p:sp>
        <p:nvSpPr>
          <p:cNvPr id="34" name="Text 32"/>
          <p:cNvSpPr txBox="1"/>
          <p:nvPr/>
        </p:nvSpPr>
        <p:spPr>
          <a:xfrm>
            <a:off x="8467344" y="4718304"/>
            <a:ext cx="3035808" cy="347472"/>
          </a:xfrm>
          <a:prstGeom prst="rect">
            <a:avLst/>
          </a:prstGeom>
          <a:noFill/>
          <a:ln/>
        </p:spPr>
        <p:txBody>
          <a:bodyPr wrap="square" lIns="0" tIns="0" rIns="0" bIns="0" rtlCol="0" anchor="t">
            <a:normAutofit/>
          </a:bodyPr>
          <a:lstStyle/>
          <a:p>
            <a:pPr marL="0" indent="0" algn="l">
              <a:buNone/>
            </a:pPr>
            <a:r>
              <a:rPr lang="en-US" sz="1150" dirty="0">
                <a:solidFill>
                  <a:srgbClr val="52606D"/>
                </a:solidFill>
                <a:latin typeface="Aptos" pitchFamily="34" charset="0"/>
                <a:ea typeface="Aptos" pitchFamily="34" charset="-122"/>
                <a:cs typeface="Aptos" pitchFamily="34" charset="-120"/>
              </a:rPr>
              <a:t>Feature engineering and encoding plan</a:t>
            </a:r>
            <a:endParaRPr lang="en-US" sz="1150" dirty="0"/>
          </a:p>
        </p:txBody>
      </p:sp>
      <p:sp>
        <p:nvSpPr>
          <p:cNvPr id="35" name="Text 33"/>
          <p:cNvSpPr txBox="1"/>
          <p:nvPr/>
        </p:nvSpPr>
        <p:spPr>
          <a:xfrm>
            <a:off x="731520" y="5797296"/>
            <a:ext cx="10881360" cy="256032"/>
          </a:xfrm>
          <a:prstGeom prst="rect">
            <a:avLst/>
          </a:prstGeom>
          <a:noFill/>
          <a:ln/>
        </p:spPr>
        <p:txBody>
          <a:bodyPr wrap="square" lIns="0" tIns="0" rIns="0" bIns="0" rtlCol="0" anchor="ctr">
            <a:normAutofit/>
          </a:bodyPr>
          <a:lstStyle/>
          <a:p>
            <a:pPr marL="0" indent="0" algn="ctr">
              <a:buNone/>
            </a:pPr>
            <a:r>
              <a:rPr lang="en-US" sz="1050" i="1" dirty="0">
                <a:solidFill>
                  <a:srgbClr val="52606D"/>
                </a:solidFill>
                <a:latin typeface="Aptos" pitchFamily="34" charset="0"/>
                <a:ea typeface="Aptos" pitchFamily="34" charset="-122"/>
                <a:cs typeface="Aptos" pitchFamily="34" charset="-120"/>
              </a:rPr>
              <a:t>No rows or columns were removed inside the EDA notebook; data cleaning was handled separately.</a:t>
            </a:r>
            <a:endParaRPr lang="en-US" sz="1050" dirty="0"/>
          </a:p>
        </p:txBody>
      </p:sp>
      <p:sp>
        <p:nvSpPr>
          <p:cNvPr id="36" name="Shape 34"/>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7" name="Text 35"/>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38"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05 / KEY FINDING</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About one in five customers churned</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After removing exact duplicates, the cleaned analysis set contains 10,000 customers.</a:t>
            </a:r>
            <a:endParaRPr lang="en-US" sz="1250" dirty="0"/>
          </a:p>
        </p:txBody>
      </p:sp>
      <p:sp>
        <p:nvSpPr>
          <p:cNvPr id="5" name="Shape 3"/>
          <p:cNvSpPr/>
          <p:nvPr/>
        </p:nvSpPr>
        <p:spPr>
          <a:xfrm>
            <a:off x="713232" y="1673352"/>
            <a:ext cx="5504688" cy="4233672"/>
          </a:xfrm>
          <a:prstGeom prst="roundRect">
            <a:avLst>
              <a:gd name="adj" fmla="val 2592"/>
            </a:avLst>
          </a:prstGeom>
          <a:solidFill>
            <a:srgbClr val="FFFFFF"/>
          </a:solidFill>
          <a:ln w="10160">
            <a:solidFill>
              <a:srgbClr val="D9E2EC"/>
            </a:solidFill>
            <a:prstDash val="solid"/>
          </a:ln>
        </p:spPr>
        <p:txBody>
          <a:bodyPr/>
          <a:lstStyle/>
          <a:p>
            <a:endParaRPr lang="en-US"/>
          </a:p>
        </p:txBody>
      </p:sp>
      <p:pic>
        <p:nvPicPr>
          <p:cNvPr id="6" name="Image 0" descr="/mnt/data/_churn_project/deck_assets/churn_distribution.png"/>
          <p:cNvPicPr>
            <a:picLocks noChangeAspect="1"/>
          </p:cNvPicPr>
          <p:nvPr/>
        </p:nvPicPr>
        <p:blipFill>
          <a:blip r:embed="rId3"/>
          <a:stretch>
            <a:fillRect/>
          </a:stretch>
        </p:blipFill>
        <p:spPr>
          <a:xfrm>
            <a:off x="1078992" y="1947672"/>
            <a:ext cx="4754880" cy="3593592"/>
          </a:xfrm>
          <a:prstGeom prst="rect">
            <a:avLst/>
          </a:prstGeom>
        </p:spPr>
      </p:pic>
      <p:sp>
        <p:nvSpPr>
          <p:cNvPr id="7" name="Shape 4"/>
          <p:cNvSpPr/>
          <p:nvPr/>
        </p:nvSpPr>
        <p:spPr>
          <a:xfrm>
            <a:off x="6601968" y="1865376"/>
            <a:ext cx="2130552" cy="1353312"/>
          </a:xfrm>
          <a:prstGeom prst="roundRect">
            <a:avLst>
              <a:gd name="adj" fmla="val 8108"/>
            </a:avLst>
          </a:prstGeom>
          <a:solidFill>
            <a:srgbClr val="FFFFFF"/>
          </a:solidFill>
          <a:ln w="10160">
            <a:solidFill>
              <a:srgbClr val="D9E2EC"/>
            </a:solidFill>
            <a:prstDash val="solid"/>
          </a:ln>
        </p:spPr>
        <p:txBody>
          <a:bodyPr/>
          <a:lstStyle/>
          <a:p>
            <a:endParaRPr lang="en-US"/>
          </a:p>
        </p:txBody>
      </p:sp>
      <p:sp>
        <p:nvSpPr>
          <p:cNvPr id="8" name="Shape 5"/>
          <p:cNvSpPr/>
          <p:nvPr/>
        </p:nvSpPr>
        <p:spPr>
          <a:xfrm>
            <a:off x="6601968" y="1865376"/>
            <a:ext cx="64008" cy="1353312"/>
          </a:xfrm>
          <a:prstGeom prst="rect">
            <a:avLst/>
          </a:prstGeom>
          <a:solidFill>
            <a:srgbClr val="F4A261"/>
          </a:solidFill>
          <a:ln w="10160">
            <a:solidFill>
              <a:srgbClr val="F4A261">
                <a:alpha val="0"/>
              </a:srgbClr>
            </a:solidFill>
            <a:prstDash val="solid"/>
          </a:ln>
        </p:spPr>
        <p:txBody>
          <a:bodyPr/>
          <a:lstStyle/>
          <a:p>
            <a:endParaRPr lang="en-US"/>
          </a:p>
        </p:txBody>
      </p:sp>
      <p:sp>
        <p:nvSpPr>
          <p:cNvPr id="9" name="Text 6"/>
          <p:cNvSpPr txBox="1"/>
          <p:nvPr/>
        </p:nvSpPr>
        <p:spPr>
          <a:xfrm>
            <a:off x="6812280" y="2011680"/>
            <a:ext cx="176479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2,037</a:t>
            </a:r>
            <a:endParaRPr lang="en-US" sz="2500" dirty="0"/>
          </a:p>
        </p:txBody>
      </p:sp>
      <p:sp>
        <p:nvSpPr>
          <p:cNvPr id="10" name="Text 7"/>
          <p:cNvSpPr txBox="1"/>
          <p:nvPr/>
        </p:nvSpPr>
        <p:spPr>
          <a:xfrm>
            <a:off x="6812280" y="2468880"/>
            <a:ext cx="176479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Customers exited</a:t>
            </a:r>
            <a:endParaRPr lang="en-US" sz="1200" dirty="0"/>
          </a:p>
        </p:txBody>
      </p:sp>
      <p:sp>
        <p:nvSpPr>
          <p:cNvPr id="11" name="Text 8"/>
          <p:cNvSpPr txBox="1"/>
          <p:nvPr/>
        </p:nvSpPr>
        <p:spPr>
          <a:xfrm>
            <a:off x="6812280" y="2898648"/>
            <a:ext cx="176479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20.37%</a:t>
            </a:r>
            <a:endParaRPr lang="en-US" sz="950" dirty="0"/>
          </a:p>
        </p:txBody>
      </p:sp>
      <p:sp>
        <p:nvSpPr>
          <p:cNvPr id="12" name="Shape 9"/>
          <p:cNvSpPr/>
          <p:nvPr/>
        </p:nvSpPr>
        <p:spPr>
          <a:xfrm>
            <a:off x="8942832" y="1865376"/>
            <a:ext cx="2130552" cy="1353312"/>
          </a:xfrm>
          <a:prstGeom prst="roundRect">
            <a:avLst>
              <a:gd name="adj" fmla="val 8108"/>
            </a:avLst>
          </a:prstGeom>
          <a:solidFill>
            <a:srgbClr val="FFFFFF"/>
          </a:solidFill>
          <a:ln w="10160">
            <a:solidFill>
              <a:srgbClr val="D9E2EC"/>
            </a:solidFill>
            <a:prstDash val="solid"/>
          </a:ln>
        </p:spPr>
        <p:txBody>
          <a:bodyPr/>
          <a:lstStyle/>
          <a:p>
            <a:endParaRPr lang="en-US"/>
          </a:p>
        </p:txBody>
      </p:sp>
      <p:sp>
        <p:nvSpPr>
          <p:cNvPr id="13" name="Shape 10"/>
          <p:cNvSpPr/>
          <p:nvPr/>
        </p:nvSpPr>
        <p:spPr>
          <a:xfrm>
            <a:off x="8942832" y="1865376"/>
            <a:ext cx="64008" cy="1353312"/>
          </a:xfrm>
          <a:prstGeom prst="rect">
            <a:avLst/>
          </a:prstGeom>
          <a:solidFill>
            <a:srgbClr val="3D5A80"/>
          </a:solidFill>
          <a:ln w="10160">
            <a:solidFill>
              <a:srgbClr val="3D5A80">
                <a:alpha val="0"/>
              </a:srgbClr>
            </a:solidFill>
            <a:prstDash val="solid"/>
          </a:ln>
        </p:spPr>
        <p:txBody>
          <a:bodyPr/>
          <a:lstStyle/>
          <a:p>
            <a:endParaRPr lang="en-US"/>
          </a:p>
        </p:txBody>
      </p:sp>
      <p:sp>
        <p:nvSpPr>
          <p:cNvPr id="14" name="Text 11"/>
          <p:cNvSpPr txBox="1"/>
          <p:nvPr/>
        </p:nvSpPr>
        <p:spPr>
          <a:xfrm>
            <a:off x="9153144" y="2011680"/>
            <a:ext cx="176479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7,963</a:t>
            </a:r>
            <a:endParaRPr lang="en-US" sz="2500" dirty="0"/>
          </a:p>
        </p:txBody>
      </p:sp>
      <p:sp>
        <p:nvSpPr>
          <p:cNvPr id="15" name="Text 12"/>
          <p:cNvSpPr txBox="1"/>
          <p:nvPr/>
        </p:nvSpPr>
        <p:spPr>
          <a:xfrm>
            <a:off x="9153144" y="2468880"/>
            <a:ext cx="176479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Customers stayed</a:t>
            </a:r>
            <a:endParaRPr lang="en-US" sz="1200" dirty="0"/>
          </a:p>
        </p:txBody>
      </p:sp>
      <p:sp>
        <p:nvSpPr>
          <p:cNvPr id="16" name="Text 13"/>
          <p:cNvSpPr txBox="1"/>
          <p:nvPr/>
        </p:nvSpPr>
        <p:spPr>
          <a:xfrm>
            <a:off x="9153144" y="2898648"/>
            <a:ext cx="176479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79.63%</a:t>
            </a:r>
            <a:endParaRPr lang="en-US" sz="950" dirty="0"/>
          </a:p>
        </p:txBody>
      </p:sp>
      <p:sp>
        <p:nvSpPr>
          <p:cNvPr id="17" name="Shape 14"/>
          <p:cNvSpPr/>
          <p:nvPr/>
        </p:nvSpPr>
        <p:spPr>
          <a:xfrm>
            <a:off x="6601968" y="3547872"/>
            <a:ext cx="4471416" cy="1773936"/>
          </a:xfrm>
          <a:prstGeom prst="roundRect">
            <a:avLst>
              <a:gd name="adj" fmla="val 6186"/>
            </a:avLst>
          </a:prstGeom>
          <a:solidFill>
            <a:srgbClr val="E7EFF8"/>
          </a:solidFill>
          <a:ln w="10160">
            <a:solidFill>
              <a:srgbClr val="E7EFF8"/>
            </a:solidFill>
            <a:prstDash val="solid"/>
          </a:ln>
        </p:spPr>
        <p:txBody>
          <a:bodyPr/>
          <a:lstStyle/>
          <a:p>
            <a:endParaRPr lang="en-US"/>
          </a:p>
        </p:txBody>
      </p:sp>
      <p:sp>
        <p:nvSpPr>
          <p:cNvPr id="18" name="Text 15"/>
          <p:cNvSpPr txBox="1"/>
          <p:nvPr/>
        </p:nvSpPr>
        <p:spPr>
          <a:xfrm>
            <a:off x="6903720" y="3803904"/>
            <a:ext cx="3611880" cy="283464"/>
          </a:xfrm>
          <a:prstGeom prst="rect">
            <a:avLst/>
          </a:prstGeom>
          <a:noFill/>
          <a:ln/>
        </p:spPr>
        <p:txBody>
          <a:bodyPr wrap="square" lIns="0" tIns="0" rIns="0" bIns="0" rtlCol="0" anchor="ctr">
            <a:normAutofit/>
          </a:bodyPr>
          <a:lstStyle/>
          <a:p>
            <a:pPr marL="0" indent="0" algn="l">
              <a:buNone/>
            </a:pPr>
            <a:r>
              <a:rPr lang="en-US" sz="1600" b="1" dirty="0">
                <a:solidFill>
                  <a:srgbClr val="102A43"/>
                </a:solidFill>
                <a:latin typeface="Aptos" pitchFamily="34" charset="0"/>
                <a:ea typeface="Aptos" pitchFamily="34" charset="-122"/>
                <a:cs typeface="Aptos" pitchFamily="34" charset="-120"/>
              </a:rPr>
              <a:t>Why it matters</a:t>
            </a:r>
            <a:endParaRPr lang="en-US" sz="1600" dirty="0"/>
          </a:p>
        </p:txBody>
      </p:sp>
      <p:sp>
        <p:nvSpPr>
          <p:cNvPr id="19" name="Text 16"/>
          <p:cNvSpPr txBox="1"/>
          <p:nvPr/>
        </p:nvSpPr>
        <p:spPr>
          <a:xfrm>
            <a:off x="6903720" y="4224528"/>
            <a:ext cx="3611880" cy="758952"/>
          </a:xfrm>
          <a:prstGeom prst="rect">
            <a:avLst/>
          </a:prstGeom>
          <a:noFill/>
          <a:ln/>
        </p:spPr>
        <p:txBody>
          <a:bodyPr wrap="square" lIns="0" tIns="0" rIns="0" bIns="0" rtlCol="0" anchor="t">
            <a:normAutofit/>
          </a:bodyPr>
          <a:lstStyle/>
          <a:p>
            <a:pPr marL="0" indent="0" algn="l">
              <a:buNone/>
            </a:pPr>
            <a:r>
              <a:rPr lang="en-US" sz="1400" dirty="0">
                <a:solidFill>
                  <a:srgbClr val="243B53"/>
                </a:solidFill>
                <a:latin typeface="Aptos" pitchFamily="34" charset="0"/>
                <a:ea typeface="Aptos" pitchFamily="34" charset="-122"/>
                <a:cs typeface="Aptos" pitchFamily="34" charset="-120"/>
              </a:rPr>
              <a:t>A meaningful minority of customers left, so identifying higher-risk groups can support focused retention efforts.</a:t>
            </a:r>
            <a:endParaRPr lang="en-US" sz="1400" dirty="0"/>
          </a:p>
        </p:txBody>
      </p:sp>
      <p:sp>
        <p:nvSpPr>
          <p:cNvPr id="20" name="Shape 17"/>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1" name="Text 18"/>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06 / BUSINESS INSIGHTS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Churn rates vary across customer groups</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Observed churn rates after basic cleaning; these are associations, not proof of cause.</a:t>
            </a:r>
            <a:endParaRPr lang="en-US" sz="1250" dirty="0"/>
          </a:p>
        </p:txBody>
      </p:sp>
      <p:sp>
        <p:nvSpPr>
          <p:cNvPr id="5" name="Shape 3"/>
          <p:cNvSpPr/>
          <p:nvPr/>
        </p:nvSpPr>
        <p:spPr>
          <a:xfrm>
            <a:off x="685800" y="1810512"/>
            <a:ext cx="3456432" cy="3566160"/>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914400" y="2039112"/>
            <a:ext cx="1325880"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7" name="Text 5"/>
          <p:cNvSpPr txBox="1"/>
          <p:nvPr/>
        </p:nvSpPr>
        <p:spPr>
          <a:xfrm>
            <a:off x="987552" y="2048256"/>
            <a:ext cx="1179576"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GEOGRAPHY</a:t>
            </a:r>
            <a:endParaRPr lang="en-US" sz="950" dirty="0"/>
          </a:p>
        </p:txBody>
      </p:sp>
      <p:sp>
        <p:nvSpPr>
          <p:cNvPr id="8" name="Text 6"/>
          <p:cNvSpPr txBox="1"/>
          <p:nvPr/>
        </p:nvSpPr>
        <p:spPr>
          <a:xfrm>
            <a:off x="914400" y="2651760"/>
            <a:ext cx="1051560" cy="246888"/>
          </a:xfrm>
          <a:prstGeom prst="rect">
            <a:avLst/>
          </a:prstGeom>
          <a:noFill/>
          <a:ln/>
        </p:spPr>
        <p:txBody>
          <a:bodyPr wrap="square" lIns="0" tIns="0" rIns="0" bIns="0" rtlCol="0" anchor="ctr">
            <a:normAutofit/>
          </a:bodyPr>
          <a:lstStyle/>
          <a:p>
            <a:pPr marL="0" indent="0" algn="l">
              <a:buNone/>
            </a:pPr>
            <a:r>
              <a:rPr lang="en-US" sz="1250" b="1" dirty="0">
                <a:solidFill>
                  <a:srgbClr val="243B53"/>
                </a:solidFill>
                <a:latin typeface="Aptos" pitchFamily="34" charset="0"/>
                <a:ea typeface="Aptos" pitchFamily="34" charset="-122"/>
                <a:cs typeface="Aptos" pitchFamily="34" charset="-120"/>
              </a:rPr>
              <a:t>Germany</a:t>
            </a:r>
            <a:endParaRPr lang="en-US" sz="1250" dirty="0"/>
          </a:p>
        </p:txBody>
      </p:sp>
      <p:sp>
        <p:nvSpPr>
          <p:cNvPr id="9" name="Shape 7"/>
          <p:cNvSpPr/>
          <p:nvPr/>
        </p:nvSpPr>
        <p:spPr>
          <a:xfrm>
            <a:off x="1993392" y="268833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10" name="Shape 8"/>
          <p:cNvSpPr/>
          <p:nvPr/>
        </p:nvSpPr>
        <p:spPr>
          <a:xfrm>
            <a:off x="1993392" y="2688336"/>
            <a:ext cx="1372979" cy="164592"/>
          </a:xfrm>
          <a:prstGeom prst="roundRect">
            <a:avLst>
              <a:gd name="adj" fmla="val 66667"/>
            </a:avLst>
          </a:prstGeom>
          <a:solidFill>
            <a:srgbClr val="F4A261"/>
          </a:solidFill>
          <a:ln w="10160">
            <a:solidFill>
              <a:srgbClr val="F4A261">
                <a:alpha val="0"/>
              </a:srgbClr>
            </a:solidFill>
            <a:prstDash val="solid"/>
          </a:ln>
        </p:spPr>
        <p:txBody>
          <a:bodyPr/>
          <a:lstStyle/>
          <a:p>
            <a:endParaRPr lang="en-US"/>
          </a:p>
        </p:txBody>
      </p:sp>
      <p:sp>
        <p:nvSpPr>
          <p:cNvPr id="11" name="Text 9"/>
          <p:cNvSpPr txBox="1"/>
          <p:nvPr/>
        </p:nvSpPr>
        <p:spPr>
          <a:xfrm>
            <a:off x="3483864" y="262432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32.44%</a:t>
            </a:r>
            <a:endParaRPr lang="en-US" sz="1150" dirty="0"/>
          </a:p>
        </p:txBody>
      </p:sp>
      <p:sp>
        <p:nvSpPr>
          <p:cNvPr id="12" name="Text 10"/>
          <p:cNvSpPr txBox="1"/>
          <p:nvPr/>
        </p:nvSpPr>
        <p:spPr>
          <a:xfrm>
            <a:off x="914400" y="338328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Spain</a:t>
            </a:r>
            <a:endParaRPr lang="en-US" sz="1250" dirty="0"/>
          </a:p>
        </p:txBody>
      </p:sp>
      <p:sp>
        <p:nvSpPr>
          <p:cNvPr id="13" name="Shape 11"/>
          <p:cNvSpPr/>
          <p:nvPr/>
        </p:nvSpPr>
        <p:spPr>
          <a:xfrm>
            <a:off x="1993392" y="341985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14" name="Shape 12"/>
          <p:cNvSpPr/>
          <p:nvPr/>
        </p:nvSpPr>
        <p:spPr>
          <a:xfrm>
            <a:off x="1993392" y="3419856"/>
            <a:ext cx="705535" cy="164592"/>
          </a:xfrm>
          <a:prstGeom prst="roundRect">
            <a:avLst>
              <a:gd name="adj" fmla="val 66667"/>
            </a:avLst>
          </a:prstGeom>
          <a:solidFill>
            <a:srgbClr val="F4A261"/>
          </a:solidFill>
          <a:ln w="10160">
            <a:solidFill>
              <a:srgbClr val="F4A261">
                <a:alpha val="0"/>
              </a:srgbClr>
            </a:solidFill>
            <a:prstDash val="solid"/>
          </a:ln>
        </p:spPr>
        <p:txBody>
          <a:bodyPr/>
          <a:lstStyle/>
          <a:p>
            <a:endParaRPr lang="en-US"/>
          </a:p>
        </p:txBody>
      </p:sp>
      <p:sp>
        <p:nvSpPr>
          <p:cNvPr id="15" name="Text 13"/>
          <p:cNvSpPr txBox="1"/>
          <p:nvPr/>
        </p:nvSpPr>
        <p:spPr>
          <a:xfrm>
            <a:off x="3483864" y="335584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16.67%</a:t>
            </a:r>
            <a:endParaRPr lang="en-US" sz="1150" dirty="0"/>
          </a:p>
        </p:txBody>
      </p:sp>
      <p:sp>
        <p:nvSpPr>
          <p:cNvPr id="16" name="Text 14"/>
          <p:cNvSpPr txBox="1"/>
          <p:nvPr/>
        </p:nvSpPr>
        <p:spPr>
          <a:xfrm>
            <a:off x="914400" y="411480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France</a:t>
            </a:r>
            <a:endParaRPr lang="en-US" sz="1250" dirty="0"/>
          </a:p>
        </p:txBody>
      </p:sp>
      <p:sp>
        <p:nvSpPr>
          <p:cNvPr id="17" name="Shape 15"/>
          <p:cNvSpPr/>
          <p:nvPr/>
        </p:nvSpPr>
        <p:spPr>
          <a:xfrm>
            <a:off x="1993392" y="415137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18" name="Shape 16"/>
          <p:cNvSpPr/>
          <p:nvPr/>
        </p:nvSpPr>
        <p:spPr>
          <a:xfrm>
            <a:off x="1993392" y="4151376"/>
            <a:ext cx="683527" cy="164592"/>
          </a:xfrm>
          <a:prstGeom prst="roundRect">
            <a:avLst>
              <a:gd name="adj" fmla="val 66667"/>
            </a:avLst>
          </a:prstGeom>
          <a:solidFill>
            <a:srgbClr val="F4A261"/>
          </a:solidFill>
          <a:ln w="10160">
            <a:solidFill>
              <a:srgbClr val="F4A261">
                <a:alpha val="0"/>
              </a:srgbClr>
            </a:solidFill>
            <a:prstDash val="solid"/>
          </a:ln>
        </p:spPr>
        <p:txBody>
          <a:bodyPr/>
          <a:lstStyle/>
          <a:p>
            <a:endParaRPr lang="en-US"/>
          </a:p>
        </p:txBody>
      </p:sp>
      <p:sp>
        <p:nvSpPr>
          <p:cNvPr id="19" name="Text 17"/>
          <p:cNvSpPr txBox="1"/>
          <p:nvPr/>
        </p:nvSpPr>
        <p:spPr>
          <a:xfrm>
            <a:off x="3483864" y="408736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16.15%</a:t>
            </a:r>
            <a:endParaRPr lang="en-US" sz="1150" dirty="0"/>
          </a:p>
        </p:txBody>
      </p:sp>
      <p:sp>
        <p:nvSpPr>
          <p:cNvPr id="20" name="Text 18"/>
          <p:cNvSpPr txBox="1"/>
          <p:nvPr/>
        </p:nvSpPr>
        <p:spPr>
          <a:xfrm>
            <a:off x="914400" y="4892040"/>
            <a:ext cx="2999232" cy="320040"/>
          </a:xfrm>
          <a:prstGeom prst="rect">
            <a:avLst/>
          </a:prstGeom>
          <a:noFill/>
          <a:ln/>
        </p:spPr>
        <p:txBody>
          <a:bodyPr wrap="square" lIns="0" tIns="0" rIns="0" bIns="0" rtlCol="0" anchor="t">
            <a:normAutofit/>
          </a:bodyPr>
          <a:lstStyle/>
          <a:p>
            <a:pPr marL="0" indent="0" algn="l">
              <a:buNone/>
            </a:pPr>
            <a:r>
              <a:rPr lang="en-US" sz="1100" i="1" dirty="0">
                <a:solidFill>
                  <a:srgbClr val="52606D"/>
                </a:solidFill>
                <a:latin typeface="Aptos" pitchFamily="34" charset="0"/>
                <a:ea typeface="Aptos" pitchFamily="34" charset="-122"/>
                <a:cs typeface="Aptos" pitchFamily="34" charset="-120"/>
              </a:rPr>
              <a:t>Germany shows the highest rate.</a:t>
            </a:r>
            <a:endParaRPr lang="en-US" sz="1100" dirty="0"/>
          </a:p>
        </p:txBody>
      </p:sp>
      <p:sp>
        <p:nvSpPr>
          <p:cNvPr id="21" name="Shape 19"/>
          <p:cNvSpPr/>
          <p:nvPr/>
        </p:nvSpPr>
        <p:spPr>
          <a:xfrm>
            <a:off x="4507992" y="1810512"/>
            <a:ext cx="3456432" cy="3566160"/>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22" name="Shape 20"/>
          <p:cNvSpPr/>
          <p:nvPr/>
        </p:nvSpPr>
        <p:spPr>
          <a:xfrm>
            <a:off x="4736592" y="2039112"/>
            <a:ext cx="1325880"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23" name="Text 21"/>
          <p:cNvSpPr txBox="1"/>
          <p:nvPr/>
        </p:nvSpPr>
        <p:spPr>
          <a:xfrm>
            <a:off x="4809744" y="2048256"/>
            <a:ext cx="1179576"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GENDER</a:t>
            </a:r>
            <a:endParaRPr lang="en-US" sz="950" dirty="0"/>
          </a:p>
        </p:txBody>
      </p:sp>
      <p:sp>
        <p:nvSpPr>
          <p:cNvPr id="24" name="Text 22"/>
          <p:cNvSpPr txBox="1"/>
          <p:nvPr/>
        </p:nvSpPr>
        <p:spPr>
          <a:xfrm>
            <a:off x="4736592" y="2651760"/>
            <a:ext cx="1051560" cy="246888"/>
          </a:xfrm>
          <a:prstGeom prst="rect">
            <a:avLst/>
          </a:prstGeom>
          <a:noFill/>
          <a:ln/>
        </p:spPr>
        <p:txBody>
          <a:bodyPr wrap="square" lIns="0" tIns="0" rIns="0" bIns="0" rtlCol="0" anchor="ctr">
            <a:normAutofit/>
          </a:bodyPr>
          <a:lstStyle/>
          <a:p>
            <a:pPr marL="0" indent="0" algn="l">
              <a:buNone/>
            </a:pPr>
            <a:r>
              <a:rPr lang="en-US" sz="1250" b="1" dirty="0">
                <a:solidFill>
                  <a:srgbClr val="243B53"/>
                </a:solidFill>
                <a:latin typeface="Aptos" pitchFamily="34" charset="0"/>
                <a:ea typeface="Aptos" pitchFamily="34" charset="-122"/>
                <a:cs typeface="Aptos" pitchFamily="34" charset="-120"/>
              </a:rPr>
              <a:t>Female</a:t>
            </a:r>
            <a:endParaRPr lang="en-US" sz="1250" dirty="0"/>
          </a:p>
        </p:txBody>
      </p:sp>
      <p:sp>
        <p:nvSpPr>
          <p:cNvPr id="25" name="Shape 23"/>
          <p:cNvSpPr/>
          <p:nvPr/>
        </p:nvSpPr>
        <p:spPr>
          <a:xfrm>
            <a:off x="5815584" y="268833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26" name="Shape 24"/>
          <p:cNvSpPr/>
          <p:nvPr/>
        </p:nvSpPr>
        <p:spPr>
          <a:xfrm>
            <a:off x="5815584" y="2688336"/>
            <a:ext cx="1061054" cy="164592"/>
          </a:xfrm>
          <a:prstGeom prst="roundRect">
            <a:avLst>
              <a:gd name="adj" fmla="val 66667"/>
            </a:avLst>
          </a:prstGeom>
          <a:solidFill>
            <a:srgbClr val="00A6A6"/>
          </a:solidFill>
          <a:ln w="10160">
            <a:solidFill>
              <a:srgbClr val="00A6A6">
                <a:alpha val="0"/>
              </a:srgbClr>
            </a:solidFill>
            <a:prstDash val="solid"/>
          </a:ln>
        </p:spPr>
        <p:txBody>
          <a:bodyPr/>
          <a:lstStyle/>
          <a:p>
            <a:endParaRPr lang="en-US"/>
          </a:p>
        </p:txBody>
      </p:sp>
      <p:sp>
        <p:nvSpPr>
          <p:cNvPr id="27" name="Text 25"/>
          <p:cNvSpPr txBox="1"/>
          <p:nvPr/>
        </p:nvSpPr>
        <p:spPr>
          <a:xfrm>
            <a:off x="7306056" y="262432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25.07%</a:t>
            </a:r>
            <a:endParaRPr lang="en-US" sz="1150" dirty="0"/>
          </a:p>
        </p:txBody>
      </p:sp>
      <p:sp>
        <p:nvSpPr>
          <p:cNvPr id="28" name="Text 26"/>
          <p:cNvSpPr txBox="1"/>
          <p:nvPr/>
        </p:nvSpPr>
        <p:spPr>
          <a:xfrm>
            <a:off x="4736592" y="338328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Male</a:t>
            </a:r>
            <a:endParaRPr lang="en-US" sz="1250" dirty="0"/>
          </a:p>
        </p:txBody>
      </p:sp>
      <p:sp>
        <p:nvSpPr>
          <p:cNvPr id="29" name="Shape 27"/>
          <p:cNvSpPr/>
          <p:nvPr/>
        </p:nvSpPr>
        <p:spPr>
          <a:xfrm>
            <a:off x="5815584" y="341985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30" name="Shape 28"/>
          <p:cNvSpPr/>
          <p:nvPr/>
        </p:nvSpPr>
        <p:spPr>
          <a:xfrm>
            <a:off x="5815584" y="3419856"/>
            <a:ext cx="696647" cy="164592"/>
          </a:xfrm>
          <a:prstGeom prst="roundRect">
            <a:avLst>
              <a:gd name="adj" fmla="val 66667"/>
            </a:avLst>
          </a:prstGeom>
          <a:solidFill>
            <a:srgbClr val="00A6A6"/>
          </a:solidFill>
          <a:ln w="10160">
            <a:solidFill>
              <a:srgbClr val="00A6A6">
                <a:alpha val="0"/>
              </a:srgbClr>
            </a:solidFill>
            <a:prstDash val="solid"/>
          </a:ln>
        </p:spPr>
        <p:txBody>
          <a:bodyPr/>
          <a:lstStyle/>
          <a:p>
            <a:endParaRPr lang="en-US"/>
          </a:p>
        </p:txBody>
      </p:sp>
      <p:sp>
        <p:nvSpPr>
          <p:cNvPr id="31" name="Text 29"/>
          <p:cNvSpPr txBox="1"/>
          <p:nvPr/>
        </p:nvSpPr>
        <p:spPr>
          <a:xfrm>
            <a:off x="7306056" y="335584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16.46%</a:t>
            </a:r>
            <a:endParaRPr lang="en-US" sz="1150" dirty="0"/>
          </a:p>
        </p:txBody>
      </p:sp>
      <p:sp>
        <p:nvSpPr>
          <p:cNvPr id="32" name="Text 30"/>
          <p:cNvSpPr txBox="1"/>
          <p:nvPr/>
        </p:nvSpPr>
        <p:spPr>
          <a:xfrm>
            <a:off x="4736592" y="4892040"/>
            <a:ext cx="2999232" cy="320040"/>
          </a:xfrm>
          <a:prstGeom prst="rect">
            <a:avLst/>
          </a:prstGeom>
          <a:noFill/>
          <a:ln/>
        </p:spPr>
        <p:txBody>
          <a:bodyPr wrap="square" lIns="0" tIns="0" rIns="0" bIns="0" rtlCol="0" anchor="t">
            <a:normAutofit/>
          </a:bodyPr>
          <a:lstStyle/>
          <a:p>
            <a:pPr marL="0" indent="0" algn="l">
              <a:buNone/>
            </a:pPr>
            <a:r>
              <a:rPr lang="en-US" sz="1100" i="1" dirty="0">
                <a:solidFill>
                  <a:srgbClr val="52606D"/>
                </a:solidFill>
                <a:latin typeface="Aptos" pitchFamily="34" charset="0"/>
                <a:ea typeface="Aptos" pitchFamily="34" charset="-122"/>
                <a:cs typeface="Aptos" pitchFamily="34" charset="-120"/>
              </a:rPr>
              <a:t>Female customers show a higher observed rate.</a:t>
            </a:r>
            <a:endParaRPr lang="en-US" sz="1100" dirty="0"/>
          </a:p>
        </p:txBody>
      </p:sp>
      <p:sp>
        <p:nvSpPr>
          <p:cNvPr id="33" name="Shape 31"/>
          <p:cNvSpPr/>
          <p:nvPr/>
        </p:nvSpPr>
        <p:spPr>
          <a:xfrm>
            <a:off x="8330184" y="1810512"/>
            <a:ext cx="3456432" cy="3566160"/>
          </a:xfrm>
          <a:prstGeom prst="roundRect">
            <a:avLst>
              <a:gd name="adj" fmla="val 3175"/>
            </a:avLst>
          </a:prstGeom>
          <a:solidFill>
            <a:srgbClr val="FFFFFF"/>
          </a:solidFill>
          <a:ln w="10160">
            <a:solidFill>
              <a:srgbClr val="D9E2EC"/>
            </a:solidFill>
            <a:prstDash val="solid"/>
          </a:ln>
        </p:spPr>
        <p:txBody>
          <a:bodyPr/>
          <a:lstStyle/>
          <a:p>
            <a:endParaRPr lang="en-US"/>
          </a:p>
        </p:txBody>
      </p:sp>
      <p:sp>
        <p:nvSpPr>
          <p:cNvPr id="34" name="Shape 32"/>
          <p:cNvSpPr/>
          <p:nvPr/>
        </p:nvSpPr>
        <p:spPr>
          <a:xfrm>
            <a:off x="8558784" y="2039112"/>
            <a:ext cx="1325880"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35" name="Text 33"/>
          <p:cNvSpPr txBox="1"/>
          <p:nvPr/>
        </p:nvSpPr>
        <p:spPr>
          <a:xfrm>
            <a:off x="8631936" y="2048256"/>
            <a:ext cx="117957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ACTIVITY</a:t>
            </a:r>
            <a:endParaRPr lang="en-US" sz="950" dirty="0"/>
          </a:p>
        </p:txBody>
      </p:sp>
      <p:sp>
        <p:nvSpPr>
          <p:cNvPr id="36" name="Text 34"/>
          <p:cNvSpPr txBox="1"/>
          <p:nvPr/>
        </p:nvSpPr>
        <p:spPr>
          <a:xfrm>
            <a:off x="8558784" y="2651760"/>
            <a:ext cx="1051560" cy="246888"/>
          </a:xfrm>
          <a:prstGeom prst="rect">
            <a:avLst/>
          </a:prstGeom>
          <a:noFill/>
          <a:ln/>
        </p:spPr>
        <p:txBody>
          <a:bodyPr wrap="square" lIns="0" tIns="0" rIns="0" bIns="0" rtlCol="0" anchor="ctr">
            <a:normAutofit/>
          </a:bodyPr>
          <a:lstStyle/>
          <a:p>
            <a:pPr marL="0" indent="0" algn="l">
              <a:buNone/>
            </a:pPr>
            <a:r>
              <a:rPr lang="en-US" sz="1250" b="1" dirty="0">
                <a:solidFill>
                  <a:srgbClr val="243B53"/>
                </a:solidFill>
                <a:latin typeface="Aptos" pitchFamily="34" charset="0"/>
                <a:ea typeface="Aptos" pitchFamily="34" charset="-122"/>
                <a:cs typeface="Aptos" pitchFamily="34" charset="-120"/>
              </a:rPr>
              <a:t>Inactive</a:t>
            </a:r>
            <a:endParaRPr lang="en-US" sz="1250" dirty="0"/>
          </a:p>
        </p:txBody>
      </p:sp>
      <p:sp>
        <p:nvSpPr>
          <p:cNvPr id="37" name="Shape 35"/>
          <p:cNvSpPr/>
          <p:nvPr/>
        </p:nvSpPr>
        <p:spPr>
          <a:xfrm>
            <a:off x="9637776" y="268833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38" name="Shape 36"/>
          <p:cNvSpPr/>
          <p:nvPr/>
        </p:nvSpPr>
        <p:spPr>
          <a:xfrm>
            <a:off x="9637776" y="2688336"/>
            <a:ext cx="1136390" cy="164592"/>
          </a:xfrm>
          <a:prstGeom prst="roundRect">
            <a:avLst>
              <a:gd name="adj" fmla="val 66667"/>
            </a:avLst>
          </a:prstGeom>
          <a:solidFill>
            <a:srgbClr val="3D5A80"/>
          </a:solidFill>
          <a:ln w="10160">
            <a:solidFill>
              <a:srgbClr val="3D5A80">
                <a:alpha val="0"/>
              </a:srgbClr>
            </a:solidFill>
            <a:prstDash val="solid"/>
          </a:ln>
        </p:spPr>
        <p:txBody>
          <a:bodyPr/>
          <a:lstStyle/>
          <a:p>
            <a:endParaRPr lang="en-US"/>
          </a:p>
        </p:txBody>
      </p:sp>
      <p:sp>
        <p:nvSpPr>
          <p:cNvPr id="39" name="Text 37"/>
          <p:cNvSpPr txBox="1"/>
          <p:nvPr/>
        </p:nvSpPr>
        <p:spPr>
          <a:xfrm>
            <a:off x="11128248" y="262432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26.85%</a:t>
            </a:r>
            <a:endParaRPr lang="en-US" sz="1150" dirty="0"/>
          </a:p>
        </p:txBody>
      </p:sp>
      <p:sp>
        <p:nvSpPr>
          <p:cNvPr id="40" name="Text 38"/>
          <p:cNvSpPr txBox="1"/>
          <p:nvPr/>
        </p:nvSpPr>
        <p:spPr>
          <a:xfrm>
            <a:off x="8558784" y="3383280"/>
            <a:ext cx="1051560" cy="246888"/>
          </a:xfrm>
          <a:prstGeom prst="rect">
            <a:avLst/>
          </a:prstGeom>
          <a:noFill/>
          <a:ln/>
        </p:spPr>
        <p:txBody>
          <a:bodyPr wrap="square" lIns="0" tIns="0" rIns="0" bIns="0" rtlCol="0" anchor="ctr">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Active</a:t>
            </a:r>
            <a:endParaRPr lang="en-US" sz="1250" dirty="0"/>
          </a:p>
        </p:txBody>
      </p:sp>
      <p:sp>
        <p:nvSpPr>
          <p:cNvPr id="41" name="Shape 39"/>
          <p:cNvSpPr/>
          <p:nvPr/>
        </p:nvSpPr>
        <p:spPr>
          <a:xfrm>
            <a:off x="9637776" y="3419856"/>
            <a:ext cx="1481328" cy="164592"/>
          </a:xfrm>
          <a:prstGeom prst="roundRect">
            <a:avLst>
              <a:gd name="adj" fmla="val 66667"/>
            </a:avLst>
          </a:prstGeom>
          <a:solidFill>
            <a:srgbClr val="EAF0F6"/>
          </a:solidFill>
          <a:ln w="10160">
            <a:solidFill>
              <a:srgbClr val="EAF0F6">
                <a:alpha val="0"/>
              </a:srgbClr>
            </a:solidFill>
            <a:prstDash val="solid"/>
          </a:ln>
        </p:spPr>
        <p:txBody>
          <a:bodyPr/>
          <a:lstStyle/>
          <a:p>
            <a:endParaRPr lang="en-US"/>
          </a:p>
        </p:txBody>
      </p:sp>
      <p:sp>
        <p:nvSpPr>
          <p:cNvPr id="42" name="Shape 40"/>
          <p:cNvSpPr/>
          <p:nvPr/>
        </p:nvSpPr>
        <p:spPr>
          <a:xfrm>
            <a:off x="9637776" y="3419856"/>
            <a:ext cx="603959" cy="164592"/>
          </a:xfrm>
          <a:prstGeom prst="roundRect">
            <a:avLst>
              <a:gd name="adj" fmla="val 66667"/>
            </a:avLst>
          </a:prstGeom>
          <a:solidFill>
            <a:srgbClr val="3D5A80"/>
          </a:solidFill>
          <a:ln w="10160">
            <a:solidFill>
              <a:srgbClr val="3D5A80">
                <a:alpha val="0"/>
              </a:srgbClr>
            </a:solidFill>
            <a:prstDash val="solid"/>
          </a:ln>
        </p:spPr>
        <p:txBody>
          <a:bodyPr/>
          <a:lstStyle/>
          <a:p>
            <a:endParaRPr lang="en-US"/>
          </a:p>
        </p:txBody>
      </p:sp>
      <p:sp>
        <p:nvSpPr>
          <p:cNvPr id="43" name="Text 41"/>
          <p:cNvSpPr txBox="1"/>
          <p:nvPr/>
        </p:nvSpPr>
        <p:spPr>
          <a:xfrm>
            <a:off x="11128248" y="3355848"/>
            <a:ext cx="493776" cy="292608"/>
          </a:xfrm>
          <a:prstGeom prst="rect">
            <a:avLst/>
          </a:prstGeom>
          <a:noFill/>
          <a:ln/>
        </p:spPr>
        <p:txBody>
          <a:bodyPr wrap="square" lIns="0" tIns="0" rIns="0" bIns="0" rtlCol="0" anchor="ctr">
            <a:normAutofit/>
          </a:bodyPr>
          <a:lstStyle/>
          <a:p>
            <a:pPr marL="0" indent="0" algn="r">
              <a:buNone/>
            </a:pPr>
            <a:r>
              <a:rPr lang="en-US" sz="1150" b="1" dirty="0">
                <a:solidFill>
                  <a:srgbClr val="102A43"/>
                </a:solidFill>
                <a:latin typeface="Aptos" pitchFamily="34" charset="0"/>
                <a:ea typeface="Aptos" pitchFamily="34" charset="-122"/>
                <a:cs typeface="Aptos" pitchFamily="34" charset="-120"/>
              </a:rPr>
              <a:t>14.27%</a:t>
            </a:r>
            <a:endParaRPr lang="en-US" sz="1150" dirty="0"/>
          </a:p>
        </p:txBody>
      </p:sp>
      <p:sp>
        <p:nvSpPr>
          <p:cNvPr id="44" name="Text 42"/>
          <p:cNvSpPr txBox="1"/>
          <p:nvPr/>
        </p:nvSpPr>
        <p:spPr>
          <a:xfrm>
            <a:off x="8558784" y="4892040"/>
            <a:ext cx="2999232" cy="320040"/>
          </a:xfrm>
          <a:prstGeom prst="rect">
            <a:avLst/>
          </a:prstGeom>
          <a:noFill/>
          <a:ln/>
        </p:spPr>
        <p:txBody>
          <a:bodyPr wrap="square" lIns="0" tIns="0" rIns="0" bIns="0" rtlCol="0" anchor="t">
            <a:normAutofit/>
          </a:bodyPr>
          <a:lstStyle/>
          <a:p>
            <a:pPr marL="0" indent="0" algn="l">
              <a:buNone/>
            </a:pPr>
            <a:r>
              <a:rPr lang="en-US" sz="1100" i="1" dirty="0">
                <a:solidFill>
                  <a:srgbClr val="52606D"/>
                </a:solidFill>
                <a:latin typeface="Aptos" pitchFamily="34" charset="0"/>
                <a:ea typeface="Aptos" pitchFamily="34" charset="-122"/>
                <a:cs typeface="Aptos" pitchFamily="34" charset="-120"/>
              </a:rPr>
              <a:t>Inactive customers show a higher observed rate.</a:t>
            </a:r>
            <a:endParaRPr lang="en-US" sz="1100" dirty="0"/>
          </a:p>
        </p:txBody>
      </p:sp>
      <p:sp>
        <p:nvSpPr>
          <p:cNvPr id="45" name="Shape 43"/>
          <p:cNvSpPr/>
          <p:nvPr/>
        </p:nvSpPr>
        <p:spPr>
          <a:xfrm>
            <a:off x="731520" y="5623560"/>
            <a:ext cx="10771632" cy="393192"/>
          </a:xfrm>
          <a:prstGeom prst="roundRect">
            <a:avLst>
              <a:gd name="adj" fmla="val 27907"/>
            </a:avLst>
          </a:prstGeom>
          <a:solidFill>
            <a:srgbClr val="FFF1E3"/>
          </a:solidFill>
          <a:ln w="10160">
            <a:solidFill>
              <a:srgbClr val="FFF1E3">
                <a:alpha val="0"/>
              </a:srgbClr>
            </a:solidFill>
            <a:prstDash val="solid"/>
          </a:ln>
        </p:spPr>
        <p:txBody>
          <a:bodyPr/>
          <a:lstStyle/>
          <a:p>
            <a:endParaRPr lang="en-US"/>
          </a:p>
        </p:txBody>
      </p:sp>
      <p:sp>
        <p:nvSpPr>
          <p:cNvPr id="46" name="Text 44"/>
          <p:cNvSpPr txBox="1"/>
          <p:nvPr/>
        </p:nvSpPr>
        <p:spPr>
          <a:xfrm>
            <a:off x="914400" y="5687568"/>
            <a:ext cx="10378440" cy="219456"/>
          </a:xfrm>
          <a:prstGeom prst="rect">
            <a:avLst/>
          </a:prstGeom>
          <a:noFill/>
          <a:ln/>
        </p:spPr>
        <p:txBody>
          <a:bodyPr wrap="square" lIns="0" tIns="0" rIns="0" bIns="0" rtlCol="0" anchor="ctr">
            <a:normAutofit/>
          </a:bodyPr>
          <a:lstStyle/>
          <a:p>
            <a:pPr marL="0" indent="0" algn="ctr">
              <a:buNone/>
            </a:pPr>
            <a:r>
              <a:rPr lang="en-US" sz="1150" b="1" dirty="0">
                <a:solidFill>
                  <a:srgbClr val="8A4B08"/>
                </a:solidFill>
                <a:latin typeface="Aptos" pitchFamily="34" charset="0"/>
                <a:ea typeface="Aptos" pitchFamily="34" charset="-122"/>
                <a:cs typeface="Aptos" pitchFamily="34" charset="-120"/>
              </a:rPr>
              <a:t>Interpret patterns carefully: differences may relate to multiple variables, not a single cause.</a:t>
            </a:r>
            <a:endParaRPr lang="en-US" sz="1150" dirty="0"/>
          </a:p>
        </p:txBody>
      </p:sp>
      <p:sp>
        <p:nvSpPr>
          <p:cNvPr id="47" name="Shape 4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48" name="Text 4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9"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07 / AGE ANALYSIS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Churn is highest among customers aged 50–59</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Age groups were created to make age-related patterns easier to compare.</a:t>
            </a:r>
            <a:endParaRPr lang="en-US" sz="1250" dirty="0"/>
          </a:p>
        </p:txBody>
      </p:sp>
      <p:sp>
        <p:nvSpPr>
          <p:cNvPr id="5" name="Shape 3"/>
          <p:cNvSpPr/>
          <p:nvPr/>
        </p:nvSpPr>
        <p:spPr>
          <a:xfrm>
            <a:off x="694944" y="1691640"/>
            <a:ext cx="7132320" cy="4315968"/>
          </a:xfrm>
          <a:prstGeom prst="roundRect">
            <a:avLst>
              <a:gd name="adj" fmla="val 2542"/>
            </a:avLst>
          </a:prstGeom>
          <a:solidFill>
            <a:srgbClr val="FFFFFF"/>
          </a:solidFill>
          <a:ln w="10160">
            <a:solidFill>
              <a:srgbClr val="D9E2EC"/>
            </a:solidFill>
            <a:prstDash val="solid"/>
          </a:ln>
        </p:spPr>
        <p:txBody>
          <a:bodyPr/>
          <a:lstStyle/>
          <a:p>
            <a:endParaRPr lang="en-US"/>
          </a:p>
        </p:txBody>
      </p:sp>
      <p:pic>
        <p:nvPicPr>
          <p:cNvPr id="6" name="Image 0" descr="/mnt/data/_churn_project/deck_assets/age_group_churn.png"/>
          <p:cNvPicPr>
            <a:picLocks noChangeAspect="1"/>
          </p:cNvPicPr>
          <p:nvPr/>
        </p:nvPicPr>
        <p:blipFill>
          <a:blip r:embed="rId3"/>
          <a:stretch>
            <a:fillRect/>
          </a:stretch>
        </p:blipFill>
        <p:spPr>
          <a:xfrm>
            <a:off x="950976" y="1975104"/>
            <a:ext cx="6620256" cy="3621024"/>
          </a:xfrm>
          <a:prstGeom prst="rect">
            <a:avLst/>
          </a:prstGeom>
        </p:spPr>
      </p:pic>
      <p:sp>
        <p:nvSpPr>
          <p:cNvPr id="7" name="Shape 4"/>
          <p:cNvSpPr/>
          <p:nvPr/>
        </p:nvSpPr>
        <p:spPr>
          <a:xfrm>
            <a:off x="8165592" y="1847088"/>
            <a:ext cx="2971800" cy="1325880"/>
          </a:xfrm>
          <a:prstGeom prst="roundRect">
            <a:avLst>
              <a:gd name="adj" fmla="val 8276"/>
            </a:avLst>
          </a:prstGeom>
          <a:solidFill>
            <a:srgbClr val="FFFFFF"/>
          </a:solidFill>
          <a:ln w="10160">
            <a:solidFill>
              <a:srgbClr val="D9E2EC"/>
            </a:solidFill>
            <a:prstDash val="solid"/>
          </a:ln>
        </p:spPr>
        <p:txBody>
          <a:bodyPr/>
          <a:lstStyle/>
          <a:p>
            <a:endParaRPr lang="en-US"/>
          </a:p>
        </p:txBody>
      </p:sp>
      <p:sp>
        <p:nvSpPr>
          <p:cNvPr id="8" name="Shape 5"/>
          <p:cNvSpPr/>
          <p:nvPr/>
        </p:nvSpPr>
        <p:spPr>
          <a:xfrm>
            <a:off x="8165592" y="1847088"/>
            <a:ext cx="64008" cy="1325880"/>
          </a:xfrm>
          <a:prstGeom prst="rect">
            <a:avLst/>
          </a:prstGeom>
          <a:solidFill>
            <a:srgbClr val="F4A261"/>
          </a:solidFill>
          <a:ln w="10160">
            <a:solidFill>
              <a:srgbClr val="F4A261">
                <a:alpha val="0"/>
              </a:srgbClr>
            </a:solidFill>
            <a:prstDash val="solid"/>
          </a:ln>
        </p:spPr>
        <p:txBody>
          <a:bodyPr/>
          <a:lstStyle/>
          <a:p>
            <a:endParaRPr lang="en-US"/>
          </a:p>
        </p:txBody>
      </p:sp>
      <p:sp>
        <p:nvSpPr>
          <p:cNvPr id="9" name="Text 6"/>
          <p:cNvSpPr txBox="1"/>
          <p:nvPr/>
        </p:nvSpPr>
        <p:spPr>
          <a:xfrm>
            <a:off x="8375904" y="1993392"/>
            <a:ext cx="260604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56.37%</a:t>
            </a:r>
            <a:endParaRPr lang="en-US" sz="2500" dirty="0"/>
          </a:p>
        </p:txBody>
      </p:sp>
      <p:sp>
        <p:nvSpPr>
          <p:cNvPr id="10" name="Text 7"/>
          <p:cNvSpPr txBox="1"/>
          <p:nvPr/>
        </p:nvSpPr>
        <p:spPr>
          <a:xfrm>
            <a:off x="8375904" y="2450592"/>
            <a:ext cx="2606040"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Churn rate: age 50–59</a:t>
            </a:r>
            <a:endParaRPr lang="en-US" sz="1200" dirty="0"/>
          </a:p>
        </p:txBody>
      </p:sp>
      <p:sp>
        <p:nvSpPr>
          <p:cNvPr id="11" name="Text 8"/>
          <p:cNvSpPr txBox="1"/>
          <p:nvPr/>
        </p:nvSpPr>
        <p:spPr>
          <a:xfrm>
            <a:off x="8375904" y="2852928"/>
            <a:ext cx="2606040"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848 customers in this group</a:t>
            </a:r>
            <a:endParaRPr lang="en-US" sz="950" dirty="0"/>
          </a:p>
        </p:txBody>
      </p:sp>
      <p:sp>
        <p:nvSpPr>
          <p:cNvPr id="12" name="Shape 9"/>
          <p:cNvSpPr/>
          <p:nvPr/>
        </p:nvSpPr>
        <p:spPr>
          <a:xfrm>
            <a:off x="8165592" y="3429000"/>
            <a:ext cx="2971800" cy="1325880"/>
          </a:xfrm>
          <a:prstGeom prst="roundRect">
            <a:avLst>
              <a:gd name="adj" fmla="val 8276"/>
            </a:avLst>
          </a:prstGeom>
          <a:solidFill>
            <a:srgbClr val="FFFFFF"/>
          </a:solidFill>
          <a:ln w="10160">
            <a:solidFill>
              <a:srgbClr val="D9E2EC"/>
            </a:solidFill>
            <a:prstDash val="solid"/>
          </a:ln>
        </p:spPr>
        <p:txBody>
          <a:bodyPr/>
          <a:lstStyle/>
          <a:p>
            <a:endParaRPr lang="en-US"/>
          </a:p>
        </p:txBody>
      </p:sp>
      <p:sp>
        <p:nvSpPr>
          <p:cNvPr id="13" name="Shape 10"/>
          <p:cNvSpPr/>
          <p:nvPr/>
        </p:nvSpPr>
        <p:spPr>
          <a:xfrm>
            <a:off x="8165592" y="3429000"/>
            <a:ext cx="64008" cy="1325880"/>
          </a:xfrm>
          <a:prstGeom prst="rect">
            <a:avLst/>
          </a:prstGeom>
          <a:solidFill>
            <a:srgbClr val="3D5A80"/>
          </a:solidFill>
          <a:ln w="10160">
            <a:solidFill>
              <a:srgbClr val="3D5A80">
                <a:alpha val="0"/>
              </a:srgbClr>
            </a:solidFill>
            <a:prstDash val="solid"/>
          </a:ln>
        </p:spPr>
        <p:txBody>
          <a:bodyPr/>
          <a:lstStyle/>
          <a:p>
            <a:endParaRPr lang="en-US"/>
          </a:p>
        </p:txBody>
      </p:sp>
      <p:sp>
        <p:nvSpPr>
          <p:cNvPr id="14" name="Text 11"/>
          <p:cNvSpPr txBox="1"/>
          <p:nvPr/>
        </p:nvSpPr>
        <p:spPr>
          <a:xfrm>
            <a:off x="8375904" y="3575304"/>
            <a:ext cx="260604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7.45%</a:t>
            </a:r>
            <a:endParaRPr lang="en-US" sz="2500" dirty="0"/>
          </a:p>
        </p:txBody>
      </p:sp>
      <p:sp>
        <p:nvSpPr>
          <p:cNvPr id="15" name="Text 12"/>
          <p:cNvSpPr txBox="1"/>
          <p:nvPr/>
        </p:nvSpPr>
        <p:spPr>
          <a:xfrm>
            <a:off x="8375904" y="4032504"/>
            <a:ext cx="2606040"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Churn rate: age 18–29</a:t>
            </a:r>
            <a:endParaRPr lang="en-US" sz="1200" dirty="0"/>
          </a:p>
        </p:txBody>
      </p:sp>
      <p:sp>
        <p:nvSpPr>
          <p:cNvPr id="16" name="Text 13"/>
          <p:cNvSpPr txBox="1"/>
          <p:nvPr/>
        </p:nvSpPr>
        <p:spPr>
          <a:xfrm>
            <a:off x="8375904" y="4434840"/>
            <a:ext cx="2606040"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1,610 customers in this group</a:t>
            </a:r>
            <a:endParaRPr lang="en-US" sz="950" dirty="0"/>
          </a:p>
        </p:txBody>
      </p:sp>
      <p:sp>
        <p:nvSpPr>
          <p:cNvPr id="17" name="Text 14"/>
          <p:cNvSpPr txBox="1"/>
          <p:nvPr/>
        </p:nvSpPr>
        <p:spPr>
          <a:xfrm>
            <a:off x="8193024" y="5148072"/>
            <a:ext cx="2880360" cy="438912"/>
          </a:xfrm>
          <a:prstGeom prst="rect">
            <a:avLst/>
          </a:prstGeom>
          <a:noFill/>
          <a:ln/>
        </p:spPr>
        <p:txBody>
          <a:bodyPr wrap="square" lIns="0" tIns="0" rIns="0" bIns="0" rtlCol="0" anchor="t">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Observed difference: 48.92 percentage points</a:t>
            </a:r>
            <a:endParaRPr lang="en-US" sz="1200" dirty="0"/>
          </a:p>
        </p:txBody>
      </p:sp>
      <p:sp>
        <p:nvSpPr>
          <p:cNvPr id="18" name="Shape 1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19" name="Text 1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08 / ADDITIONAL SIGNALS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Balance and product count offer more context</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Group sizes matter when interpreting very high percentages.</a:t>
            </a:r>
            <a:endParaRPr lang="en-US" sz="1250" dirty="0"/>
          </a:p>
        </p:txBody>
      </p:sp>
      <p:sp>
        <p:nvSpPr>
          <p:cNvPr id="5" name="Shape 3"/>
          <p:cNvSpPr/>
          <p:nvPr/>
        </p:nvSpPr>
        <p:spPr>
          <a:xfrm>
            <a:off x="704088" y="1728216"/>
            <a:ext cx="5413248" cy="4206240"/>
          </a:xfrm>
          <a:prstGeom prst="roundRect">
            <a:avLst>
              <a:gd name="adj" fmla="val 2609"/>
            </a:avLst>
          </a:prstGeom>
          <a:solidFill>
            <a:srgbClr val="FFFFFF"/>
          </a:solidFill>
          <a:ln w="10160">
            <a:solidFill>
              <a:srgbClr val="D9E2EC"/>
            </a:solidFill>
            <a:prstDash val="solid"/>
          </a:ln>
        </p:spPr>
        <p:txBody>
          <a:bodyPr/>
          <a:lstStyle/>
          <a:p>
            <a:endParaRPr lang="en-US"/>
          </a:p>
        </p:txBody>
      </p:sp>
      <p:pic>
        <p:nvPicPr>
          <p:cNvPr id="6" name="Image 0" descr="/mnt/data/_churn_project/deck_assets/balance_status_churn.png"/>
          <p:cNvPicPr>
            <a:picLocks noChangeAspect="1"/>
          </p:cNvPicPr>
          <p:nvPr/>
        </p:nvPicPr>
        <p:blipFill>
          <a:blip r:embed="rId3"/>
          <a:stretch>
            <a:fillRect/>
          </a:stretch>
        </p:blipFill>
        <p:spPr>
          <a:xfrm>
            <a:off x="960120" y="1993392"/>
            <a:ext cx="4919472" cy="3218688"/>
          </a:xfrm>
          <a:prstGeom prst="rect">
            <a:avLst/>
          </a:prstGeom>
        </p:spPr>
      </p:pic>
      <p:sp>
        <p:nvSpPr>
          <p:cNvPr id="7" name="Text 4"/>
          <p:cNvSpPr txBox="1"/>
          <p:nvPr/>
        </p:nvSpPr>
        <p:spPr>
          <a:xfrm>
            <a:off x="960120" y="5340096"/>
            <a:ext cx="4754880" cy="274320"/>
          </a:xfrm>
          <a:prstGeom prst="rect">
            <a:avLst/>
          </a:prstGeom>
          <a:noFill/>
          <a:ln/>
        </p:spPr>
        <p:txBody>
          <a:bodyPr wrap="square" lIns="0" tIns="0" rIns="0" bIns="0" rtlCol="0" anchor="ctr">
            <a:normAutofit/>
          </a:bodyPr>
          <a:lstStyle/>
          <a:p>
            <a:pPr marL="0" indent="0" algn="ctr">
              <a:buNone/>
            </a:pPr>
            <a:r>
              <a:rPr lang="en-US" sz="1200" b="1" dirty="0">
                <a:solidFill>
                  <a:srgbClr val="102A43"/>
                </a:solidFill>
                <a:latin typeface="Aptos" pitchFamily="34" charset="0"/>
                <a:ea typeface="Aptos" pitchFamily="34" charset="-122"/>
                <a:cs typeface="Aptos" pitchFamily="34" charset="-120"/>
              </a:rPr>
              <a:t>Positive-balance customers showed a higher observed churn rate.</a:t>
            </a:r>
            <a:endParaRPr lang="en-US" sz="1200" dirty="0"/>
          </a:p>
        </p:txBody>
      </p:sp>
      <p:sp>
        <p:nvSpPr>
          <p:cNvPr id="8" name="Shape 5"/>
          <p:cNvSpPr/>
          <p:nvPr/>
        </p:nvSpPr>
        <p:spPr>
          <a:xfrm>
            <a:off x="6373368" y="1728216"/>
            <a:ext cx="5120640" cy="4206240"/>
          </a:xfrm>
          <a:prstGeom prst="roundRect">
            <a:avLst>
              <a:gd name="adj" fmla="val 2609"/>
            </a:avLst>
          </a:prstGeom>
          <a:solidFill>
            <a:srgbClr val="FFFFFF"/>
          </a:solidFill>
          <a:ln w="10160">
            <a:solidFill>
              <a:srgbClr val="D9E2EC"/>
            </a:solidFill>
            <a:prstDash val="solid"/>
          </a:ln>
        </p:spPr>
        <p:txBody>
          <a:bodyPr/>
          <a:lstStyle/>
          <a:p>
            <a:endParaRPr lang="en-US"/>
          </a:p>
        </p:txBody>
      </p:sp>
      <p:pic>
        <p:nvPicPr>
          <p:cNvPr id="9" name="Image 1" descr="/mnt/data/_churn_project/deck_assets/product_count_churn.png"/>
          <p:cNvPicPr>
            <a:picLocks noChangeAspect="1"/>
          </p:cNvPicPr>
          <p:nvPr/>
        </p:nvPicPr>
        <p:blipFill>
          <a:blip r:embed="rId4"/>
          <a:stretch>
            <a:fillRect/>
          </a:stretch>
        </p:blipFill>
        <p:spPr>
          <a:xfrm>
            <a:off x="6601968" y="1938528"/>
            <a:ext cx="4654296" cy="3429000"/>
          </a:xfrm>
          <a:prstGeom prst="rect">
            <a:avLst/>
          </a:prstGeom>
        </p:spPr>
      </p:pic>
      <p:sp>
        <p:nvSpPr>
          <p:cNvPr id="10" name="Shape 6"/>
          <p:cNvSpPr/>
          <p:nvPr/>
        </p:nvSpPr>
        <p:spPr>
          <a:xfrm>
            <a:off x="6620256" y="5376672"/>
            <a:ext cx="4572000" cy="365760"/>
          </a:xfrm>
          <a:prstGeom prst="roundRect">
            <a:avLst>
              <a:gd name="adj" fmla="val 30000"/>
            </a:avLst>
          </a:prstGeom>
          <a:solidFill>
            <a:srgbClr val="FFF1E3"/>
          </a:solidFill>
          <a:ln w="10160">
            <a:solidFill>
              <a:srgbClr val="FFF1E3">
                <a:alpha val="0"/>
              </a:srgbClr>
            </a:solidFill>
            <a:prstDash val="solid"/>
          </a:ln>
        </p:spPr>
        <p:txBody>
          <a:bodyPr/>
          <a:lstStyle/>
          <a:p>
            <a:endParaRPr lang="en-US"/>
          </a:p>
        </p:txBody>
      </p:sp>
      <p:sp>
        <p:nvSpPr>
          <p:cNvPr id="11" name="Text 7"/>
          <p:cNvSpPr txBox="1"/>
          <p:nvPr/>
        </p:nvSpPr>
        <p:spPr>
          <a:xfrm>
            <a:off x="6720840" y="5440680"/>
            <a:ext cx="4370832" cy="201168"/>
          </a:xfrm>
          <a:prstGeom prst="rect">
            <a:avLst/>
          </a:prstGeom>
          <a:noFill/>
          <a:ln/>
        </p:spPr>
        <p:txBody>
          <a:bodyPr wrap="square" lIns="0" tIns="0" rIns="0" bIns="0" rtlCol="0" anchor="ctr">
            <a:normAutofit/>
          </a:bodyPr>
          <a:lstStyle/>
          <a:p>
            <a:pPr marL="0" indent="0" algn="ctr">
              <a:buNone/>
            </a:pPr>
            <a:r>
              <a:rPr lang="en-US" sz="1050" b="1" dirty="0">
                <a:solidFill>
                  <a:srgbClr val="8A4B08"/>
                </a:solidFill>
                <a:latin typeface="Aptos" pitchFamily="34" charset="0"/>
                <a:ea typeface="Aptos" pitchFamily="34" charset="-122"/>
                <a:cs typeface="Aptos" pitchFamily="34" charset="-120"/>
              </a:rPr>
              <a:t>4 products = 100% churn, but only n = 60</a:t>
            </a:r>
            <a:endParaRPr lang="en-US" sz="1050" dirty="0"/>
          </a:p>
        </p:txBody>
      </p:sp>
      <p:sp>
        <p:nvSpPr>
          <p:cNvPr id="12" name="Shape 8"/>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13" name="Text 9"/>
          <p:cNvSpPr txBox="1"/>
          <p:nvPr/>
        </p:nvSpPr>
        <p:spPr>
          <a:xfrm>
            <a:off x="621792" y="6514896"/>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09 / CORRELATION ANALYSIS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Correlation helps describe linear relationships</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The heatmap was used to inspect numeric features and their relationship with the target.</a:t>
            </a:r>
            <a:endParaRPr lang="en-US" sz="1250" dirty="0"/>
          </a:p>
        </p:txBody>
      </p:sp>
      <p:sp>
        <p:nvSpPr>
          <p:cNvPr id="5" name="Shape 3"/>
          <p:cNvSpPr/>
          <p:nvPr/>
        </p:nvSpPr>
        <p:spPr>
          <a:xfrm>
            <a:off x="713232" y="1737360"/>
            <a:ext cx="6035040" cy="4096512"/>
          </a:xfrm>
          <a:prstGeom prst="roundRect">
            <a:avLst>
              <a:gd name="adj" fmla="val 2679"/>
            </a:avLst>
          </a:prstGeom>
          <a:solidFill>
            <a:srgbClr val="FFFFFF"/>
          </a:solidFill>
          <a:ln w="10160">
            <a:solidFill>
              <a:srgbClr val="D9E2EC"/>
            </a:solidFill>
            <a:prstDash val="solid"/>
          </a:ln>
        </p:spPr>
        <p:txBody>
          <a:bodyPr/>
          <a:lstStyle/>
          <a:p>
            <a:endParaRPr lang="en-US"/>
          </a:p>
        </p:txBody>
      </p:sp>
      <p:pic>
        <p:nvPicPr>
          <p:cNvPr id="6" name="Image 0" descr="/mnt/data/_churn_project/deck_assets/correlation_selected.png"/>
          <p:cNvPicPr>
            <a:picLocks noChangeAspect="1"/>
          </p:cNvPicPr>
          <p:nvPr/>
        </p:nvPicPr>
        <p:blipFill>
          <a:blip r:embed="rId3"/>
          <a:stretch>
            <a:fillRect/>
          </a:stretch>
        </p:blipFill>
        <p:spPr>
          <a:xfrm>
            <a:off x="1078992" y="2066544"/>
            <a:ext cx="5285232" cy="3200400"/>
          </a:xfrm>
          <a:prstGeom prst="rect">
            <a:avLst/>
          </a:prstGeom>
        </p:spPr>
      </p:pic>
      <p:sp>
        <p:nvSpPr>
          <p:cNvPr id="7" name="Shape 4"/>
          <p:cNvSpPr/>
          <p:nvPr/>
        </p:nvSpPr>
        <p:spPr>
          <a:xfrm>
            <a:off x="7086600" y="1737360"/>
            <a:ext cx="4389120" cy="4096512"/>
          </a:xfrm>
          <a:prstGeom prst="roundRect">
            <a:avLst>
              <a:gd name="adj" fmla="val 2679"/>
            </a:avLst>
          </a:prstGeom>
          <a:solidFill>
            <a:srgbClr val="102A43"/>
          </a:solidFill>
          <a:ln w="10160">
            <a:solidFill>
              <a:srgbClr val="102A43"/>
            </a:solidFill>
            <a:prstDash val="solid"/>
          </a:ln>
        </p:spPr>
        <p:txBody>
          <a:bodyPr/>
          <a:lstStyle/>
          <a:p>
            <a:endParaRPr lang="en-US"/>
          </a:p>
        </p:txBody>
      </p:sp>
      <p:sp>
        <p:nvSpPr>
          <p:cNvPr id="8" name="Text 5"/>
          <p:cNvSpPr txBox="1"/>
          <p:nvPr/>
        </p:nvSpPr>
        <p:spPr>
          <a:xfrm>
            <a:off x="7434072" y="2084832"/>
            <a:ext cx="3657600" cy="411480"/>
          </a:xfrm>
          <a:prstGeom prst="rect">
            <a:avLst/>
          </a:prstGeom>
          <a:noFill/>
          <a:ln/>
        </p:spPr>
        <p:txBody>
          <a:bodyPr wrap="square" lIns="0" tIns="0" rIns="0" bIns="0" rtlCol="0" anchor="ctr">
            <a:normAutofit/>
          </a:bodyPr>
          <a:lstStyle/>
          <a:p>
            <a:pPr marL="0" indent="0" algn="l">
              <a:buNone/>
            </a:pPr>
            <a:r>
              <a:rPr lang="en-US" sz="1700" b="1" dirty="0">
                <a:solidFill>
                  <a:srgbClr val="FFFFFF"/>
                </a:solidFill>
                <a:latin typeface="Aptos" pitchFamily="34" charset="0"/>
                <a:ea typeface="Aptos" pitchFamily="34" charset="-122"/>
                <a:cs typeface="Aptos" pitchFamily="34" charset="-120"/>
              </a:rPr>
              <a:t>Selected correlations with Exited</a:t>
            </a:r>
            <a:endParaRPr lang="en-US" sz="1700" dirty="0"/>
          </a:p>
        </p:txBody>
      </p:sp>
      <p:sp>
        <p:nvSpPr>
          <p:cNvPr id="9" name="Text 6"/>
          <p:cNvSpPr txBox="1"/>
          <p:nvPr/>
        </p:nvSpPr>
        <p:spPr>
          <a:xfrm>
            <a:off x="7434072" y="2880360"/>
            <a:ext cx="2121408" cy="256032"/>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Age</a:t>
            </a:r>
            <a:endParaRPr lang="en-US" sz="1300" dirty="0"/>
          </a:p>
        </p:txBody>
      </p:sp>
      <p:sp>
        <p:nvSpPr>
          <p:cNvPr id="10" name="Text 7"/>
          <p:cNvSpPr txBox="1"/>
          <p:nvPr/>
        </p:nvSpPr>
        <p:spPr>
          <a:xfrm>
            <a:off x="9692640" y="2880360"/>
            <a:ext cx="1051560" cy="256032"/>
          </a:xfrm>
          <a:prstGeom prst="rect">
            <a:avLst/>
          </a:prstGeom>
          <a:noFill/>
          <a:ln/>
        </p:spPr>
        <p:txBody>
          <a:bodyPr wrap="square" lIns="0" tIns="0" rIns="0" bIns="0" rtlCol="0" anchor="ctr">
            <a:normAutofit/>
          </a:bodyPr>
          <a:lstStyle/>
          <a:p>
            <a:pPr marL="0" indent="0" algn="r">
              <a:buNone/>
            </a:pPr>
            <a:r>
              <a:rPr lang="en-US" sz="1500" b="1" dirty="0">
                <a:solidFill>
                  <a:srgbClr val="F4A261"/>
                </a:solidFill>
                <a:latin typeface="Aptos" pitchFamily="34" charset="0"/>
                <a:ea typeface="Aptos" pitchFamily="34" charset="-122"/>
                <a:cs typeface="Aptos" pitchFamily="34" charset="-120"/>
              </a:rPr>
              <a:t>+0.287</a:t>
            </a:r>
            <a:endParaRPr lang="en-US" sz="1500" dirty="0"/>
          </a:p>
        </p:txBody>
      </p:sp>
      <p:sp>
        <p:nvSpPr>
          <p:cNvPr id="11" name="Text 8"/>
          <p:cNvSpPr txBox="1"/>
          <p:nvPr/>
        </p:nvSpPr>
        <p:spPr>
          <a:xfrm>
            <a:off x="7434072" y="3547872"/>
            <a:ext cx="2121408" cy="256032"/>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IsActiveMember</a:t>
            </a:r>
            <a:endParaRPr lang="en-US" sz="1300" dirty="0"/>
          </a:p>
        </p:txBody>
      </p:sp>
      <p:sp>
        <p:nvSpPr>
          <p:cNvPr id="12" name="Text 9"/>
          <p:cNvSpPr txBox="1"/>
          <p:nvPr/>
        </p:nvSpPr>
        <p:spPr>
          <a:xfrm>
            <a:off x="9692640" y="3547872"/>
            <a:ext cx="1051560" cy="256032"/>
          </a:xfrm>
          <a:prstGeom prst="rect">
            <a:avLst/>
          </a:prstGeom>
          <a:noFill/>
          <a:ln/>
        </p:spPr>
        <p:txBody>
          <a:bodyPr wrap="square" lIns="0" tIns="0" rIns="0" bIns="0" rtlCol="0" anchor="ctr">
            <a:normAutofit/>
          </a:bodyPr>
          <a:lstStyle/>
          <a:p>
            <a:pPr marL="0" indent="0" algn="r">
              <a:buNone/>
            </a:pPr>
            <a:r>
              <a:rPr lang="en-US" sz="1500" b="1" dirty="0">
                <a:solidFill>
                  <a:srgbClr val="00A6A6"/>
                </a:solidFill>
                <a:latin typeface="Aptos" pitchFamily="34" charset="0"/>
                <a:ea typeface="Aptos" pitchFamily="34" charset="-122"/>
                <a:cs typeface="Aptos" pitchFamily="34" charset="-120"/>
              </a:rPr>
              <a:t>-0.156</a:t>
            </a:r>
            <a:endParaRPr lang="en-US" sz="1500" dirty="0"/>
          </a:p>
        </p:txBody>
      </p:sp>
      <p:sp>
        <p:nvSpPr>
          <p:cNvPr id="13" name="Text 10"/>
          <p:cNvSpPr txBox="1"/>
          <p:nvPr/>
        </p:nvSpPr>
        <p:spPr>
          <a:xfrm>
            <a:off x="7434072" y="4215384"/>
            <a:ext cx="2121408" cy="256032"/>
          </a:xfrm>
          <a:prstGeom prst="rect">
            <a:avLst/>
          </a:prstGeom>
          <a:noFill/>
          <a:ln/>
        </p:spPr>
        <p:txBody>
          <a:bodyPr wrap="square" lIns="0" tIns="0" rIns="0" bIns="0" rtlCol="0" anchor="ctr">
            <a:normAutofit/>
          </a:bodyPr>
          <a:lstStyle/>
          <a:p>
            <a:pPr marL="0" indent="0" algn="l">
              <a:buNone/>
            </a:pPr>
            <a:r>
              <a:rPr lang="en-US" sz="1300" dirty="0">
                <a:solidFill>
                  <a:srgbClr val="D9E2EC"/>
                </a:solidFill>
                <a:latin typeface="Aptos" pitchFamily="34" charset="0"/>
                <a:ea typeface="Aptos" pitchFamily="34" charset="-122"/>
                <a:cs typeface="Aptos" pitchFamily="34" charset="-120"/>
              </a:rPr>
              <a:t>Balance</a:t>
            </a:r>
            <a:endParaRPr lang="en-US" sz="1300" dirty="0"/>
          </a:p>
        </p:txBody>
      </p:sp>
      <p:sp>
        <p:nvSpPr>
          <p:cNvPr id="14" name="Text 11"/>
          <p:cNvSpPr txBox="1"/>
          <p:nvPr/>
        </p:nvSpPr>
        <p:spPr>
          <a:xfrm>
            <a:off x="9692640" y="4215384"/>
            <a:ext cx="1051560" cy="256032"/>
          </a:xfrm>
          <a:prstGeom prst="rect">
            <a:avLst/>
          </a:prstGeom>
          <a:noFill/>
          <a:ln/>
        </p:spPr>
        <p:txBody>
          <a:bodyPr wrap="square" lIns="0" tIns="0" rIns="0" bIns="0" rtlCol="0" anchor="ctr">
            <a:normAutofit/>
          </a:bodyPr>
          <a:lstStyle/>
          <a:p>
            <a:pPr marL="0" indent="0" algn="r">
              <a:buNone/>
            </a:pPr>
            <a:r>
              <a:rPr lang="en-US" sz="1500" b="1" dirty="0">
                <a:solidFill>
                  <a:srgbClr val="3D5A80"/>
                </a:solidFill>
                <a:latin typeface="Aptos" pitchFamily="34" charset="0"/>
                <a:ea typeface="Aptos" pitchFamily="34" charset="-122"/>
                <a:cs typeface="Aptos" pitchFamily="34" charset="-120"/>
              </a:rPr>
              <a:t>+0.119</a:t>
            </a:r>
            <a:endParaRPr lang="en-US" sz="1500" dirty="0"/>
          </a:p>
        </p:txBody>
      </p:sp>
      <p:sp>
        <p:nvSpPr>
          <p:cNvPr id="15" name="Shape 12"/>
          <p:cNvSpPr/>
          <p:nvPr/>
        </p:nvSpPr>
        <p:spPr>
          <a:xfrm>
            <a:off x="7434072" y="4983480"/>
            <a:ext cx="3419856" cy="0"/>
          </a:xfrm>
          <a:prstGeom prst="line">
            <a:avLst/>
          </a:prstGeom>
          <a:noFill/>
          <a:ln w="12700">
            <a:solidFill>
              <a:srgbClr val="486581"/>
            </a:solidFill>
            <a:prstDash val="solid"/>
          </a:ln>
        </p:spPr>
        <p:txBody>
          <a:bodyPr/>
          <a:lstStyle/>
          <a:p>
            <a:endParaRPr lang="en-US"/>
          </a:p>
        </p:txBody>
      </p:sp>
      <p:sp>
        <p:nvSpPr>
          <p:cNvPr id="16" name="Text 13"/>
          <p:cNvSpPr txBox="1"/>
          <p:nvPr/>
        </p:nvSpPr>
        <p:spPr>
          <a:xfrm>
            <a:off x="7434072" y="5193792"/>
            <a:ext cx="3520440" cy="310896"/>
          </a:xfrm>
          <a:prstGeom prst="rect">
            <a:avLst/>
          </a:prstGeom>
          <a:noFill/>
          <a:ln/>
        </p:spPr>
        <p:txBody>
          <a:bodyPr wrap="square" lIns="0" tIns="0" rIns="0" bIns="0" rtlCol="0" anchor="ctr">
            <a:normAutofit/>
          </a:bodyPr>
          <a:lstStyle/>
          <a:p>
            <a:pPr marL="0" indent="0" algn="l">
              <a:buNone/>
            </a:pPr>
            <a:r>
              <a:rPr lang="en-US" sz="1500" b="1" dirty="0">
                <a:solidFill>
                  <a:srgbClr val="FFFFFF"/>
                </a:solidFill>
                <a:latin typeface="Aptos" pitchFamily="34" charset="0"/>
                <a:ea typeface="Aptos" pitchFamily="34" charset="-122"/>
                <a:cs typeface="Aptos" pitchFamily="34" charset="-120"/>
              </a:rPr>
              <a:t>Correlation ≠ causation</a:t>
            </a:r>
            <a:endParaRPr lang="en-US" sz="1500" dirty="0"/>
          </a:p>
        </p:txBody>
      </p:sp>
      <p:sp>
        <p:nvSpPr>
          <p:cNvPr id="17" name="Text 14"/>
          <p:cNvSpPr txBox="1"/>
          <p:nvPr/>
        </p:nvSpPr>
        <p:spPr>
          <a:xfrm>
            <a:off x="7434072" y="5532120"/>
            <a:ext cx="3493008" cy="274320"/>
          </a:xfrm>
          <a:prstGeom prst="rect">
            <a:avLst/>
          </a:prstGeom>
          <a:noFill/>
          <a:ln/>
        </p:spPr>
        <p:txBody>
          <a:bodyPr wrap="square" lIns="0" tIns="0" rIns="0" bIns="0" rtlCol="0" anchor="t">
            <a:normAutofit fontScale="92500"/>
          </a:bodyPr>
          <a:lstStyle/>
          <a:p>
            <a:pPr marL="0" indent="0" algn="l">
              <a:buNone/>
            </a:pPr>
            <a:r>
              <a:rPr lang="en-US" sz="1050" dirty="0">
                <a:solidFill>
                  <a:srgbClr val="BCCCDC"/>
                </a:solidFill>
                <a:latin typeface="Aptos" pitchFamily="34" charset="0"/>
                <a:ea typeface="Aptos" pitchFamily="34" charset="-122"/>
                <a:cs typeface="Aptos" pitchFamily="34" charset="-120"/>
              </a:rPr>
              <a:t>A correlation score does not identify the reason a customer left.</a:t>
            </a:r>
            <a:endParaRPr lang="en-US" sz="1050" dirty="0"/>
          </a:p>
        </p:txBody>
      </p:sp>
      <p:sp>
        <p:nvSpPr>
          <p:cNvPr id="18" name="Shape 15"/>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19" name="Text 16"/>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10 / FEATURE ENGINEERING</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Two features were created to make patterns more usable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Feature engineering adds a useful representation without changing the target.</a:t>
            </a:r>
            <a:endParaRPr lang="en-US" sz="1250" dirty="0"/>
          </a:p>
        </p:txBody>
      </p:sp>
      <p:sp>
        <p:nvSpPr>
          <p:cNvPr id="5" name="Shape 3"/>
          <p:cNvSpPr/>
          <p:nvPr/>
        </p:nvSpPr>
        <p:spPr>
          <a:xfrm>
            <a:off x="749808" y="1773936"/>
            <a:ext cx="5138928" cy="3584448"/>
          </a:xfrm>
          <a:prstGeom prst="roundRect">
            <a:avLst>
              <a:gd name="adj" fmla="val 3061"/>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1033272" y="2057400"/>
            <a:ext cx="148132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7" name="Text 5"/>
          <p:cNvSpPr txBox="1"/>
          <p:nvPr/>
        </p:nvSpPr>
        <p:spPr>
          <a:xfrm>
            <a:off x="1106424" y="2066544"/>
            <a:ext cx="133502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NEW FEATURE 01</a:t>
            </a:r>
            <a:endParaRPr lang="en-US" sz="950" dirty="0"/>
          </a:p>
        </p:txBody>
      </p:sp>
      <p:sp>
        <p:nvSpPr>
          <p:cNvPr id="8" name="Text 6"/>
          <p:cNvSpPr txBox="1"/>
          <p:nvPr/>
        </p:nvSpPr>
        <p:spPr>
          <a:xfrm>
            <a:off x="1033272" y="2587752"/>
            <a:ext cx="429768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AgeGroup</a:t>
            </a:r>
            <a:endParaRPr lang="en-US" sz="2500" dirty="0"/>
          </a:p>
        </p:txBody>
      </p:sp>
      <p:sp>
        <p:nvSpPr>
          <p:cNvPr id="9" name="Text 7"/>
          <p:cNvSpPr txBox="1"/>
          <p:nvPr/>
        </p:nvSpPr>
        <p:spPr>
          <a:xfrm>
            <a:off x="1033272" y="3136392"/>
            <a:ext cx="4251960" cy="301752"/>
          </a:xfrm>
          <a:prstGeom prst="rect">
            <a:avLst/>
          </a:prstGeom>
          <a:noFill/>
          <a:ln/>
        </p:spPr>
        <p:txBody>
          <a:bodyPr wrap="square" lIns="0" tIns="0" rIns="0" bIns="0" rtlCol="0" anchor="ctr">
            <a:normAutofit/>
          </a:bodyPr>
          <a:lstStyle/>
          <a:p>
            <a:pPr marL="0" indent="0" algn="l">
              <a:buNone/>
            </a:pPr>
            <a:r>
              <a:rPr lang="en-US" sz="1400" dirty="0">
                <a:solidFill>
                  <a:srgbClr val="52606D"/>
                </a:solidFill>
                <a:latin typeface="Aptos" pitchFamily="34" charset="0"/>
                <a:ea typeface="Aptos" pitchFamily="34" charset="-122"/>
                <a:cs typeface="Aptos" pitchFamily="34" charset="-120"/>
              </a:rPr>
              <a:t>Convert age into interpretable bands:</a:t>
            </a:r>
            <a:endParaRPr lang="en-US" sz="1400" dirty="0"/>
          </a:p>
        </p:txBody>
      </p:sp>
      <p:sp>
        <p:nvSpPr>
          <p:cNvPr id="10" name="Shape 8"/>
          <p:cNvSpPr/>
          <p:nvPr/>
        </p:nvSpPr>
        <p:spPr>
          <a:xfrm>
            <a:off x="1042416"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1" name="Text 9"/>
          <p:cNvSpPr txBox="1"/>
          <p:nvPr/>
        </p:nvSpPr>
        <p:spPr>
          <a:xfrm>
            <a:off x="1115568"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18–29</a:t>
            </a:r>
            <a:endParaRPr lang="en-US" sz="950" dirty="0"/>
          </a:p>
        </p:txBody>
      </p:sp>
      <p:sp>
        <p:nvSpPr>
          <p:cNvPr id="12" name="Shape 10"/>
          <p:cNvSpPr/>
          <p:nvPr/>
        </p:nvSpPr>
        <p:spPr>
          <a:xfrm>
            <a:off x="1901952"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3" name="Text 11"/>
          <p:cNvSpPr txBox="1"/>
          <p:nvPr/>
        </p:nvSpPr>
        <p:spPr>
          <a:xfrm>
            <a:off x="1975104"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30–39</a:t>
            </a:r>
            <a:endParaRPr lang="en-US" sz="950" dirty="0"/>
          </a:p>
        </p:txBody>
      </p:sp>
      <p:sp>
        <p:nvSpPr>
          <p:cNvPr id="14" name="Shape 12"/>
          <p:cNvSpPr/>
          <p:nvPr/>
        </p:nvSpPr>
        <p:spPr>
          <a:xfrm>
            <a:off x="2761488"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5" name="Text 13"/>
          <p:cNvSpPr txBox="1"/>
          <p:nvPr/>
        </p:nvSpPr>
        <p:spPr>
          <a:xfrm>
            <a:off x="2834640"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40–49</a:t>
            </a:r>
            <a:endParaRPr lang="en-US" sz="950" dirty="0"/>
          </a:p>
        </p:txBody>
      </p:sp>
      <p:sp>
        <p:nvSpPr>
          <p:cNvPr id="16" name="Shape 14"/>
          <p:cNvSpPr/>
          <p:nvPr/>
        </p:nvSpPr>
        <p:spPr>
          <a:xfrm>
            <a:off x="3621024" y="3730752"/>
            <a:ext cx="749808" cy="283464"/>
          </a:xfrm>
          <a:prstGeom prst="roundRect">
            <a:avLst>
              <a:gd name="adj" fmla="val 32258"/>
            </a:avLst>
          </a:prstGeom>
          <a:solidFill>
            <a:srgbClr val="FFF1E3"/>
          </a:solidFill>
          <a:ln w="12700">
            <a:solidFill>
              <a:srgbClr val="FFF1E3">
                <a:alpha val="0"/>
              </a:srgbClr>
            </a:solidFill>
            <a:prstDash val="solid"/>
          </a:ln>
        </p:spPr>
        <p:txBody>
          <a:bodyPr/>
          <a:lstStyle/>
          <a:p>
            <a:endParaRPr lang="en-US"/>
          </a:p>
        </p:txBody>
      </p:sp>
      <p:sp>
        <p:nvSpPr>
          <p:cNvPr id="17" name="Text 15"/>
          <p:cNvSpPr txBox="1"/>
          <p:nvPr/>
        </p:nvSpPr>
        <p:spPr>
          <a:xfrm>
            <a:off x="3694176"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9A5B00"/>
                </a:solidFill>
                <a:latin typeface="Aptos" pitchFamily="34" charset="0"/>
                <a:ea typeface="Aptos" pitchFamily="34" charset="-122"/>
                <a:cs typeface="Aptos" pitchFamily="34" charset="-120"/>
              </a:rPr>
              <a:t>50–59</a:t>
            </a:r>
            <a:endParaRPr lang="en-US" sz="950" dirty="0"/>
          </a:p>
        </p:txBody>
      </p:sp>
      <p:sp>
        <p:nvSpPr>
          <p:cNvPr id="18" name="Shape 16"/>
          <p:cNvSpPr/>
          <p:nvPr/>
        </p:nvSpPr>
        <p:spPr>
          <a:xfrm>
            <a:off x="4480560" y="3730752"/>
            <a:ext cx="749808"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19" name="Text 17"/>
          <p:cNvSpPr txBox="1"/>
          <p:nvPr/>
        </p:nvSpPr>
        <p:spPr>
          <a:xfrm>
            <a:off x="4553712" y="3739896"/>
            <a:ext cx="603504"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60+</a:t>
            </a:r>
            <a:endParaRPr lang="en-US" sz="950" dirty="0"/>
          </a:p>
        </p:txBody>
      </p:sp>
      <p:sp>
        <p:nvSpPr>
          <p:cNvPr id="20" name="Text 18"/>
          <p:cNvSpPr txBox="1"/>
          <p:nvPr/>
        </p:nvSpPr>
        <p:spPr>
          <a:xfrm>
            <a:off x="1033272" y="4443984"/>
            <a:ext cx="4343400" cy="548640"/>
          </a:xfrm>
          <a:prstGeom prst="rect">
            <a:avLst/>
          </a:prstGeom>
          <a:noFill/>
          <a:ln/>
        </p:spPr>
        <p:txBody>
          <a:bodyPr wrap="square" lIns="0" tIns="0" rIns="0" bIns="0" rtlCol="0" anchor="t">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Reason: compare churn rates by life-stage-like age groups.</a:t>
            </a:r>
            <a:endParaRPr lang="en-US" sz="1250" dirty="0"/>
          </a:p>
        </p:txBody>
      </p:sp>
      <p:sp>
        <p:nvSpPr>
          <p:cNvPr id="21" name="Shape 19"/>
          <p:cNvSpPr/>
          <p:nvPr/>
        </p:nvSpPr>
        <p:spPr>
          <a:xfrm>
            <a:off x="6236208" y="1773936"/>
            <a:ext cx="5138928" cy="3584448"/>
          </a:xfrm>
          <a:prstGeom prst="roundRect">
            <a:avLst>
              <a:gd name="adj" fmla="val 3061"/>
            </a:avLst>
          </a:prstGeom>
          <a:solidFill>
            <a:srgbClr val="FFFFFF"/>
          </a:solidFill>
          <a:ln w="10160">
            <a:solidFill>
              <a:srgbClr val="D9E2EC"/>
            </a:solidFill>
            <a:prstDash val="solid"/>
          </a:ln>
        </p:spPr>
        <p:txBody>
          <a:bodyPr/>
          <a:lstStyle/>
          <a:p>
            <a:endParaRPr lang="en-US"/>
          </a:p>
        </p:txBody>
      </p:sp>
      <p:sp>
        <p:nvSpPr>
          <p:cNvPr id="22" name="Shape 20"/>
          <p:cNvSpPr/>
          <p:nvPr/>
        </p:nvSpPr>
        <p:spPr>
          <a:xfrm>
            <a:off x="6519672" y="2057400"/>
            <a:ext cx="1481328"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23" name="Text 21"/>
          <p:cNvSpPr txBox="1"/>
          <p:nvPr/>
        </p:nvSpPr>
        <p:spPr>
          <a:xfrm>
            <a:off x="6592824" y="2066544"/>
            <a:ext cx="1335024"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NEW FEATURE 02</a:t>
            </a:r>
            <a:endParaRPr lang="en-US" sz="950" dirty="0"/>
          </a:p>
        </p:txBody>
      </p:sp>
      <p:sp>
        <p:nvSpPr>
          <p:cNvPr id="24" name="Text 22"/>
          <p:cNvSpPr txBox="1"/>
          <p:nvPr/>
        </p:nvSpPr>
        <p:spPr>
          <a:xfrm>
            <a:off x="6519672" y="2587752"/>
            <a:ext cx="4297680"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HasBalance</a:t>
            </a:r>
            <a:endParaRPr lang="en-US" sz="2500" dirty="0"/>
          </a:p>
        </p:txBody>
      </p:sp>
      <p:sp>
        <p:nvSpPr>
          <p:cNvPr id="25" name="Text 23"/>
          <p:cNvSpPr txBox="1"/>
          <p:nvPr/>
        </p:nvSpPr>
        <p:spPr>
          <a:xfrm>
            <a:off x="6519672" y="3136392"/>
            <a:ext cx="4389120" cy="301752"/>
          </a:xfrm>
          <a:prstGeom prst="rect">
            <a:avLst/>
          </a:prstGeom>
          <a:noFill/>
          <a:ln/>
        </p:spPr>
        <p:txBody>
          <a:bodyPr wrap="square" lIns="0" tIns="0" rIns="0" bIns="0" rtlCol="0" anchor="ctr">
            <a:normAutofit/>
          </a:bodyPr>
          <a:lstStyle/>
          <a:p>
            <a:pPr marL="0" indent="0" algn="l">
              <a:buNone/>
            </a:pPr>
            <a:r>
              <a:rPr lang="en-US" sz="1400" dirty="0">
                <a:solidFill>
                  <a:srgbClr val="52606D"/>
                </a:solidFill>
                <a:latin typeface="Aptos" pitchFamily="34" charset="0"/>
                <a:ea typeface="Aptos" pitchFamily="34" charset="-122"/>
                <a:cs typeface="Aptos" pitchFamily="34" charset="-120"/>
              </a:rPr>
              <a:t>Convert Balance into a simple binary flag:</a:t>
            </a:r>
            <a:endParaRPr lang="en-US" sz="1400" dirty="0"/>
          </a:p>
        </p:txBody>
      </p:sp>
      <p:sp>
        <p:nvSpPr>
          <p:cNvPr id="26" name="Shape 24"/>
          <p:cNvSpPr/>
          <p:nvPr/>
        </p:nvSpPr>
        <p:spPr>
          <a:xfrm>
            <a:off x="6519672" y="3730752"/>
            <a:ext cx="1856232" cy="283464"/>
          </a:xfrm>
          <a:prstGeom prst="roundRect">
            <a:avLst>
              <a:gd name="adj" fmla="val 32258"/>
            </a:avLst>
          </a:prstGeom>
          <a:solidFill>
            <a:srgbClr val="E7EFF8"/>
          </a:solidFill>
          <a:ln w="12700">
            <a:solidFill>
              <a:srgbClr val="E7EFF8">
                <a:alpha val="0"/>
              </a:srgbClr>
            </a:solidFill>
            <a:prstDash val="solid"/>
          </a:ln>
        </p:spPr>
        <p:txBody>
          <a:bodyPr/>
          <a:lstStyle/>
          <a:p>
            <a:endParaRPr lang="en-US"/>
          </a:p>
        </p:txBody>
      </p:sp>
      <p:sp>
        <p:nvSpPr>
          <p:cNvPr id="27" name="Text 25"/>
          <p:cNvSpPr txBox="1"/>
          <p:nvPr/>
        </p:nvSpPr>
        <p:spPr>
          <a:xfrm>
            <a:off x="6592824" y="3739896"/>
            <a:ext cx="1709928"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 = zero balance</a:t>
            </a:r>
            <a:endParaRPr lang="en-US" sz="950" dirty="0"/>
          </a:p>
        </p:txBody>
      </p:sp>
      <p:sp>
        <p:nvSpPr>
          <p:cNvPr id="28" name="Shape 26"/>
          <p:cNvSpPr/>
          <p:nvPr/>
        </p:nvSpPr>
        <p:spPr>
          <a:xfrm>
            <a:off x="8540496" y="3730752"/>
            <a:ext cx="2304288" cy="283464"/>
          </a:xfrm>
          <a:prstGeom prst="roundRect">
            <a:avLst>
              <a:gd name="adj" fmla="val 32258"/>
            </a:avLst>
          </a:prstGeom>
          <a:solidFill>
            <a:srgbClr val="E1F6F5"/>
          </a:solidFill>
          <a:ln w="12700">
            <a:solidFill>
              <a:srgbClr val="E1F6F5">
                <a:alpha val="0"/>
              </a:srgbClr>
            </a:solidFill>
            <a:prstDash val="solid"/>
          </a:ln>
        </p:spPr>
        <p:txBody>
          <a:bodyPr/>
          <a:lstStyle/>
          <a:p>
            <a:endParaRPr lang="en-US"/>
          </a:p>
        </p:txBody>
      </p:sp>
      <p:sp>
        <p:nvSpPr>
          <p:cNvPr id="29" name="Text 27"/>
          <p:cNvSpPr txBox="1"/>
          <p:nvPr/>
        </p:nvSpPr>
        <p:spPr>
          <a:xfrm>
            <a:off x="8613648" y="3739896"/>
            <a:ext cx="2157984" cy="228600"/>
          </a:xfrm>
          <a:prstGeom prst="rect">
            <a:avLst/>
          </a:prstGeom>
          <a:noFill/>
          <a:ln/>
        </p:spPr>
        <p:txBody>
          <a:bodyPr wrap="square" lIns="0" tIns="0" rIns="0" bIns="0" rtlCol="0" anchor="ctr">
            <a:normAutofit/>
          </a:bodyPr>
          <a:lstStyle/>
          <a:p>
            <a:pPr marL="0" indent="0" algn="ctr">
              <a:buNone/>
            </a:pPr>
            <a:r>
              <a:rPr lang="en-US" sz="950" b="1" dirty="0">
                <a:solidFill>
                  <a:srgbClr val="007C7C"/>
                </a:solidFill>
                <a:latin typeface="Aptos" pitchFamily="34" charset="0"/>
                <a:ea typeface="Aptos" pitchFamily="34" charset="-122"/>
                <a:cs typeface="Aptos" pitchFamily="34" charset="-120"/>
              </a:rPr>
              <a:t>1 = positive balance</a:t>
            </a:r>
            <a:endParaRPr lang="en-US" sz="950" dirty="0"/>
          </a:p>
        </p:txBody>
      </p:sp>
      <p:sp>
        <p:nvSpPr>
          <p:cNvPr id="30" name="Text 28"/>
          <p:cNvSpPr txBox="1"/>
          <p:nvPr/>
        </p:nvSpPr>
        <p:spPr>
          <a:xfrm>
            <a:off x="6519672" y="4443984"/>
            <a:ext cx="4389120" cy="548640"/>
          </a:xfrm>
          <a:prstGeom prst="rect">
            <a:avLst/>
          </a:prstGeom>
          <a:noFill/>
          <a:ln/>
        </p:spPr>
        <p:txBody>
          <a:bodyPr wrap="square" lIns="0" tIns="0" rIns="0" bIns="0" rtlCol="0" anchor="t">
            <a:normAutofit/>
          </a:bodyPr>
          <a:lstStyle/>
          <a:p>
            <a:pPr marL="0" indent="0" algn="l">
              <a:buNone/>
            </a:pPr>
            <a:r>
              <a:rPr lang="en-US" sz="1250" dirty="0">
                <a:solidFill>
                  <a:srgbClr val="243B53"/>
                </a:solidFill>
                <a:latin typeface="Aptos" pitchFamily="34" charset="0"/>
                <a:ea typeface="Aptos" pitchFamily="34" charset="-122"/>
                <a:cs typeface="Aptos" pitchFamily="34" charset="-120"/>
              </a:rPr>
              <a:t>Reason: compare customers by balance status.</a:t>
            </a:r>
            <a:endParaRPr lang="en-US" sz="1250" dirty="0"/>
          </a:p>
        </p:txBody>
      </p:sp>
      <p:sp>
        <p:nvSpPr>
          <p:cNvPr id="31" name="Shape 29"/>
          <p:cNvSpPr/>
          <p:nvPr/>
        </p:nvSpPr>
        <p:spPr>
          <a:xfrm>
            <a:off x="786384" y="5596128"/>
            <a:ext cx="10570464" cy="411480"/>
          </a:xfrm>
          <a:prstGeom prst="roundRect">
            <a:avLst>
              <a:gd name="adj" fmla="val 26667"/>
            </a:avLst>
          </a:prstGeom>
          <a:solidFill>
            <a:srgbClr val="FFF1E3"/>
          </a:solidFill>
          <a:ln w="10160">
            <a:solidFill>
              <a:srgbClr val="FFF1E3">
                <a:alpha val="0"/>
              </a:srgbClr>
            </a:solidFill>
            <a:prstDash val="solid"/>
          </a:ln>
        </p:spPr>
        <p:txBody>
          <a:bodyPr/>
          <a:lstStyle/>
          <a:p>
            <a:endParaRPr lang="en-US"/>
          </a:p>
        </p:txBody>
      </p:sp>
      <p:sp>
        <p:nvSpPr>
          <p:cNvPr id="32" name="Text 30"/>
          <p:cNvSpPr txBox="1"/>
          <p:nvPr/>
        </p:nvSpPr>
        <p:spPr>
          <a:xfrm>
            <a:off x="960120" y="5660136"/>
            <a:ext cx="10204704" cy="219456"/>
          </a:xfrm>
          <a:prstGeom prst="rect">
            <a:avLst/>
          </a:prstGeom>
          <a:noFill/>
          <a:ln/>
        </p:spPr>
        <p:txBody>
          <a:bodyPr wrap="square" lIns="0" tIns="0" rIns="0" bIns="0" rtlCol="0" anchor="ctr">
            <a:normAutofit/>
          </a:bodyPr>
          <a:lstStyle/>
          <a:p>
            <a:pPr marL="0" indent="0" algn="ctr">
              <a:buNone/>
            </a:pPr>
            <a:r>
              <a:rPr lang="en-US" sz="1100" b="1" dirty="0">
                <a:solidFill>
                  <a:srgbClr val="8A4B08"/>
                </a:solidFill>
                <a:latin typeface="Aptos" pitchFamily="34" charset="0"/>
                <a:ea typeface="Aptos" pitchFamily="34" charset="-122"/>
                <a:cs typeface="Aptos" pitchFamily="34" charset="-120"/>
              </a:rPr>
              <a:t>AgeGroup is created after filling missing Age values using the training-set median.</a:t>
            </a:r>
            <a:endParaRPr lang="en-US" sz="1100" dirty="0"/>
          </a:p>
        </p:txBody>
      </p:sp>
      <p:sp>
        <p:nvSpPr>
          <p:cNvPr id="33" name="Shape 31"/>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4" name="Text 32"/>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35"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11 / PREPROCESSING PIPELINE</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The preparation pipeline is explicit and reproducible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The split happens before the pipeline learns imputation, scaling, or encoding values.</a:t>
            </a:r>
            <a:endParaRPr lang="en-US" sz="1250" dirty="0"/>
          </a:p>
        </p:txBody>
      </p:sp>
      <p:sp>
        <p:nvSpPr>
          <p:cNvPr id="5" name="Shape 3"/>
          <p:cNvSpPr/>
          <p:nvPr/>
        </p:nvSpPr>
        <p:spPr>
          <a:xfrm>
            <a:off x="685800" y="2176272"/>
            <a:ext cx="1828800" cy="2286000"/>
          </a:xfrm>
          <a:prstGeom prst="roundRect">
            <a:avLst>
              <a:gd name="adj" fmla="val 6000"/>
            </a:avLst>
          </a:prstGeom>
          <a:solidFill>
            <a:srgbClr val="E7EFF8"/>
          </a:solidFill>
          <a:ln w="10160">
            <a:solidFill>
              <a:srgbClr val="E7EFF8"/>
            </a:solidFill>
            <a:prstDash val="solid"/>
          </a:ln>
        </p:spPr>
        <p:txBody>
          <a:bodyPr/>
          <a:lstStyle/>
          <a:p>
            <a:endParaRPr lang="en-US"/>
          </a:p>
        </p:txBody>
      </p:sp>
      <p:sp>
        <p:nvSpPr>
          <p:cNvPr id="6" name="Shape 4"/>
          <p:cNvSpPr/>
          <p:nvPr/>
        </p:nvSpPr>
        <p:spPr>
          <a:xfrm>
            <a:off x="832104"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7" name="Text 5"/>
          <p:cNvSpPr txBox="1"/>
          <p:nvPr/>
        </p:nvSpPr>
        <p:spPr>
          <a:xfrm>
            <a:off x="905256"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3D5A80"/>
                </a:solidFill>
                <a:latin typeface="Aptos" pitchFamily="34" charset="0"/>
                <a:ea typeface="Aptos" pitchFamily="34" charset="-122"/>
                <a:cs typeface="Aptos" pitchFamily="34" charset="-120"/>
              </a:rPr>
              <a:t>01</a:t>
            </a:r>
            <a:endParaRPr lang="en-US" sz="950" dirty="0"/>
          </a:p>
        </p:txBody>
      </p:sp>
      <p:sp>
        <p:nvSpPr>
          <p:cNvPr id="8" name="Text 6"/>
          <p:cNvSpPr txBox="1"/>
          <p:nvPr/>
        </p:nvSpPr>
        <p:spPr>
          <a:xfrm>
            <a:off x="832104"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Cleaned data</a:t>
            </a:r>
            <a:endParaRPr lang="en-US" sz="1550" dirty="0"/>
          </a:p>
        </p:txBody>
      </p:sp>
      <p:sp>
        <p:nvSpPr>
          <p:cNvPr id="9" name="Text 7"/>
          <p:cNvSpPr txBox="1"/>
          <p:nvPr/>
        </p:nvSpPr>
        <p:spPr>
          <a:xfrm>
            <a:off x="832104"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10,000 rows</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11 columns</a:t>
            </a:r>
            <a:endParaRPr lang="en-US" sz="1200" dirty="0"/>
          </a:p>
        </p:txBody>
      </p:sp>
      <p:sp>
        <p:nvSpPr>
          <p:cNvPr id="10" name="Shape 8"/>
          <p:cNvSpPr/>
          <p:nvPr/>
        </p:nvSpPr>
        <p:spPr>
          <a:xfrm>
            <a:off x="2560320"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11" name="Shape 9"/>
          <p:cNvSpPr/>
          <p:nvPr/>
        </p:nvSpPr>
        <p:spPr>
          <a:xfrm>
            <a:off x="2761488" y="2176272"/>
            <a:ext cx="1828800" cy="2286000"/>
          </a:xfrm>
          <a:prstGeom prst="roundRect">
            <a:avLst>
              <a:gd name="adj" fmla="val 6000"/>
            </a:avLst>
          </a:prstGeom>
          <a:solidFill>
            <a:srgbClr val="E1F6F5"/>
          </a:solidFill>
          <a:ln w="10160">
            <a:solidFill>
              <a:srgbClr val="E1F6F5"/>
            </a:solidFill>
            <a:prstDash val="solid"/>
          </a:ln>
        </p:spPr>
        <p:txBody>
          <a:bodyPr/>
          <a:lstStyle/>
          <a:p>
            <a:endParaRPr lang="en-US"/>
          </a:p>
        </p:txBody>
      </p:sp>
      <p:sp>
        <p:nvSpPr>
          <p:cNvPr id="12" name="Shape 10"/>
          <p:cNvSpPr/>
          <p:nvPr/>
        </p:nvSpPr>
        <p:spPr>
          <a:xfrm>
            <a:off x="2907792"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13" name="Text 11"/>
          <p:cNvSpPr txBox="1"/>
          <p:nvPr/>
        </p:nvSpPr>
        <p:spPr>
          <a:xfrm>
            <a:off x="2980944"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00A6A6"/>
                </a:solidFill>
                <a:latin typeface="Aptos" pitchFamily="34" charset="0"/>
                <a:ea typeface="Aptos" pitchFamily="34" charset="-122"/>
                <a:cs typeface="Aptos" pitchFamily="34" charset="-120"/>
              </a:rPr>
              <a:t>02</a:t>
            </a:r>
            <a:endParaRPr lang="en-US" sz="950" dirty="0"/>
          </a:p>
        </p:txBody>
      </p:sp>
      <p:sp>
        <p:nvSpPr>
          <p:cNvPr id="14" name="Text 12"/>
          <p:cNvSpPr txBox="1"/>
          <p:nvPr/>
        </p:nvSpPr>
        <p:spPr>
          <a:xfrm>
            <a:off x="2907792"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Train / test split</a:t>
            </a:r>
            <a:endParaRPr lang="en-US" sz="1550" dirty="0"/>
          </a:p>
        </p:txBody>
      </p:sp>
      <p:sp>
        <p:nvSpPr>
          <p:cNvPr id="15" name="Text 13"/>
          <p:cNvSpPr txBox="1"/>
          <p:nvPr/>
        </p:nvSpPr>
        <p:spPr>
          <a:xfrm>
            <a:off x="2907792"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80% train</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20% test</a:t>
            </a:r>
            <a:endParaRPr lang="en-US" sz="1200" dirty="0"/>
          </a:p>
        </p:txBody>
      </p:sp>
      <p:sp>
        <p:nvSpPr>
          <p:cNvPr id="16" name="Shape 14"/>
          <p:cNvSpPr/>
          <p:nvPr/>
        </p:nvSpPr>
        <p:spPr>
          <a:xfrm>
            <a:off x="4636008"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17" name="Shape 15"/>
          <p:cNvSpPr/>
          <p:nvPr/>
        </p:nvSpPr>
        <p:spPr>
          <a:xfrm>
            <a:off x="4837176" y="2176272"/>
            <a:ext cx="1828800" cy="2286000"/>
          </a:xfrm>
          <a:prstGeom prst="roundRect">
            <a:avLst>
              <a:gd name="adj" fmla="val 6000"/>
            </a:avLst>
          </a:prstGeom>
          <a:solidFill>
            <a:srgbClr val="FFF1E3"/>
          </a:solidFill>
          <a:ln w="10160">
            <a:solidFill>
              <a:srgbClr val="FFF1E3"/>
            </a:solidFill>
            <a:prstDash val="solid"/>
          </a:ln>
        </p:spPr>
        <p:txBody>
          <a:bodyPr/>
          <a:lstStyle/>
          <a:p>
            <a:endParaRPr lang="en-US"/>
          </a:p>
        </p:txBody>
      </p:sp>
      <p:sp>
        <p:nvSpPr>
          <p:cNvPr id="18" name="Shape 16"/>
          <p:cNvSpPr/>
          <p:nvPr/>
        </p:nvSpPr>
        <p:spPr>
          <a:xfrm>
            <a:off x="4983480"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19" name="Text 17"/>
          <p:cNvSpPr txBox="1"/>
          <p:nvPr/>
        </p:nvSpPr>
        <p:spPr>
          <a:xfrm>
            <a:off x="5056632"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F4A261"/>
                </a:solidFill>
                <a:latin typeface="Aptos" pitchFamily="34" charset="0"/>
                <a:ea typeface="Aptos" pitchFamily="34" charset="-122"/>
                <a:cs typeface="Aptos" pitchFamily="34" charset="-120"/>
              </a:rPr>
              <a:t>03</a:t>
            </a:r>
            <a:endParaRPr lang="en-US" sz="950" dirty="0"/>
          </a:p>
        </p:txBody>
      </p:sp>
      <p:sp>
        <p:nvSpPr>
          <p:cNvPr id="20" name="Text 18"/>
          <p:cNvSpPr txBox="1"/>
          <p:nvPr/>
        </p:nvSpPr>
        <p:spPr>
          <a:xfrm>
            <a:off x="4983480"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Feature engineering</a:t>
            </a:r>
            <a:endParaRPr lang="en-US" sz="1550" dirty="0"/>
          </a:p>
        </p:txBody>
      </p:sp>
      <p:sp>
        <p:nvSpPr>
          <p:cNvPr id="21" name="Text 19"/>
          <p:cNvSpPr txBox="1"/>
          <p:nvPr/>
        </p:nvSpPr>
        <p:spPr>
          <a:xfrm>
            <a:off x="4983480"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AgeGroup</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HasBalance</a:t>
            </a:r>
            <a:endParaRPr lang="en-US" sz="1200" dirty="0"/>
          </a:p>
        </p:txBody>
      </p:sp>
      <p:sp>
        <p:nvSpPr>
          <p:cNvPr id="22" name="Shape 20"/>
          <p:cNvSpPr/>
          <p:nvPr/>
        </p:nvSpPr>
        <p:spPr>
          <a:xfrm>
            <a:off x="6711696"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23" name="Shape 21"/>
          <p:cNvSpPr/>
          <p:nvPr/>
        </p:nvSpPr>
        <p:spPr>
          <a:xfrm>
            <a:off x="6912864" y="2176272"/>
            <a:ext cx="1828800" cy="2286000"/>
          </a:xfrm>
          <a:prstGeom prst="roundRect">
            <a:avLst>
              <a:gd name="adj" fmla="val 6000"/>
            </a:avLst>
          </a:prstGeom>
          <a:solidFill>
            <a:srgbClr val="E5F5EF"/>
          </a:solidFill>
          <a:ln w="10160">
            <a:solidFill>
              <a:srgbClr val="E5F5EF"/>
            </a:solidFill>
            <a:prstDash val="solid"/>
          </a:ln>
        </p:spPr>
        <p:txBody>
          <a:bodyPr/>
          <a:lstStyle/>
          <a:p>
            <a:endParaRPr lang="en-US"/>
          </a:p>
        </p:txBody>
      </p:sp>
      <p:sp>
        <p:nvSpPr>
          <p:cNvPr id="24" name="Shape 22"/>
          <p:cNvSpPr/>
          <p:nvPr/>
        </p:nvSpPr>
        <p:spPr>
          <a:xfrm>
            <a:off x="7059168" y="2377440"/>
            <a:ext cx="457200" cy="283464"/>
          </a:xfrm>
          <a:prstGeom prst="roundRect">
            <a:avLst>
              <a:gd name="adj" fmla="val 32258"/>
            </a:avLst>
          </a:prstGeom>
          <a:solidFill>
            <a:srgbClr val="FFFFFF"/>
          </a:solidFill>
          <a:ln w="12700">
            <a:solidFill>
              <a:srgbClr val="FFFFFF">
                <a:alpha val="0"/>
              </a:srgbClr>
            </a:solidFill>
            <a:prstDash val="solid"/>
          </a:ln>
        </p:spPr>
        <p:txBody>
          <a:bodyPr/>
          <a:lstStyle/>
          <a:p>
            <a:endParaRPr lang="en-US"/>
          </a:p>
        </p:txBody>
      </p:sp>
      <p:sp>
        <p:nvSpPr>
          <p:cNvPr id="25" name="Text 23"/>
          <p:cNvSpPr txBox="1"/>
          <p:nvPr/>
        </p:nvSpPr>
        <p:spPr>
          <a:xfrm>
            <a:off x="7132320"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2A9D8F"/>
                </a:solidFill>
                <a:latin typeface="Aptos" pitchFamily="34" charset="0"/>
                <a:ea typeface="Aptos" pitchFamily="34" charset="-122"/>
                <a:cs typeface="Aptos" pitchFamily="34" charset="-120"/>
              </a:rPr>
              <a:t>04</a:t>
            </a:r>
            <a:endParaRPr lang="en-US" sz="950" dirty="0"/>
          </a:p>
        </p:txBody>
      </p:sp>
      <p:sp>
        <p:nvSpPr>
          <p:cNvPr id="26" name="Text 24"/>
          <p:cNvSpPr txBox="1"/>
          <p:nvPr/>
        </p:nvSpPr>
        <p:spPr>
          <a:xfrm>
            <a:off x="7059168" y="2944368"/>
            <a:ext cx="1536192" cy="502920"/>
          </a:xfrm>
          <a:prstGeom prst="rect">
            <a:avLst/>
          </a:prstGeom>
          <a:noFill/>
          <a:ln/>
        </p:spPr>
        <p:txBody>
          <a:bodyPr wrap="square" lIns="0" tIns="0" rIns="0" bIns="0" rtlCol="0" anchor="t">
            <a:normAutofit/>
          </a:bodyPr>
          <a:lstStyle/>
          <a:p>
            <a:pPr marL="0" indent="0" algn="l">
              <a:buNone/>
            </a:pPr>
            <a:r>
              <a:rPr lang="en-US" sz="1550" b="1" dirty="0">
                <a:solidFill>
                  <a:srgbClr val="102A43"/>
                </a:solidFill>
                <a:latin typeface="Aptos" pitchFamily="34" charset="0"/>
                <a:ea typeface="Aptos" pitchFamily="34" charset="-122"/>
                <a:cs typeface="Aptos" pitchFamily="34" charset="-120"/>
              </a:rPr>
              <a:t>Transform features</a:t>
            </a:r>
            <a:endParaRPr lang="en-US" sz="1550" dirty="0"/>
          </a:p>
        </p:txBody>
      </p:sp>
      <p:sp>
        <p:nvSpPr>
          <p:cNvPr id="27" name="Text 25"/>
          <p:cNvSpPr txBox="1"/>
          <p:nvPr/>
        </p:nvSpPr>
        <p:spPr>
          <a:xfrm>
            <a:off x="7059168" y="3584448"/>
            <a:ext cx="1536192" cy="594360"/>
          </a:xfrm>
          <a:prstGeom prst="rect">
            <a:avLst/>
          </a:prstGeom>
          <a:noFill/>
          <a:ln/>
        </p:spPr>
        <p:txBody>
          <a:bodyPr wrap="square" lIns="0" tIns="0" rIns="0" bIns="0" rtlCol="0" anchor="t">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Impute + scale</a:t>
            </a:r>
            <a:endParaRPr lang="en-US" sz="1200" dirty="0"/>
          </a:p>
          <a:p>
            <a:pPr marL="0" indent="0" algn="l">
              <a:buNone/>
            </a:pPr>
            <a:r>
              <a:rPr lang="en-US" sz="1200" dirty="0">
                <a:solidFill>
                  <a:srgbClr val="52606D"/>
                </a:solidFill>
                <a:latin typeface="Aptos" pitchFamily="34" charset="0"/>
                <a:ea typeface="Aptos" pitchFamily="34" charset="-122"/>
                <a:cs typeface="Aptos" pitchFamily="34" charset="-120"/>
              </a:rPr>
              <a:t>One-hot encode</a:t>
            </a:r>
            <a:endParaRPr lang="en-US" sz="1200" dirty="0"/>
          </a:p>
        </p:txBody>
      </p:sp>
      <p:sp>
        <p:nvSpPr>
          <p:cNvPr id="28" name="Shape 26"/>
          <p:cNvSpPr/>
          <p:nvPr/>
        </p:nvSpPr>
        <p:spPr>
          <a:xfrm>
            <a:off x="8787384" y="2926080"/>
            <a:ext cx="182880" cy="384048"/>
          </a:xfrm>
          <a:prstGeom prst="chevron">
            <a:avLst/>
          </a:prstGeom>
          <a:solidFill>
            <a:srgbClr val="00A6A6"/>
          </a:solidFill>
          <a:ln w="12700">
            <a:solidFill>
              <a:srgbClr val="00A6A6">
                <a:alpha val="0"/>
              </a:srgbClr>
            </a:solidFill>
            <a:prstDash val="solid"/>
          </a:ln>
        </p:spPr>
        <p:txBody>
          <a:bodyPr/>
          <a:lstStyle/>
          <a:p>
            <a:endParaRPr lang="en-US"/>
          </a:p>
        </p:txBody>
      </p:sp>
      <p:sp>
        <p:nvSpPr>
          <p:cNvPr id="29" name="Shape 27"/>
          <p:cNvSpPr/>
          <p:nvPr/>
        </p:nvSpPr>
        <p:spPr>
          <a:xfrm>
            <a:off x="8988552" y="2176272"/>
            <a:ext cx="2359152" cy="2286000"/>
          </a:xfrm>
          <a:prstGeom prst="roundRect">
            <a:avLst>
              <a:gd name="adj" fmla="val 4800"/>
            </a:avLst>
          </a:prstGeom>
          <a:solidFill>
            <a:srgbClr val="102A43"/>
          </a:solidFill>
          <a:ln w="10160">
            <a:solidFill>
              <a:srgbClr val="102A43"/>
            </a:solidFill>
            <a:prstDash val="solid"/>
          </a:ln>
        </p:spPr>
        <p:txBody>
          <a:bodyPr/>
          <a:lstStyle/>
          <a:p>
            <a:endParaRPr lang="en-US"/>
          </a:p>
        </p:txBody>
      </p:sp>
      <p:sp>
        <p:nvSpPr>
          <p:cNvPr id="30" name="Shape 28"/>
          <p:cNvSpPr/>
          <p:nvPr/>
        </p:nvSpPr>
        <p:spPr>
          <a:xfrm>
            <a:off x="9134856" y="2377440"/>
            <a:ext cx="457200" cy="283464"/>
          </a:xfrm>
          <a:prstGeom prst="roundRect">
            <a:avLst>
              <a:gd name="adj" fmla="val 32258"/>
            </a:avLst>
          </a:prstGeom>
          <a:solidFill>
            <a:srgbClr val="486581"/>
          </a:solidFill>
          <a:ln w="12700">
            <a:solidFill>
              <a:srgbClr val="486581">
                <a:alpha val="0"/>
              </a:srgbClr>
            </a:solidFill>
            <a:prstDash val="solid"/>
          </a:ln>
        </p:spPr>
        <p:txBody>
          <a:bodyPr/>
          <a:lstStyle/>
          <a:p>
            <a:endParaRPr lang="en-US"/>
          </a:p>
        </p:txBody>
      </p:sp>
      <p:sp>
        <p:nvSpPr>
          <p:cNvPr id="31" name="Text 29"/>
          <p:cNvSpPr txBox="1"/>
          <p:nvPr/>
        </p:nvSpPr>
        <p:spPr>
          <a:xfrm>
            <a:off x="9208008" y="2386584"/>
            <a:ext cx="310896" cy="22860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05</a:t>
            </a:r>
            <a:endParaRPr lang="en-US" sz="950" dirty="0"/>
          </a:p>
        </p:txBody>
      </p:sp>
      <p:sp>
        <p:nvSpPr>
          <p:cNvPr id="32" name="Text 30"/>
          <p:cNvSpPr txBox="1"/>
          <p:nvPr/>
        </p:nvSpPr>
        <p:spPr>
          <a:xfrm>
            <a:off x="9134856" y="2944368"/>
            <a:ext cx="2066544" cy="502920"/>
          </a:xfrm>
          <a:prstGeom prst="rect">
            <a:avLst/>
          </a:prstGeom>
          <a:noFill/>
          <a:ln/>
        </p:spPr>
        <p:txBody>
          <a:bodyPr wrap="square" lIns="0" tIns="0" rIns="0" bIns="0" rtlCol="0" anchor="t">
            <a:normAutofit/>
          </a:bodyPr>
          <a:lstStyle/>
          <a:p>
            <a:pPr marL="0" indent="0" algn="l">
              <a:buNone/>
            </a:pPr>
            <a:r>
              <a:rPr lang="en-US" sz="1550" b="1" dirty="0">
                <a:solidFill>
                  <a:srgbClr val="FFFFFF"/>
                </a:solidFill>
                <a:latin typeface="Aptos" pitchFamily="34" charset="0"/>
                <a:ea typeface="Aptos" pitchFamily="34" charset="-122"/>
                <a:cs typeface="Aptos" pitchFamily="34" charset="-120"/>
              </a:rPr>
              <a:t>Model-ready files</a:t>
            </a:r>
            <a:endParaRPr lang="en-US" sz="1550" dirty="0"/>
          </a:p>
        </p:txBody>
      </p:sp>
      <p:sp>
        <p:nvSpPr>
          <p:cNvPr id="33" name="Text 31"/>
          <p:cNvSpPr txBox="1"/>
          <p:nvPr/>
        </p:nvSpPr>
        <p:spPr>
          <a:xfrm>
            <a:off x="9134856" y="3584448"/>
            <a:ext cx="2066544" cy="594360"/>
          </a:xfrm>
          <a:prstGeom prst="rect">
            <a:avLst/>
          </a:prstGeom>
          <a:noFill/>
          <a:ln/>
        </p:spPr>
        <p:txBody>
          <a:bodyPr wrap="square" lIns="0" tIns="0" rIns="0" bIns="0" rtlCol="0" anchor="t">
            <a:normAutofit/>
          </a:bodyPr>
          <a:lstStyle/>
          <a:p>
            <a:pPr marL="0" indent="0" algn="l">
              <a:buNone/>
            </a:pPr>
            <a:r>
              <a:rPr lang="en-US" sz="1200" dirty="0">
                <a:solidFill>
                  <a:srgbClr val="D9E2EC"/>
                </a:solidFill>
                <a:latin typeface="Aptos" pitchFamily="34" charset="0"/>
                <a:ea typeface="Aptos" pitchFamily="34" charset="-122"/>
                <a:cs typeface="Aptos" pitchFamily="34" charset="-120"/>
              </a:rPr>
              <a:t>Train: 8,000 rows</a:t>
            </a:r>
            <a:endParaRPr lang="en-US" sz="1200" dirty="0"/>
          </a:p>
          <a:p>
            <a:pPr marL="0" indent="0" algn="l">
              <a:buNone/>
            </a:pPr>
            <a:r>
              <a:rPr lang="en-US" sz="1200" dirty="0">
                <a:solidFill>
                  <a:srgbClr val="D9E2EC"/>
                </a:solidFill>
                <a:latin typeface="Aptos" pitchFamily="34" charset="0"/>
                <a:ea typeface="Aptos" pitchFamily="34" charset="-122"/>
                <a:cs typeface="Aptos" pitchFamily="34" charset="-120"/>
              </a:rPr>
              <a:t>Test: 2,000 rows</a:t>
            </a:r>
            <a:endParaRPr lang="en-US" sz="1200" dirty="0"/>
          </a:p>
        </p:txBody>
      </p:sp>
      <p:sp>
        <p:nvSpPr>
          <p:cNvPr id="34" name="Text 32"/>
          <p:cNvSpPr txBox="1"/>
          <p:nvPr/>
        </p:nvSpPr>
        <p:spPr>
          <a:xfrm>
            <a:off x="868680" y="4956048"/>
            <a:ext cx="2011680" cy="274320"/>
          </a:xfrm>
          <a:prstGeom prst="rect">
            <a:avLst/>
          </a:prstGeom>
          <a:noFill/>
          <a:ln/>
        </p:spPr>
        <p:txBody>
          <a:bodyPr wrap="square" lIns="0" tIns="0" rIns="0" bIns="0" rtlCol="0" anchor="ctr">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Numeric features</a:t>
            </a:r>
            <a:endParaRPr lang="en-US" sz="1200" dirty="0"/>
          </a:p>
        </p:txBody>
      </p:sp>
      <p:sp>
        <p:nvSpPr>
          <p:cNvPr id="35" name="Text 33"/>
          <p:cNvSpPr txBox="1"/>
          <p:nvPr/>
        </p:nvSpPr>
        <p:spPr>
          <a:xfrm>
            <a:off x="2606040" y="4956048"/>
            <a:ext cx="3108960" cy="274320"/>
          </a:xfrm>
          <a:prstGeom prst="rect">
            <a:avLst/>
          </a:prstGeom>
          <a:noFill/>
          <a:ln/>
        </p:spPr>
        <p:txBody>
          <a:bodyPr wrap="square" lIns="0" tIns="0" rIns="0" bIns="0" rtlCol="0" anchor="ctr">
            <a:normAutofit/>
          </a:bodyPr>
          <a:lstStyle/>
          <a:p>
            <a:pPr marL="0" indent="0" algn="l">
              <a:buNone/>
            </a:pPr>
            <a:r>
              <a:rPr lang="en-US" sz="1200" dirty="0">
                <a:solidFill>
                  <a:srgbClr val="52606D"/>
                </a:solidFill>
                <a:latin typeface="Aptos" pitchFamily="34" charset="0"/>
                <a:ea typeface="Aptos" pitchFamily="34" charset="-122"/>
                <a:cs typeface="Aptos" pitchFamily="34" charset="-120"/>
              </a:rPr>
              <a:t>Median imputation  →  StandardScaler</a:t>
            </a:r>
            <a:endParaRPr lang="en-US" sz="1200" dirty="0"/>
          </a:p>
        </p:txBody>
      </p:sp>
      <p:sp>
        <p:nvSpPr>
          <p:cNvPr id="36" name="Text 34"/>
          <p:cNvSpPr txBox="1"/>
          <p:nvPr/>
        </p:nvSpPr>
        <p:spPr>
          <a:xfrm>
            <a:off x="5760720" y="4956048"/>
            <a:ext cx="1965960" cy="274320"/>
          </a:xfrm>
          <a:prstGeom prst="rect">
            <a:avLst/>
          </a:prstGeom>
          <a:noFill/>
          <a:ln/>
        </p:spPr>
        <p:txBody>
          <a:bodyPr wrap="square" lIns="0" tIns="0" rIns="0" bIns="0" rtlCol="0" anchor="ctr">
            <a:normAutofit/>
          </a:bodyPr>
          <a:lstStyle/>
          <a:p>
            <a:pPr marL="0" indent="0" algn="l">
              <a:buNone/>
            </a:pPr>
            <a:r>
              <a:rPr lang="en-US" sz="1200" b="1" dirty="0">
                <a:solidFill>
                  <a:srgbClr val="102A43"/>
                </a:solidFill>
                <a:latin typeface="Aptos" pitchFamily="34" charset="0"/>
                <a:ea typeface="Aptos" pitchFamily="34" charset="-122"/>
                <a:cs typeface="Aptos" pitchFamily="34" charset="-120"/>
              </a:rPr>
              <a:t>Categorical features</a:t>
            </a:r>
            <a:endParaRPr lang="en-US" sz="1200" dirty="0"/>
          </a:p>
        </p:txBody>
      </p:sp>
      <p:sp>
        <p:nvSpPr>
          <p:cNvPr id="37" name="Text 35"/>
          <p:cNvSpPr txBox="1"/>
          <p:nvPr/>
        </p:nvSpPr>
        <p:spPr>
          <a:xfrm>
            <a:off x="7653528" y="4956048"/>
            <a:ext cx="3383280" cy="274320"/>
          </a:xfrm>
          <a:prstGeom prst="rect">
            <a:avLst/>
          </a:prstGeom>
          <a:noFill/>
          <a:ln/>
        </p:spPr>
        <p:txBody>
          <a:bodyPr wrap="square" lIns="0" tIns="0" rIns="0" bIns="0" rtlCol="0" anchor="ctr">
            <a:normAutofit/>
          </a:bodyPr>
          <a:lstStyle/>
          <a:p>
            <a:pPr marL="0" indent="0" algn="l">
              <a:buNone/>
            </a:pPr>
            <a:r>
              <a:rPr lang="en-US" sz="1100" dirty="0">
                <a:solidFill>
                  <a:srgbClr val="52606D"/>
                </a:solidFill>
                <a:latin typeface="Aptos" pitchFamily="34" charset="0"/>
                <a:ea typeface="Aptos" pitchFamily="34" charset="-122"/>
                <a:cs typeface="Aptos" pitchFamily="34" charset="-120"/>
              </a:rPr>
              <a:t>Most-frequent imputation  →  One-hot encoding</a:t>
            </a:r>
            <a:endParaRPr lang="en-US" sz="1100" dirty="0"/>
          </a:p>
        </p:txBody>
      </p:sp>
      <p:sp>
        <p:nvSpPr>
          <p:cNvPr id="38" name="Shape 36"/>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9" name="Text 37"/>
          <p:cNvSpPr txBox="1"/>
          <p:nvPr/>
        </p:nvSpPr>
        <p:spPr>
          <a:xfrm>
            <a:off x="621792" y="6487600"/>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0"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12 / LEAKAGE PREVENTION</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How the workflow avoids data leakage</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All learned preprocessing values come from the training set only.</a:t>
            </a:r>
            <a:endParaRPr lang="en-US" sz="1250" dirty="0"/>
          </a:p>
        </p:txBody>
      </p:sp>
      <p:sp>
        <p:nvSpPr>
          <p:cNvPr id="5" name="Shape 3"/>
          <p:cNvSpPr/>
          <p:nvPr/>
        </p:nvSpPr>
        <p:spPr>
          <a:xfrm>
            <a:off x="749808" y="1783080"/>
            <a:ext cx="4828032" cy="3566160"/>
          </a:xfrm>
          <a:prstGeom prst="roundRect">
            <a:avLst>
              <a:gd name="adj" fmla="val 3077"/>
            </a:avLst>
          </a:prstGeom>
          <a:solidFill>
            <a:srgbClr val="FFFFFF"/>
          </a:solidFill>
          <a:ln w="10160">
            <a:solidFill>
              <a:srgbClr val="D9E2EC"/>
            </a:solidFill>
            <a:prstDash val="solid"/>
          </a:ln>
        </p:spPr>
        <p:txBody>
          <a:bodyPr/>
          <a:lstStyle/>
          <a:p>
            <a:endParaRPr lang="en-US"/>
          </a:p>
        </p:txBody>
      </p:sp>
      <p:sp>
        <p:nvSpPr>
          <p:cNvPr id="6" name="Text 4"/>
          <p:cNvSpPr txBox="1"/>
          <p:nvPr/>
        </p:nvSpPr>
        <p:spPr>
          <a:xfrm>
            <a:off x="1078992" y="2084832"/>
            <a:ext cx="4023360" cy="320040"/>
          </a:xfrm>
          <a:prstGeom prst="rect">
            <a:avLst/>
          </a:prstGeom>
          <a:noFill/>
          <a:ln/>
        </p:spPr>
        <p:txBody>
          <a:bodyPr wrap="square" lIns="0" tIns="0" rIns="0" bIns="0" rtlCol="0" anchor="ctr">
            <a:normAutofit/>
          </a:bodyPr>
          <a:lstStyle/>
          <a:p>
            <a:pPr marL="0" indent="0" algn="l">
              <a:buNone/>
            </a:pPr>
            <a:r>
              <a:rPr lang="en-US" sz="1500" b="1" dirty="0">
                <a:solidFill>
                  <a:srgbClr val="00A6A6"/>
                </a:solidFill>
                <a:latin typeface="Aptos" pitchFamily="34" charset="0"/>
                <a:ea typeface="Aptos" pitchFamily="34" charset="-122"/>
                <a:cs typeface="Aptos" pitchFamily="34" charset="-120"/>
              </a:rPr>
              <a:t>TRAINING SET</a:t>
            </a:r>
            <a:endParaRPr lang="en-US" sz="1500" dirty="0"/>
          </a:p>
        </p:txBody>
      </p:sp>
      <p:sp>
        <p:nvSpPr>
          <p:cNvPr id="7" name="Text 5"/>
          <p:cNvSpPr txBox="1"/>
          <p:nvPr/>
        </p:nvSpPr>
        <p:spPr>
          <a:xfrm>
            <a:off x="1078992" y="2578608"/>
            <a:ext cx="3977640" cy="457200"/>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fit_transform()</a:t>
            </a:r>
            <a:endParaRPr lang="en-US" sz="2500" dirty="0"/>
          </a:p>
        </p:txBody>
      </p:sp>
      <p:sp>
        <p:nvSpPr>
          <p:cNvPr id="8" name="Shape 6"/>
          <p:cNvSpPr/>
          <p:nvPr/>
        </p:nvSpPr>
        <p:spPr>
          <a:xfrm>
            <a:off x="1078992" y="3355848"/>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9" name="Text 7"/>
          <p:cNvSpPr txBox="1"/>
          <p:nvPr/>
        </p:nvSpPr>
        <p:spPr>
          <a:xfrm>
            <a:off x="1280160" y="3255264"/>
            <a:ext cx="3822192" cy="34747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Learns median values for imputation.</a:t>
            </a:r>
            <a:endParaRPr lang="en-US" sz="1300" dirty="0"/>
          </a:p>
        </p:txBody>
      </p:sp>
      <p:sp>
        <p:nvSpPr>
          <p:cNvPr id="10" name="Shape 8"/>
          <p:cNvSpPr/>
          <p:nvPr/>
        </p:nvSpPr>
        <p:spPr>
          <a:xfrm>
            <a:off x="1078992" y="3913632"/>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1" name="Text 9"/>
          <p:cNvSpPr txBox="1"/>
          <p:nvPr/>
        </p:nvSpPr>
        <p:spPr>
          <a:xfrm>
            <a:off x="1280160" y="3813048"/>
            <a:ext cx="3822192" cy="347472"/>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Learns scaling parameters.</a:t>
            </a:r>
            <a:endParaRPr lang="en-US" sz="1300" dirty="0"/>
          </a:p>
        </p:txBody>
      </p:sp>
      <p:sp>
        <p:nvSpPr>
          <p:cNvPr id="12" name="Shape 10"/>
          <p:cNvSpPr/>
          <p:nvPr/>
        </p:nvSpPr>
        <p:spPr>
          <a:xfrm>
            <a:off x="1078992" y="4471416"/>
            <a:ext cx="91440" cy="91440"/>
          </a:xfrm>
          <a:prstGeom prst="ellipse">
            <a:avLst/>
          </a:prstGeom>
          <a:solidFill>
            <a:srgbClr val="00A6A6"/>
          </a:solidFill>
          <a:ln w="12700">
            <a:solidFill>
              <a:srgbClr val="00A6A6">
                <a:alpha val="0"/>
              </a:srgbClr>
            </a:solidFill>
            <a:prstDash val="solid"/>
          </a:ln>
        </p:spPr>
        <p:txBody>
          <a:bodyPr/>
          <a:lstStyle/>
          <a:p>
            <a:endParaRPr lang="en-US"/>
          </a:p>
        </p:txBody>
      </p:sp>
      <p:sp>
        <p:nvSpPr>
          <p:cNvPr id="13" name="Text 11"/>
          <p:cNvSpPr txBox="1"/>
          <p:nvPr/>
        </p:nvSpPr>
        <p:spPr>
          <a:xfrm>
            <a:off x="1280160" y="4370832"/>
            <a:ext cx="3822192" cy="47548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Learns categories for one-hot encoding.</a:t>
            </a:r>
            <a:endParaRPr lang="en-US" sz="1300" dirty="0"/>
          </a:p>
        </p:txBody>
      </p:sp>
      <p:sp>
        <p:nvSpPr>
          <p:cNvPr id="14" name="Shape 12"/>
          <p:cNvSpPr/>
          <p:nvPr/>
        </p:nvSpPr>
        <p:spPr>
          <a:xfrm>
            <a:off x="6583680" y="1783080"/>
            <a:ext cx="4828032" cy="3566160"/>
          </a:xfrm>
          <a:prstGeom prst="roundRect">
            <a:avLst>
              <a:gd name="adj" fmla="val 3077"/>
            </a:avLst>
          </a:prstGeom>
          <a:solidFill>
            <a:srgbClr val="102A43"/>
          </a:solidFill>
          <a:ln w="10160">
            <a:solidFill>
              <a:srgbClr val="102A43"/>
            </a:solidFill>
            <a:prstDash val="solid"/>
          </a:ln>
        </p:spPr>
        <p:txBody>
          <a:bodyPr/>
          <a:lstStyle/>
          <a:p>
            <a:endParaRPr lang="en-US"/>
          </a:p>
        </p:txBody>
      </p:sp>
      <p:sp>
        <p:nvSpPr>
          <p:cNvPr id="15" name="Text 13"/>
          <p:cNvSpPr txBox="1"/>
          <p:nvPr/>
        </p:nvSpPr>
        <p:spPr>
          <a:xfrm>
            <a:off x="6912864" y="2084832"/>
            <a:ext cx="4023360" cy="320040"/>
          </a:xfrm>
          <a:prstGeom prst="rect">
            <a:avLst/>
          </a:prstGeom>
          <a:noFill/>
          <a:ln/>
        </p:spPr>
        <p:txBody>
          <a:bodyPr wrap="square" lIns="0" tIns="0" rIns="0" bIns="0" rtlCol="0" anchor="ctr">
            <a:normAutofit/>
          </a:bodyPr>
          <a:lstStyle/>
          <a:p>
            <a:pPr marL="0" indent="0" algn="l">
              <a:buNone/>
            </a:pPr>
            <a:r>
              <a:rPr lang="en-US" sz="1500" b="1" dirty="0">
                <a:solidFill>
                  <a:srgbClr val="BDEDEA"/>
                </a:solidFill>
                <a:latin typeface="Aptos" pitchFamily="34" charset="0"/>
                <a:ea typeface="Aptos" pitchFamily="34" charset="-122"/>
                <a:cs typeface="Aptos" pitchFamily="34" charset="-120"/>
              </a:rPr>
              <a:t>TEST SET</a:t>
            </a:r>
            <a:endParaRPr lang="en-US" sz="1500" dirty="0"/>
          </a:p>
        </p:txBody>
      </p:sp>
      <p:sp>
        <p:nvSpPr>
          <p:cNvPr id="16" name="Text 14"/>
          <p:cNvSpPr txBox="1"/>
          <p:nvPr/>
        </p:nvSpPr>
        <p:spPr>
          <a:xfrm>
            <a:off x="6912864" y="2578608"/>
            <a:ext cx="3977640" cy="457200"/>
          </a:xfrm>
          <a:prstGeom prst="rect">
            <a:avLst/>
          </a:prstGeom>
          <a:noFill/>
          <a:ln/>
        </p:spPr>
        <p:txBody>
          <a:bodyPr wrap="square" lIns="0" tIns="0" rIns="0" bIns="0" rtlCol="0" anchor="ctr">
            <a:normAutofit/>
          </a:bodyPr>
          <a:lstStyle/>
          <a:p>
            <a:pPr marL="0" indent="0" algn="l">
              <a:buNone/>
            </a:pPr>
            <a:r>
              <a:rPr lang="en-US" sz="2500" b="1" dirty="0">
                <a:solidFill>
                  <a:srgbClr val="FFFFFF"/>
                </a:solidFill>
                <a:latin typeface="Aptos Display" pitchFamily="34" charset="0"/>
                <a:ea typeface="Aptos Display" pitchFamily="34" charset="-122"/>
                <a:cs typeface="Aptos Display" pitchFamily="34" charset="-120"/>
              </a:rPr>
              <a:t>transform()</a:t>
            </a:r>
            <a:endParaRPr lang="en-US" sz="2500" dirty="0"/>
          </a:p>
        </p:txBody>
      </p:sp>
      <p:sp>
        <p:nvSpPr>
          <p:cNvPr id="17" name="Shape 15"/>
          <p:cNvSpPr/>
          <p:nvPr/>
        </p:nvSpPr>
        <p:spPr>
          <a:xfrm>
            <a:off x="6912864" y="3355848"/>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18" name="Text 16"/>
          <p:cNvSpPr txBox="1"/>
          <p:nvPr/>
        </p:nvSpPr>
        <p:spPr>
          <a:xfrm>
            <a:off x="7114032" y="3255264"/>
            <a:ext cx="3822192" cy="457200"/>
          </a:xfrm>
          <a:prstGeom prst="rect">
            <a:avLst/>
          </a:prstGeom>
          <a:noFill/>
          <a:ln/>
        </p:spPr>
        <p:txBody>
          <a:bodyPr wrap="square" lIns="0" tIns="0" rIns="0" bIns="0" rtlCol="0" anchor="t">
            <a:normAutofit/>
          </a:bodyPr>
          <a:lstStyle/>
          <a:p>
            <a:pPr marL="0" indent="0" algn="l">
              <a:buNone/>
            </a:pPr>
            <a:r>
              <a:rPr lang="en-US" sz="1300" dirty="0">
                <a:solidFill>
                  <a:srgbClr val="FFFFFF"/>
                </a:solidFill>
                <a:latin typeface="Aptos" pitchFamily="34" charset="0"/>
                <a:ea typeface="Aptos" pitchFamily="34" charset="-122"/>
                <a:cs typeface="Aptos" pitchFamily="34" charset="-120"/>
              </a:rPr>
              <a:t>Uses the training-set values already learned.</a:t>
            </a:r>
            <a:endParaRPr lang="en-US" sz="1300" dirty="0"/>
          </a:p>
        </p:txBody>
      </p:sp>
      <p:sp>
        <p:nvSpPr>
          <p:cNvPr id="19" name="Shape 17"/>
          <p:cNvSpPr/>
          <p:nvPr/>
        </p:nvSpPr>
        <p:spPr>
          <a:xfrm>
            <a:off x="6912864" y="3977640"/>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20" name="Text 18"/>
          <p:cNvSpPr txBox="1"/>
          <p:nvPr/>
        </p:nvSpPr>
        <p:spPr>
          <a:xfrm>
            <a:off x="7114032" y="3877056"/>
            <a:ext cx="3822192" cy="457200"/>
          </a:xfrm>
          <a:prstGeom prst="rect">
            <a:avLst/>
          </a:prstGeom>
          <a:noFill/>
          <a:ln/>
        </p:spPr>
        <p:txBody>
          <a:bodyPr wrap="square" lIns="0" tIns="0" rIns="0" bIns="0" rtlCol="0" anchor="t">
            <a:normAutofit/>
          </a:bodyPr>
          <a:lstStyle/>
          <a:p>
            <a:pPr marL="0" indent="0" algn="l">
              <a:buNone/>
            </a:pPr>
            <a:r>
              <a:rPr lang="en-US" sz="1300" dirty="0">
                <a:solidFill>
                  <a:srgbClr val="FFFFFF"/>
                </a:solidFill>
                <a:latin typeface="Aptos" pitchFamily="34" charset="0"/>
                <a:ea typeface="Aptos" pitchFamily="34" charset="-122"/>
                <a:cs typeface="Aptos" pitchFamily="34" charset="-120"/>
              </a:rPr>
              <a:t>Does not refit preprocessing on test data.</a:t>
            </a:r>
            <a:endParaRPr lang="en-US" sz="1300" dirty="0"/>
          </a:p>
        </p:txBody>
      </p:sp>
      <p:sp>
        <p:nvSpPr>
          <p:cNvPr id="21" name="Shape 19"/>
          <p:cNvSpPr/>
          <p:nvPr/>
        </p:nvSpPr>
        <p:spPr>
          <a:xfrm>
            <a:off x="6912864" y="4599432"/>
            <a:ext cx="91440" cy="91440"/>
          </a:xfrm>
          <a:prstGeom prst="ellipse">
            <a:avLst/>
          </a:prstGeom>
          <a:solidFill>
            <a:srgbClr val="F4A261"/>
          </a:solidFill>
          <a:ln w="12700">
            <a:solidFill>
              <a:srgbClr val="F4A261">
                <a:alpha val="0"/>
              </a:srgbClr>
            </a:solidFill>
            <a:prstDash val="solid"/>
          </a:ln>
        </p:spPr>
        <p:txBody>
          <a:bodyPr/>
          <a:lstStyle/>
          <a:p>
            <a:endParaRPr lang="en-US"/>
          </a:p>
        </p:txBody>
      </p:sp>
      <p:sp>
        <p:nvSpPr>
          <p:cNvPr id="22" name="Text 20"/>
          <p:cNvSpPr txBox="1"/>
          <p:nvPr/>
        </p:nvSpPr>
        <p:spPr>
          <a:xfrm>
            <a:off x="7114032" y="4498848"/>
            <a:ext cx="3822192" cy="457200"/>
          </a:xfrm>
          <a:prstGeom prst="rect">
            <a:avLst/>
          </a:prstGeom>
          <a:noFill/>
          <a:ln/>
        </p:spPr>
        <p:txBody>
          <a:bodyPr wrap="square" lIns="0" tIns="0" rIns="0" bIns="0" rtlCol="0" anchor="t">
            <a:normAutofit/>
          </a:bodyPr>
          <a:lstStyle/>
          <a:p>
            <a:pPr marL="0" indent="0" algn="l">
              <a:buNone/>
            </a:pPr>
            <a:r>
              <a:rPr lang="en-US" sz="1300" dirty="0">
                <a:solidFill>
                  <a:srgbClr val="FFFFFF"/>
                </a:solidFill>
                <a:latin typeface="Aptos" pitchFamily="34" charset="0"/>
                <a:ea typeface="Aptos" pitchFamily="34" charset="-122"/>
                <a:cs typeface="Aptos" pitchFamily="34" charset="-120"/>
              </a:rPr>
              <a:t>Measures future performance more fairly.</a:t>
            </a:r>
            <a:endParaRPr lang="en-US" sz="1300" dirty="0"/>
          </a:p>
        </p:txBody>
      </p:sp>
      <p:sp>
        <p:nvSpPr>
          <p:cNvPr id="23" name="Shape 21"/>
          <p:cNvSpPr/>
          <p:nvPr/>
        </p:nvSpPr>
        <p:spPr>
          <a:xfrm>
            <a:off x="768096" y="5596128"/>
            <a:ext cx="10625328" cy="411480"/>
          </a:xfrm>
          <a:prstGeom prst="roundRect">
            <a:avLst>
              <a:gd name="adj" fmla="val 26667"/>
            </a:avLst>
          </a:prstGeom>
          <a:solidFill>
            <a:srgbClr val="E5F5EF"/>
          </a:solidFill>
          <a:ln w="10160">
            <a:solidFill>
              <a:srgbClr val="E5F5EF">
                <a:alpha val="0"/>
              </a:srgbClr>
            </a:solidFill>
            <a:prstDash val="solid"/>
          </a:ln>
        </p:spPr>
        <p:txBody>
          <a:bodyPr/>
          <a:lstStyle/>
          <a:p>
            <a:endParaRPr lang="en-US"/>
          </a:p>
        </p:txBody>
      </p:sp>
      <p:sp>
        <p:nvSpPr>
          <p:cNvPr id="24" name="Text 22"/>
          <p:cNvSpPr txBox="1"/>
          <p:nvPr/>
        </p:nvSpPr>
        <p:spPr>
          <a:xfrm>
            <a:off x="914400" y="5660136"/>
            <a:ext cx="10332720" cy="219456"/>
          </a:xfrm>
          <a:prstGeom prst="rect">
            <a:avLst/>
          </a:prstGeom>
          <a:noFill/>
          <a:ln/>
        </p:spPr>
        <p:txBody>
          <a:bodyPr wrap="square" lIns="0" tIns="0" rIns="0" bIns="0" rtlCol="0" anchor="ctr">
            <a:normAutofit/>
          </a:bodyPr>
          <a:lstStyle/>
          <a:p>
            <a:pPr marL="0" indent="0" algn="ctr">
              <a:buNone/>
            </a:pPr>
            <a:r>
              <a:rPr lang="en-US" sz="1200" b="1" dirty="0">
                <a:solidFill>
                  <a:srgbClr val="1C6E57"/>
                </a:solidFill>
                <a:latin typeface="Aptos" pitchFamily="34" charset="0"/>
                <a:ea typeface="Aptos" pitchFamily="34" charset="-122"/>
                <a:cs typeface="Aptos" pitchFamily="34" charset="-120"/>
              </a:rPr>
              <a:t>Verified: train/test row overlap = 0</a:t>
            </a:r>
            <a:endParaRPr lang="en-US" sz="1200" dirty="0"/>
          </a:p>
        </p:txBody>
      </p:sp>
      <p:sp>
        <p:nvSpPr>
          <p:cNvPr id="25" name="Shape 23"/>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26" name="Text 24"/>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27"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03504" y="310896"/>
            <a:ext cx="9144000" cy="201168"/>
          </a:xfrm>
          <a:prstGeom prst="rect">
            <a:avLst/>
          </a:prstGeom>
          <a:noFill/>
          <a:ln/>
        </p:spPr>
        <p:txBody>
          <a:bodyPr wrap="square" lIns="0" tIns="0" rIns="0" bIns="0" rtlCol="0" anchor="ctr">
            <a:normAutofit/>
          </a:bodyPr>
          <a:lstStyle/>
          <a:p>
            <a:pPr marL="0" indent="0" algn="l">
              <a:buNone/>
            </a:pPr>
            <a:r>
              <a:rPr lang="en-US" sz="950" b="1" kern="0" spc="150" dirty="0">
                <a:solidFill>
                  <a:srgbClr val="00A6A6"/>
                </a:solidFill>
                <a:latin typeface="Aptos" pitchFamily="34" charset="0"/>
                <a:ea typeface="Aptos" pitchFamily="34" charset="-122"/>
                <a:cs typeface="Aptos" pitchFamily="34" charset="-120"/>
              </a:rPr>
              <a:t>13 / READINESS CHECKS</a:t>
            </a:r>
            <a:endParaRPr lang="en-US" sz="950" dirty="0"/>
          </a:p>
        </p:txBody>
      </p:sp>
      <p:sp>
        <p:nvSpPr>
          <p:cNvPr id="3" name="Text 1"/>
          <p:cNvSpPr txBox="1"/>
          <p:nvPr/>
        </p:nvSpPr>
        <p:spPr>
          <a:xfrm>
            <a:off x="603504" y="603504"/>
            <a:ext cx="10972800" cy="502920"/>
          </a:xfrm>
          <a:prstGeom prst="rect">
            <a:avLst/>
          </a:prstGeom>
          <a:noFill/>
          <a:ln/>
        </p:spPr>
        <p:txBody>
          <a:bodyPr wrap="square" lIns="0" tIns="0" rIns="0" bIns="0" rtlCol="0" anchor="ctr">
            <a:normAutofit/>
          </a:bodyPr>
          <a:lstStyle/>
          <a:p>
            <a:pPr marL="0" indent="0" algn="l">
              <a:buNone/>
            </a:pPr>
            <a:r>
              <a:rPr lang="en-US" sz="2700" b="1" dirty="0">
                <a:solidFill>
                  <a:srgbClr val="102A43"/>
                </a:solidFill>
                <a:latin typeface="Aptos Display" pitchFamily="34" charset="0"/>
                <a:ea typeface="Aptos Display" pitchFamily="34" charset="-122"/>
                <a:cs typeface="Aptos Display" pitchFamily="34" charset="-120"/>
              </a:rPr>
              <a:t>The final data passed the core readiness checks</a:t>
            </a:r>
            <a:endParaRPr lang="en-US" sz="2700" dirty="0"/>
          </a:p>
        </p:txBody>
      </p:sp>
      <p:sp>
        <p:nvSpPr>
          <p:cNvPr id="4" name="Text 2"/>
          <p:cNvSpPr txBox="1"/>
          <p:nvPr/>
        </p:nvSpPr>
        <p:spPr>
          <a:xfrm>
            <a:off x="621792" y="1097280"/>
            <a:ext cx="10972800" cy="320040"/>
          </a:xfrm>
          <a:prstGeom prst="rect">
            <a:avLst/>
          </a:prstGeom>
          <a:noFill/>
          <a:ln/>
        </p:spPr>
        <p:txBody>
          <a:bodyPr wrap="square" lIns="0" tIns="0" rIns="0" bIns="0" rtlCol="0" anchor="ctr">
            <a:normAutofit/>
          </a:bodyPr>
          <a:lstStyle/>
          <a:p>
            <a:pPr marL="0" indent="0" algn="l">
              <a:buNone/>
            </a:pPr>
            <a:r>
              <a:rPr lang="en-US" sz="1250" dirty="0">
                <a:solidFill>
                  <a:srgbClr val="52606D"/>
                </a:solidFill>
                <a:latin typeface="Aptos" pitchFamily="34" charset="0"/>
                <a:ea typeface="Aptos" pitchFamily="34" charset="-122"/>
                <a:cs typeface="Aptos" pitchFamily="34" charset="-120"/>
              </a:rPr>
              <a:t>The exported files are prepared for the next modeling stage.</a:t>
            </a:r>
            <a:endParaRPr lang="en-US" sz="1250" dirty="0"/>
          </a:p>
        </p:txBody>
      </p:sp>
      <p:sp>
        <p:nvSpPr>
          <p:cNvPr id="5" name="Shape 3"/>
          <p:cNvSpPr/>
          <p:nvPr/>
        </p:nvSpPr>
        <p:spPr>
          <a:xfrm>
            <a:off x="713232"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6" name="Shape 4"/>
          <p:cNvSpPr/>
          <p:nvPr/>
        </p:nvSpPr>
        <p:spPr>
          <a:xfrm>
            <a:off x="713232" y="1755648"/>
            <a:ext cx="64008" cy="1280160"/>
          </a:xfrm>
          <a:prstGeom prst="rect">
            <a:avLst/>
          </a:prstGeom>
          <a:solidFill>
            <a:srgbClr val="3D5A80"/>
          </a:solidFill>
          <a:ln w="10160">
            <a:solidFill>
              <a:srgbClr val="3D5A80">
                <a:alpha val="0"/>
              </a:srgbClr>
            </a:solidFill>
            <a:prstDash val="solid"/>
          </a:ln>
        </p:spPr>
        <p:txBody>
          <a:bodyPr/>
          <a:lstStyle/>
          <a:p>
            <a:endParaRPr lang="en-US"/>
          </a:p>
        </p:txBody>
      </p:sp>
      <p:sp>
        <p:nvSpPr>
          <p:cNvPr id="7" name="Text 5"/>
          <p:cNvSpPr txBox="1"/>
          <p:nvPr/>
        </p:nvSpPr>
        <p:spPr>
          <a:xfrm>
            <a:off x="923544"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8,000</a:t>
            </a:r>
            <a:endParaRPr lang="en-US" sz="2500" dirty="0"/>
          </a:p>
        </p:txBody>
      </p:sp>
      <p:sp>
        <p:nvSpPr>
          <p:cNvPr id="8" name="Text 6"/>
          <p:cNvSpPr txBox="1"/>
          <p:nvPr/>
        </p:nvSpPr>
        <p:spPr>
          <a:xfrm>
            <a:off x="923544"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Training rows</a:t>
            </a:r>
            <a:endParaRPr lang="en-US" sz="1200" dirty="0"/>
          </a:p>
        </p:txBody>
      </p:sp>
      <p:sp>
        <p:nvSpPr>
          <p:cNvPr id="9" name="Text 7"/>
          <p:cNvSpPr txBox="1"/>
          <p:nvPr/>
        </p:nvSpPr>
        <p:spPr>
          <a:xfrm>
            <a:off x="923544"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80% of cleaned records</a:t>
            </a:r>
            <a:endParaRPr lang="en-US" sz="950" dirty="0"/>
          </a:p>
        </p:txBody>
      </p:sp>
      <p:sp>
        <p:nvSpPr>
          <p:cNvPr id="10" name="Shape 8"/>
          <p:cNvSpPr/>
          <p:nvPr/>
        </p:nvSpPr>
        <p:spPr>
          <a:xfrm>
            <a:off x="3566160"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1" name="Shape 9"/>
          <p:cNvSpPr/>
          <p:nvPr/>
        </p:nvSpPr>
        <p:spPr>
          <a:xfrm>
            <a:off x="3566160" y="1755648"/>
            <a:ext cx="64008" cy="1280160"/>
          </a:xfrm>
          <a:prstGeom prst="rect">
            <a:avLst/>
          </a:prstGeom>
          <a:solidFill>
            <a:srgbClr val="00A6A6"/>
          </a:solidFill>
          <a:ln w="10160">
            <a:solidFill>
              <a:srgbClr val="00A6A6">
                <a:alpha val="0"/>
              </a:srgbClr>
            </a:solidFill>
            <a:prstDash val="solid"/>
          </a:ln>
        </p:spPr>
        <p:txBody>
          <a:bodyPr/>
          <a:lstStyle/>
          <a:p>
            <a:endParaRPr lang="en-US"/>
          </a:p>
        </p:txBody>
      </p:sp>
      <p:sp>
        <p:nvSpPr>
          <p:cNvPr id="12" name="Text 10"/>
          <p:cNvSpPr txBox="1"/>
          <p:nvPr/>
        </p:nvSpPr>
        <p:spPr>
          <a:xfrm>
            <a:off x="3776472"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2,000</a:t>
            </a:r>
            <a:endParaRPr lang="en-US" sz="2500" dirty="0"/>
          </a:p>
        </p:txBody>
      </p:sp>
      <p:sp>
        <p:nvSpPr>
          <p:cNvPr id="13" name="Text 11"/>
          <p:cNvSpPr txBox="1"/>
          <p:nvPr/>
        </p:nvSpPr>
        <p:spPr>
          <a:xfrm>
            <a:off x="3776472"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Testing rows</a:t>
            </a:r>
            <a:endParaRPr lang="en-US" sz="1200" dirty="0"/>
          </a:p>
        </p:txBody>
      </p:sp>
      <p:sp>
        <p:nvSpPr>
          <p:cNvPr id="14" name="Text 12"/>
          <p:cNvSpPr txBox="1"/>
          <p:nvPr/>
        </p:nvSpPr>
        <p:spPr>
          <a:xfrm>
            <a:off x="3776472"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20% of cleaned records</a:t>
            </a:r>
            <a:endParaRPr lang="en-US" sz="950" dirty="0"/>
          </a:p>
        </p:txBody>
      </p:sp>
      <p:sp>
        <p:nvSpPr>
          <p:cNvPr id="15" name="Shape 13"/>
          <p:cNvSpPr/>
          <p:nvPr/>
        </p:nvSpPr>
        <p:spPr>
          <a:xfrm>
            <a:off x="6419088"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16" name="Shape 14"/>
          <p:cNvSpPr/>
          <p:nvPr/>
        </p:nvSpPr>
        <p:spPr>
          <a:xfrm>
            <a:off x="6419088" y="1755648"/>
            <a:ext cx="64008" cy="1280160"/>
          </a:xfrm>
          <a:prstGeom prst="rect">
            <a:avLst/>
          </a:prstGeom>
          <a:solidFill>
            <a:srgbClr val="F4A261"/>
          </a:solidFill>
          <a:ln w="10160">
            <a:solidFill>
              <a:srgbClr val="F4A261">
                <a:alpha val="0"/>
              </a:srgbClr>
            </a:solidFill>
            <a:prstDash val="solid"/>
          </a:ln>
        </p:spPr>
        <p:txBody>
          <a:bodyPr/>
          <a:lstStyle/>
          <a:p>
            <a:endParaRPr lang="en-US"/>
          </a:p>
        </p:txBody>
      </p:sp>
      <p:sp>
        <p:nvSpPr>
          <p:cNvPr id="17" name="Text 15"/>
          <p:cNvSpPr txBox="1"/>
          <p:nvPr/>
        </p:nvSpPr>
        <p:spPr>
          <a:xfrm>
            <a:off x="6629400"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19</a:t>
            </a:r>
            <a:endParaRPr lang="en-US" sz="2500" dirty="0"/>
          </a:p>
        </p:txBody>
      </p:sp>
      <p:sp>
        <p:nvSpPr>
          <p:cNvPr id="18" name="Text 16"/>
          <p:cNvSpPr txBox="1"/>
          <p:nvPr/>
        </p:nvSpPr>
        <p:spPr>
          <a:xfrm>
            <a:off x="6629400"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Numeric input features</a:t>
            </a:r>
            <a:endParaRPr lang="en-US" sz="1200" dirty="0"/>
          </a:p>
        </p:txBody>
      </p:sp>
      <p:sp>
        <p:nvSpPr>
          <p:cNvPr id="19" name="Text 17"/>
          <p:cNvSpPr txBox="1"/>
          <p:nvPr/>
        </p:nvSpPr>
        <p:spPr>
          <a:xfrm>
            <a:off x="6629400"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After encoding / scaling</a:t>
            </a:r>
            <a:endParaRPr lang="en-US" sz="950" dirty="0"/>
          </a:p>
        </p:txBody>
      </p:sp>
      <p:sp>
        <p:nvSpPr>
          <p:cNvPr id="20" name="Shape 18"/>
          <p:cNvSpPr/>
          <p:nvPr/>
        </p:nvSpPr>
        <p:spPr>
          <a:xfrm>
            <a:off x="9272016" y="1755648"/>
            <a:ext cx="2542032" cy="1280160"/>
          </a:xfrm>
          <a:prstGeom prst="roundRect">
            <a:avLst>
              <a:gd name="adj" fmla="val 8571"/>
            </a:avLst>
          </a:prstGeom>
          <a:solidFill>
            <a:srgbClr val="FFFFFF"/>
          </a:solidFill>
          <a:ln w="10160">
            <a:solidFill>
              <a:srgbClr val="D9E2EC"/>
            </a:solidFill>
            <a:prstDash val="solid"/>
          </a:ln>
        </p:spPr>
        <p:txBody>
          <a:bodyPr/>
          <a:lstStyle/>
          <a:p>
            <a:endParaRPr lang="en-US"/>
          </a:p>
        </p:txBody>
      </p:sp>
      <p:sp>
        <p:nvSpPr>
          <p:cNvPr id="21" name="Shape 19"/>
          <p:cNvSpPr/>
          <p:nvPr/>
        </p:nvSpPr>
        <p:spPr>
          <a:xfrm>
            <a:off x="9272016" y="1755648"/>
            <a:ext cx="64008" cy="1280160"/>
          </a:xfrm>
          <a:prstGeom prst="rect">
            <a:avLst/>
          </a:prstGeom>
          <a:solidFill>
            <a:srgbClr val="2A9D8F"/>
          </a:solidFill>
          <a:ln w="10160">
            <a:solidFill>
              <a:srgbClr val="2A9D8F">
                <a:alpha val="0"/>
              </a:srgbClr>
            </a:solidFill>
            <a:prstDash val="solid"/>
          </a:ln>
        </p:spPr>
        <p:txBody>
          <a:bodyPr/>
          <a:lstStyle/>
          <a:p>
            <a:endParaRPr lang="en-US"/>
          </a:p>
        </p:txBody>
      </p:sp>
      <p:sp>
        <p:nvSpPr>
          <p:cNvPr id="22" name="Text 20"/>
          <p:cNvSpPr txBox="1"/>
          <p:nvPr/>
        </p:nvSpPr>
        <p:spPr>
          <a:xfrm>
            <a:off x="9482328" y="1901952"/>
            <a:ext cx="2176272" cy="420624"/>
          </a:xfrm>
          <a:prstGeom prst="rect">
            <a:avLst/>
          </a:prstGeom>
          <a:noFill/>
          <a:ln/>
        </p:spPr>
        <p:txBody>
          <a:bodyPr wrap="square" lIns="0" tIns="0" rIns="0" bIns="0" rtlCol="0" anchor="ctr">
            <a:normAutofit/>
          </a:bodyPr>
          <a:lstStyle/>
          <a:p>
            <a:pPr marL="0" indent="0" algn="l">
              <a:buNone/>
            </a:pPr>
            <a:r>
              <a:rPr lang="en-US" sz="2500" b="1" dirty="0">
                <a:solidFill>
                  <a:srgbClr val="102A43"/>
                </a:solidFill>
                <a:latin typeface="Aptos Display" pitchFamily="34" charset="0"/>
                <a:ea typeface="Aptos Display" pitchFamily="34" charset="-122"/>
                <a:cs typeface="Aptos Display" pitchFamily="34" charset="-120"/>
              </a:rPr>
              <a:t>0</a:t>
            </a:r>
            <a:endParaRPr lang="en-US" sz="2500" dirty="0"/>
          </a:p>
        </p:txBody>
      </p:sp>
      <p:sp>
        <p:nvSpPr>
          <p:cNvPr id="23" name="Text 21"/>
          <p:cNvSpPr txBox="1"/>
          <p:nvPr/>
        </p:nvSpPr>
        <p:spPr>
          <a:xfrm>
            <a:off x="9482328" y="2359152"/>
            <a:ext cx="2176272" cy="347472"/>
          </a:xfrm>
          <a:prstGeom prst="rect">
            <a:avLst/>
          </a:prstGeom>
          <a:noFill/>
          <a:ln/>
        </p:spPr>
        <p:txBody>
          <a:bodyPr wrap="square" lIns="0" tIns="0" rIns="0" bIns="0" rtlCol="0" anchor="t">
            <a:normAutofit/>
          </a:bodyPr>
          <a:lstStyle/>
          <a:p>
            <a:pPr marL="0" indent="0" algn="l">
              <a:buNone/>
            </a:pPr>
            <a:r>
              <a:rPr lang="en-US" sz="1200" b="1" dirty="0">
                <a:solidFill>
                  <a:srgbClr val="52606D"/>
                </a:solidFill>
                <a:latin typeface="Aptos" pitchFamily="34" charset="0"/>
                <a:ea typeface="Aptos" pitchFamily="34" charset="-122"/>
                <a:cs typeface="Aptos" pitchFamily="34" charset="-120"/>
              </a:rPr>
              <a:t>Missing values remaining</a:t>
            </a:r>
            <a:endParaRPr lang="en-US" sz="1200" dirty="0"/>
          </a:p>
        </p:txBody>
      </p:sp>
      <p:sp>
        <p:nvSpPr>
          <p:cNvPr id="24" name="Text 22"/>
          <p:cNvSpPr txBox="1"/>
          <p:nvPr/>
        </p:nvSpPr>
        <p:spPr>
          <a:xfrm>
            <a:off x="9482328" y="2715768"/>
            <a:ext cx="2176272" cy="201168"/>
          </a:xfrm>
          <a:prstGeom prst="rect">
            <a:avLst/>
          </a:prstGeom>
          <a:noFill/>
          <a:ln/>
        </p:spPr>
        <p:txBody>
          <a:bodyPr wrap="square" lIns="0" tIns="0" rIns="0" bIns="0" rtlCol="0" anchor="ctr">
            <a:normAutofit/>
          </a:bodyPr>
          <a:lstStyle/>
          <a:p>
            <a:pPr marL="0" indent="0" algn="l">
              <a:buNone/>
            </a:pPr>
            <a:r>
              <a:rPr lang="en-US" sz="950" dirty="0">
                <a:solidFill>
                  <a:srgbClr val="52606D"/>
                </a:solidFill>
                <a:latin typeface="Aptos" pitchFamily="34" charset="0"/>
                <a:ea typeface="Aptos" pitchFamily="34" charset="-122"/>
                <a:cs typeface="Aptos" pitchFamily="34" charset="-120"/>
              </a:rPr>
              <a:t>In prepared train/test data</a:t>
            </a:r>
            <a:endParaRPr lang="en-US" sz="950" dirty="0"/>
          </a:p>
        </p:txBody>
      </p:sp>
      <p:sp>
        <p:nvSpPr>
          <p:cNvPr id="25" name="Shape 23"/>
          <p:cNvSpPr/>
          <p:nvPr/>
        </p:nvSpPr>
        <p:spPr>
          <a:xfrm>
            <a:off x="731520" y="3456432"/>
            <a:ext cx="5193792" cy="2121408"/>
          </a:xfrm>
          <a:prstGeom prst="roundRect">
            <a:avLst>
              <a:gd name="adj" fmla="val 5172"/>
            </a:avLst>
          </a:prstGeom>
          <a:solidFill>
            <a:srgbClr val="FFFFFF"/>
          </a:solidFill>
          <a:ln w="10160">
            <a:solidFill>
              <a:srgbClr val="D9E2EC"/>
            </a:solidFill>
            <a:prstDash val="solid"/>
          </a:ln>
        </p:spPr>
        <p:txBody>
          <a:bodyPr/>
          <a:lstStyle/>
          <a:p>
            <a:endParaRPr lang="en-US"/>
          </a:p>
        </p:txBody>
      </p:sp>
      <p:sp>
        <p:nvSpPr>
          <p:cNvPr id="26" name="Text 24"/>
          <p:cNvSpPr txBox="1"/>
          <p:nvPr/>
        </p:nvSpPr>
        <p:spPr>
          <a:xfrm>
            <a:off x="1024128" y="3712464"/>
            <a:ext cx="4389120" cy="301752"/>
          </a:xfrm>
          <a:prstGeom prst="rect">
            <a:avLst/>
          </a:prstGeom>
          <a:noFill/>
          <a:ln/>
        </p:spPr>
        <p:txBody>
          <a:bodyPr wrap="square" lIns="0" tIns="0" rIns="0" bIns="0" rtlCol="0" anchor="ctr">
            <a:normAutofit/>
          </a:bodyPr>
          <a:lstStyle/>
          <a:p>
            <a:pPr marL="0" indent="0" algn="l">
              <a:buNone/>
            </a:pPr>
            <a:r>
              <a:rPr lang="en-US" sz="1800" b="1" dirty="0">
                <a:solidFill>
                  <a:srgbClr val="102A43"/>
                </a:solidFill>
                <a:latin typeface="Aptos" pitchFamily="34" charset="0"/>
                <a:ea typeface="Aptos" pitchFamily="34" charset="-122"/>
                <a:cs typeface="Aptos" pitchFamily="34" charset="-120"/>
              </a:rPr>
              <a:t>Validation results</a:t>
            </a:r>
            <a:endParaRPr lang="en-US" sz="1800" dirty="0"/>
          </a:p>
        </p:txBody>
      </p:sp>
      <p:sp>
        <p:nvSpPr>
          <p:cNvPr id="27" name="Shape 25"/>
          <p:cNvSpPr/>
          <p:nvPr/>
        </p:nvSpPr>
        <p:spPr>
          <a:xfrm>
            <a:off x="1033272" y="4315968"/>
            <a:ext cx="91440" cy="91440"/>
          </a:xfrm>
          <a:prstGeom prst="ellipse">
            <a:avLst/>
          </a:prstGeom>
          <a:solidFill>
            <a:srgbClr val="2A9D8F"/>
          </a:solidFill>
          <a:ln w="12700">
            <a:solidFill>
              <a:srgbClr val="2A9D8F">
                <a:alpha val="0"/>
              </a:srgbClr>
            </a:solidFill>
            <a:prstDash val="solid"/>
          </a:ln>
        </p:spPr>
        <p:txBody>
          <a:bodyPr/>
          <a:lstStyle/>
          <a:p>
            <a:endParaRPr lang="en-US"/>
          </a:p>
        </p:txBody>
      </p:sp>
      <p:sp>
        <p:nvSpPr>
          <p:cNvPr id="28" name="Text 26"/>
          <p:cNvSpPr txBox="1"/>
          <p:nvPr/>
        </p:nvSpPr>
        <p:spPr>
          <a:xfrm>
            <a:off x="1234440" y="4215384"/>
            <a:ext cx="4233672" cy="29260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All input features are numeric.</a:t>
            </a:r>
            <a:endParaRPr lang="en-US" sz="1300" dirty="0"/>
          </a:p>
        </p:txBody>
      </p:sp>
      <p:sp>
        <p:nvSpPr>
          <p:cNvPr id="29" name="Shape 27"/>
          <p:cNvSpPr/>
          <p:nvPr/>
        </p:nvSpPr>
        <p:spPr>
          <a:xfrm>
            <a:off x="1033272" y="4773168"/>
            <a:ext cx="91440" cy="91440"/>
          </a:xfrm>
          <a:prstGeom prst="ellipse">
            <a:avLst/>
          </a:prstGeom>
          <a:solidFill>
            <a:srgbClr val="2A9D8F"/>
          </a:solidFill>
          <a:ln w="12700">
            <a:solidFill>
              <a:srgbClr val="2A9D8F">
                <a:alpha val="0"/>
              </a:srgbClr>
            </a:solidFill>
            <a:prstDash val="solid"/>
          </a:ln>
        </p:spPr>
        <p:txBody>
          <a:bodyPr/>
          <a:lstStyle/>
          <a:p>
            <a:endParaRPr lang="en-US"/>
          </a:p>
        </p:txBody>
      </p:sp>
      <p:sp>
        <p:nvSpPr>
          <p:cNvPr id="30" name="Text 28"/>
          <p:cNvSpPr txBox="1"/>
          <p:nvPr/>
        </p:nvSpPr>
        <p:spPr>
          <a:xfrm>
            <a:off x="1234440" y="4672584"/>
            <a:ext cx="4233672" cy="29260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Train/test overlap count is zero.</a:t>
            </a:r>
            <a:endParaRPr lang="en-US" sz="1300" dirty="0"/>
          </a:p>
        </p:txBody>
      </p:sp>
      <p:sp>
        <p:nvSpPr>
          <p:cNvPr id="31" name="Shape 29"/>
          <p:cNvSpPr/>
          <p:nvPr/>
        </p:nvSpPr>
        <p:spPr>
          <a:xfrm>
            <a:off x="1033272" y="5230368"/>
            <a:ext cx="91440" cy="91440"/>
          </a:xfrm>
          <a:prstGeom prst="ellipse">
            <a:avLst/>
          </a:prstGeom>
          <a:solidFill>
            <a:srgbClr val="2A9D8F"/>
          </a:solidFill>
          <a:ln w="12700">
            <a:solidFill>
              <a:srgbClr val="2A9D8F">
                <a:alpha val="0"/>
              </a:srgbClr>
            </a:solidFill>
            <a:prstDash val="solid"/>
          </a:ln>
        </p:spPr>
        <p:txBody>
          <a:bodyPr/>
          <a:lstStyle/>
          <a:p>
            <a:endParaRPr lang="en-US"/>
          </a:p>
        </p:txBody>
      </p:sp>
      <p:sp>
        <p:nvSpPr>
          <p:cNvPr id="32" name="Text 30"/>
          <p:cNvSpPr txBox="1"/>
          <p:nvPr/>
        </p:nvSpPr>
        <p:spPr>
          <a:xfrm>
            <a:off x="1234440" y="5129784"/>
            <a:ext cx="4233672" cy="292608"/>
          </a:xfrm>
          <a:prstGeom prst="rect">
            <a:avLst/>
          </a:prstGeom>
          <a:noFill/>
          <a:ln/>
        </p:spPr>
        <p:txBody>
          <a:bodyPr wrap="square" lIns="0" tIns="0" rIns="0" bIns="0" rtlCol="0" anchor="t">
            <a:normAutofit/>
          </a:bodyPr>
          <a:lstStyle/>
          <a:p>
            <a:pPr marL="0" indent="0" algn="l">
              <a:buNone/>
            </a:pPr>
            <a:r>
              <a:rPr lang="en-US" sz="1300" dirty="0">
                <a:solidFill>
                  <a:srgbClr val="243B53"/>
                </a:solidFill>
                <a:latin typeface="Aptos" pitchFamily="34" charset="0"/>
                <a:ea typeface="Aptos" pitchFamily="34" charset="-122"/>
                <a:cs typeface="Aptos" pitchFamily="34" charset="-120"/>
              </a:rPr>
              <a:t>Target Exited remains unscaled.</a:t>
            </a:r>
            <a:endParaRPr lang="en-US" sz="1300" dirty="0"/>
          </a:p>
        </p:txBody>
      </p:sp>
      <p:sp>
        <p:nvSpPr>
          <p:cNvPr id="33" name="Shape 31"/>
          <p:cNvSpPr/>
          <p:nvPr/>
        </p:nvSpPr>
        <p:spPr>
          <a:xfrm>
            <a:off x="6236208" y="3456432"/>
            <a:ext cx="5184648" cy="2121408"/>
          </a:xfrm>
          <a:prstGeom prst="roundRect">
            <a:avLst>
              <a:gd name="adj" fmla="val 5172"/>
            </a:avLst>
          </a:prstGeom>
          <a:solidFill>
            <a:srgbClr val="E7EFF8"/>
          </a:solidFill>
          <a:ln w="10160">
            <a:solidFill>
              <a:srgbClr val="E7EFF8"/>
            </a:solidFill>
            <a:prstDash val="solid"/>
          </a:ln>
        </p:spPr>
        <p:txBody>
          <a:bodyPr/>
          <a:lstStyle/>
          <a:p>
            <a:endParaRPr lang="en-US"/>
          </a:p>
        </p:txBody>
      </p:sp>
      <p:sp>
        <p:nvSpPr>
          <p:cNvPr id="34" name="Text 32"/>
          <p:cNvSpPr txBox="1"/>
          <p:nvPr/>
        </p:nvSpPr>
        <p:spPr>
          <a:xfrm>
            <a:off x="6537960" y="3712464"/>
            <a:ext cx="4389120" cy="301752"/>
          </a:xfrm>
          <a:prstGeom prst="rect">
            <a:avLst/>
          </a:prstGeom>
          <a:noFill/>
          <a:ln/>
        </p:spPr>
        <p:txBody>
          <a:bodyPr wrap="square" lIns="0" tIns="0" rIns="0" bIns="0" rtlCol="0" anchor="ctr">
            <a:normAutofit/>
          </a:bodyPr>
          <a:lstStyle/>
          <a:p>
            <a:pPr marL="0" indent="0" algn="l">
              <a:buNone/>
            </a:pPr>
            <a:r>
              <a:rPr lang="en-US" sz="1800" b="1" dirty="0">
                <a:solidFill>
                  <a:srgbClr val="102A43"/>
                </a:solidFill>
                <a:latin typeface="Aptos" pitchFamily="34" charset="0"/>
                <a:ea typeface="Aptos" pitchFamily="34" charset="-122"/>
                <a:cs typeface="Aptos" pitchFamily="34" charset="-120"/>
              </a:rPr>
              <a:t>Saved outputs</a:t>
            </a:r>
            <a:endParaRPr lang="en-US" sz="1800" dirty="0"/>
          </a:p>
        </p:txBody>
      </p:sp>
      <p:sp>
        <p:nvSpPr>
          <p:cNvPr id="35" name="Text 33"/>
          <p:cNvSpPr txBox="1"/>
          <p:nvPr/>
        </p:nvSpPr>
        <p:spPr>
          <a:xfrm>
            <a:off x="6537960" y="4206240"/>
            <a:ext cx="4343400" cy="246888"/>
          </a:xfrm>
          <a:prstGeom prst="rect">
            <a:avLst/>
          </a:prstGeom>
          <a:noFill/>
          <a:ln/>
        </p:spPr>
        <p:txBody>
          <a:bodyPr wrap="square" lIns="0" tIns="0" rIns="0" bIns="0" rtlCol="0" anchor="ctr">
            <a:normAutofit/>
          </a:bodyPr>
          <a:lstStyle/>
          <a:p>
            <a:pPr marL="0" indent="0" algn="l">
              <a:buNone/>
            </a:pPr>
            <a:r>
              <a:rPr lang="en-US" sz="1230" b="1" dirty="0">
                <a:solidFill>
                  <a:srgbClr val="3D5A80"/>
                </a:solidFill>
                <a:latin typeface="Aptos" pitchFamily="34" charset="0"/>
                <a:ea typeface="Aptos" pitchFamily="34" charset="-122"/>
                <a:cs typeface="Aptos" pitchFamily="34" charset="-120"/>
              </a:rPr>
              <a:t>train_model_ready.csv</a:t>
            </a:r>
            <a:endParaRPr lang="en-US" sz="1230" dirty="0"/>
          </a:p>
        </p:txBody>
      </p:sp>
      <p:sp>
        <p:nvSpPr>
          <p:cNvPr id="36" name="Text 34"/>
          <p:cNvSpPr txBox="1"/>
          <p:nvPr/>
        </p:nvSpPr>
        <p:spPr>
          <a:xfrm>
            <a:off x="6537960" y="4617720"/>
            <a:ext cx="4343400" cy="246888"/>
          </a:xfrm>
          <a:prstGeom prst="rect">
            <a:avLst/>
          </a:prstGeom>
          <a:noFill/>
          <a:ln/>
        </p:spPr>
        <p:txBody>
          <a:bodyPr wrap="square" lIns="0" tIns="0" rIns="0" bIns="0" rtlCol="0" anchor="ctr">
            <a:normAutofit/>
          </a:bodyPr>
          <a:lstStyle/>
          <a:p>
            <a:pPr marL="0" indent="0" algn="l">
              <a:buNone/>
            </a:pPr>
            <a:r>
              <a:rPr lang="en-US" sz="1230" b="1" dirty="0">
                <a:solidFill>
                  <a:srgbClr val="3D5A80"/>
                </a:solidFill>
                <a:latin typeface="Aptos" pitchFamily="34" charset="0"/>
                <a:ea typeface="Aptos" pitchFamily="34" charset="-122"/>
                <a:cs typeface="Aptos" pitchFamily="34" charset="-120"/>
              </a:rPr>
              <a:t>test_model_ready.csv</a:t>
            </a:r>
            <a:endParaRPr lang="en-US" sz="1230" dirty="0"/>
          </a:p>
        </p:txBody>
      </p:sp>
      <p:sp>
        <p:nvSpPr>
          <p:cNvPr id="37" name="Text 35"/>
          <p:cNvSpPr txBox="1"/>
          <p:nvPr/>
        </p:nvSpPr>
        <p:spPr>
          <a:xfrm>
            <a:off x="6537960" y="5029200"/>
            <a:ext cx="4389120" cy="246888"/>
          </a:xfrm>
          <a:prstGeom prst="rect">
            <a:avLst/>
          </a:prstGeom>
          <a:noFill/>
          <a:ln/>
        </p:spPr>
        <p:txBody>
          <a:bodyPr wrap="square" lIns="0" tIns="0" rIns="0" bIns="0" rtlCol="0" anchor="ctr">
            <a:normAutofit/>
          </a:bodyPr>
          <a:lstStyle/>
          <a:p>
            <a:pPr marL="0" indent="0" algn="l">
              <a:buNone/>
            </a:pPr>
            <a:r>
              <a:rPr lang="en-US" sz="1170" b="1" dirty="0">
                <a:solidFill>
                  <a:srgbClr val="3D5A80"/>
                </a:solidFill>
                <a:latin typeface="Aptos" pitchFamily="34" charset="0"/>
                <a:ea typeface="Aptos" pitchFamily="34" charset="-122"/>
                <a:cs typeface="Aptos" pitchFamily="34" charset="-120"/>
              </a:rPr>
              <a:t>churn_preprocessing_pipeline.joblib</a:t>
            </a:r>
            <a:endParaRPr lang="en-US" sz="1170" dirty="0"/>
          </a:p>
        </p:txBody>
      </p:sp>
      <p:sp>
        <p:nvSpPr>
          <p:cNvPr id="38" name="Shape 36"/>
          <p:cNvSpPr/>
          <p:nvPr/>
        </p:nvSpPr>
        <p:spPr>
          <a:xfrm>
            <a:off x="594360" y="6382512"/>
            <a:ext cx="11000232" cy="0"/>
          </a:xfrm>
          <a:prstGeom prst="line">
            <a:avLst/>
          </a:prstGeom>
          <a:noFill/>
          <a:ln w="10160">
            <a:solidFill>
              <a:srgbClr val="D9E2EC"/>
            </a:solidFill>
            <a:prstDash val="solid"/>
          </a:ln>
        </p:spPr>
        <p:txBody>
          <a:bodyPr/>
          <a:lstStyle/>
          <a:p>
            <a:endParaRPr lang="en-US"/>
          </a:p>
        </p:txBody>
      </p:sp>
      <p:sp>
        <p:nvSpPr>
          <p:cNvPr id="39" name="Text 37"/>
          <p:cNvSpPr txBox="1"/>
          <p:nvPr/>
        </p:nvSpPr>
        <p:spPr>
          <a:xfrm>
            <a:off x="621792" y="6473952"/>
            <a:ext cx="8778240" cy="146304"/>
          </a:xfrm>
          <a:prstGeom prst="rect">
            <a:avLst/>
          </a:prstGeom>
          <a:noFill/>
          <a:ln/>
        </p:spPr>
        <p:txBody>
          <a:bodyPr wrap="square" lIns="0" tIns="0" rIns="0" bIns="0" rtlCol="0" anchor="ctr">
            <a:normAutofit/>
          </a:bodyPr>
          <a:lstStyle/>
          <a:p>
            <a:pPr marL="0" indent="0" algn="l">
              <a:buNone/>
            </a:pPr>
            <a:r>
              <a:rPr lang="en-US" sz="820" kern="0" spc="50" dirty="0">
                <a:solidFill>
                  <a:srgbClr val="7B8794"/>
                </a:solidFill>
                <a:latin typeface="Aptos" pitchFamily="34" charset="0"/>
                <a:ea typeface="Aptos" pitchFamily="34" charset="-122"/>
                <a:cs typeface="Aptos" pitchFamily="34" charset="-120"/>
              </a:rPr>
              <a:t>BANK CUSTOMER CHURN PREDICTION  |  MILESTONE 3</a:t>
            </a:r>
            <a:endParaRPr lang="en-US" sz="820" dirty="0"/>
          </a:p>
        </p:txBody>
      </p:sp>
      <p:sp>
        <p:nvSpPr>
          <p:cNvPr id="40" name="Slide Number Placeholder 0"/>
          <p:cNvSpPr>
            <a:spLocks noGrp="1"/>
          </p:cNvSpPr>
          <p:nvPr>
            <p:ph type="sldNum" sz="quarter" idx="4294967295"/>
          </p:nvPr>
        </p:nvSpPr>
        <p:spPr>
          <a:xfrm>
            <a:off x="11356848"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B8794"/>
                </a:solidFill>
                <a:latin typeface="Aptos"/>
                <a:ea typeface="Aptos"/>
                <a:cs typeface="Aptos"/>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6A6"/>
          </a:solidFill>
          <a:ln w="12700">
            <a:solidFill>
              <a:srgbClr val="00A6A6">
                <a:alpha val="0"/>
              </a:srgbClr>
            </a:solidFill>
            <a:prstDash val="solid"/>
          </a:ln>
        </p:spPr>
        <p:txBody>
          <a:bodyPr/>
          <a:lstStyle/>
          <a:p>
            <a:endParaRPr lang="en-US"/>
          </a:p>
        </p:txBody>
      </p:sp>
      <p:sp>
        <p:nvSpPr>
          <p:cNvPr id="3" name="Text 1"/>
          <p:cNvSpPr txBox="1"/>
          <p:nvPr/>
        </p:nvSpPr>
        <p:spPr>
          <a:xfrm>
            <a:off x="749808" y="603504"/>
            <a:ext cx="6675120" cy="237744"/>
          </a:xfrm>
          <a:prstGeom prst="rect">
            <a:avLst/>
          </a:prstGeom>
          <a:noFill/>
          <a:ln/>
        </p:spPr>
        <p:txBody>
          <a:bodyPr wrap="square" lIns="0" tIns="0" rIns="0" bIns="0" rtlCol="0" anchor="ctr">
            <a:normAutofit/>
          </a:bodyPr>
          <a:lstStyle/>
          <a:p>
            <a:pPr marL="0" indent="0" algn="l">
              <a:buNone/>
            </a:pPr>
            <a:r>
              <a:rPr lang="en-US" sz="1000" b="1" kern="0" spc="140" dirty="0">
                <a:solidFill>
                  <a:srgbClr val="00A6A6"/>
                </a:solidFill>
                <a:latin typeface="Aptos" pitchFamily="34" charset="0"/>
                <a:ea typeface="Aptos" pitchFamily="34" charset="-122"/>
                <a:cs typeface="Aptos" pitchFamily="34" charset="-120"/>
              </a:rPr>
              <a:t>MILESTONE 3  /  CONCLUSION</a:t>
            </a:r>
            <a:endParaRPr lang="en-US" sz="1000" dirty="0"/>
          </a:p>
        </p:txBody>
      </p:sp>
      <p:sp>
        <p:nvSpPr>
          <p:cNvPr id="4" name="Text 2"/>
          <p:cNvSpPr txBox="1"/>
          <p:nvPr/>
        </p:nvSpPr>
        <p:spPr>
          <a:xfrm>
            <a:off x="749808" y="1051560"/>
            <a:ext cx="8138160" cy="1325880"/>
          </a:xfrm>
          <a:prstGeom prst="rect">
            <a:avLst/>
          </a:prstGeom>
          <a:noFill/>
          <a:ln/>
        </p:spPr>
        <p:txBody>
          <a:bodyPr wrap="square" lIns="0" tIns="0" rIns="0" bIns="0" rtlCol="0" anchor="ctr">
            <a:normAutofit/>
          </a:bodyPr>
          <a:lstStyle/>
          <a:p>
            <a:pPr marL="0" indent="0" algn="l">
              <a:buNone/>
            </a:pPr>
            <a:r>
              <a:rPr lang="en-US" sz="3300" b="1" dirty="0">
                <a:solidFill>
                  <a:srgbClr val="FFFFFF"/>
                </a:solidFill>
                <a:latin typeface="Aptos Display" pitchFamily="34" charset="0"/>
                <a:ea typeface="Aptos Display" pitchFamily="34" charset="-122"/>
                <a:cs typeface="Aptos Display" pitchFamily="34" charset="-120"/>
              </a:rPr>
              <a:t>Explored. Prepared.</a:t>
            </a:r>
            <a:endParaRPr lang="en-US" sz="3300" dirty="0"/>
          </a:p>
          <a:p>
            <a:pPr marL="0" indent="0" algn="l">
              <a:buNone/>
            </a:pPr>
            <a:r>
              <a:rPr lang="en-US" sz="3300" b="1" dirty="0">
                <a:solidFill>
                  <a:srgbClr val="FFFFFF"/>
                </a:solidFill>
                <a:latin typeface="Aptos Display" pitchFamily="34" charset="0"/>
                <a:ea typeface="Aptos Display" pitchFamily="34" charset="-122"/>
                <a:cs typeface="Aptos Display" pitchFamily="34" charset="-120"/>
              </a:rPr>
              <a:t>Ready for modeling.</a:t>
            </a:r>
            <a:endParaRPr lang="en-US" sz="3300" dirty="0"/>
          </a:p>
        </p:txBody>
      </p:sp>
      <p:sp>
        <p:nvSpPr>
          <p:cNvPr id="5" name="Shape 3"/>
          <p:cNvSpPr/>
          <p:nvPr/>
        </p:nvSpPr>
        <p:spPr>
          <a:xfrm>
            <a:off x="850392" y="2807208"/>
            <a:ext cx="118872" cy="118872"/>
          </a:xfrm>
          <a:prstGeom prst="ellipse">
            <a:avLst/>
          </a:prstGeom>
          <a:solidFill>
            <a:srgbClr val="F4A261"/>
          </a:solidFill>
          <a:ln w="12700">
            <a:solidFill>
              <a:srgbClr val="F4A261">
                <a:alpha val="0"/>
              </a:srgbClr>
            </a:solidFill>
            <a:prstDash val="solid"/>
          </a:ln>
        </p:spPr>
        <p:txBody>
          <a:bodyPr/>
          <a:lstStyle/>
          <a:p>
            <a:endParaRPr lang="en-US"/>
          </a:p>
        </p:txBody>
      </p:sp>
      <p:sp>
        <p:nvSpPr>
          <p:cNvPr id="6" name="Text 4"/>
          <p:cNvSpPr txBox="1"/>
          <p:nvPr/>
        </p:nvSpPr>
        <p:spPr>
          <a:xfrm>
            <a:off x="1124712" y="273405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Found clear churn patterns across geography, activity, age and product count.</a:t>
            </a:r>
            <a:endParaRPr lang="en-US" sz="1400" dirty="0"/>
          </a:p>
        </p:txBody>
      </p:sp>
      <p:sp>
        <p:nvSpPr>
          <p:cNvPr id="7" name="Shape 5"/>
          <p:cNvSpPr/>
          <p:nvPr/>
        </p:nvSpPr>
        <p:spPr>
          <a:xfrm>
            <a:off x="850392" y="331012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8" name="Text 6"/>
          <p:cNvSpPr txBox="1"/>
          <p:nvPr/>
        </p:nvSpPr>
        <p:spPr>
          <a:xfrm>
            <a:off x="1124712" y="323697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Removed exact duplicates and identifier/name columns.</a:t>
            </a:r>
            <a:endParaRPr lang="en-US" sz="1400" dirty="0"/>
          </a:p>
        </p:txBody>
      </p:sp>
      <p:sp>
        <p:nvSpPr>
          <p:cNvPr id="9" name="Shape 7"/>
          <p:cNvSpPr/>
          <p:nvPr/>
        </p:nvSpPr>
        <p:spPr>
          <a:xfrm>
            <a:off x="850392" y="381304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10" name="Text 8"/>
          <p:cNvSpPr txBox="1"/>
          <p:nvPr/>
        </p:nvSpPr>
        <p:spPr>
          <a:xfrm>
            <a:off x="1124712" y="373989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Created AgeGroup and HasBalance features.</a:t>
            </a:r>
            <a:endParaRPr lang="en-US" sz="1400" dirty="0"/>
          </a:p>
        </p:txBody>
      </p:sp>
      <p:sp>
        <p:nvSpPr>
          <p:cNvPr id="11" name="Shape 9"/>
          <p:cNvSpPr/>
          <p:nvPr/>
        </p:nvSpPr>
        <p:spPr>
          <a:xfrm>
            <a:off x="850392" y="431596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12" name="Text 10"/>
          <p:cNvSpPr txBox="1"/>
          <p:nvPr/>
        </p:nvSpPr>
        <p:spPr>
          <a:xfrm>
            <a:off x="1124712" y="424281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Built a preprocessing pipeline with imputation, scaling and one-hot encoding.</a:t>
            </a:r>
            <a:endParaRPr lang="en-US" sz="1400" dirty="0"/>
          </a:p>
        </p:txBody>
      </p:sp>
      <p:sp>
        <p:nvSpPr>
          <p:cNvPr id="13" name="Shape 11"/>
          <p:cNvSpPr/>
          <p:nvPr/>
        </p:nvSpPr>
        <p:spPr>
          <a:xfrm>
            <a:off x="850392" y="4818888"/>
            <a:ext cx="118872" cy="118872"/>
          </a:xfrm>
          <a:prstGeom prst="ellipse">
            <a:avLst/>
          </a:prstGeom>
          <a:solidFill>
            <a:srgbClr val="00A6A6"/>
          </a:solidFill>
          <a:ln w="12700">
            <a:solidFill>
              <a:srgbClr val="00A6A6">
                <a:alpha val="0"/>
              </a:srgbClr>
            </a:solidFill>
            <a:prstDash val="solid"/>
          </a:ln>
        </p:spPr>
        <p:txBody>
          <a:bodyPr/>
          <a:lstStyle/>
          <a:p>
            <a:endParaRPr lang="en-US"/>
          </a:p>
        </p:txBody>
      </p:sp>
      <p:sp>
        <p:nvSpPr>
          <p:cNvPr id="14" name="Text 12"/>
          <p:cNvSpPr txBox="1"/>
          <p:nvPr/>
        </p:nvSpPr>
        <p:spPr>
          <a:xfrm>
            <a:off x="1124712" y="4745736"/>
            <a:ext cx="9875520" cy="347472"/>
          </a:xfrm>
          <a:prstGeom prst="rect">
            <a:avLst/>
          </a:prstGeom>
          <a:noFill/>
          <a:ln/>
        </p:spPr>
        <p:txBody>
          <a:bodyPr wrap="square" lIns="0" tIns="0" rIns="0" bIns="0" rtlCol="0" anchor="ctr">
            <a:normAutofit/>
          </a:bodyPr>
          <a:lstStyle/>
          <a:p>
            <a:pPr marL="0" indent="0" algn="l">
              <a:buNone/>
            </a:pPr>
            <a:r>
              <a:rPr lang="en-US" sz="1400" dirty="0">
                <a:solidFill>
                  <a:srgbClr val="D9E2EC"/>
                </a:solidFill>
                <a:latin typeface="Aptos" pitchFamily="34" charset="0"/>
                <a:ea typeface="Aptos" pitchFamily="34" charset="-122"/>
                <a:cs typeface="Aptos" pitchFamily="34" charset="-120"/>
              </a:rPr>
              <a:t>Verified zero train/test overlap and no remaining missing values.</a:t>
            </a:r>
            <a:endParaRPr lang="en-US" sz="1400" dirty="0"/>
          </a:p>
        </p:txBody>
      </p:sp>
      <p:sp>
        <p:nvSpPr>
          <p:cNvPr id="15" name="Shape 13"/>
          <p:cNvSpPr/>
          <p:nvPr/>
        </p:nvSpPr>
        <p:spPr>
          <a:xfrm>
            <a:off x="804672" y="5586984"/>
            <a:ext cx="10607040" cy="0"/>
          </a:xfrm>
          <a:prstGeom prst="line">
            <a:avLst/>
          </a:prstGeom>
          <a:noFill/>
          <a:ln w="12700">
            <a:solidFill>
              <a:srgbClr val="486581"/>
            </a:solidFill>
            <a:prstDash val="solid"/>
          </a:ln>
        </p:spPr>
        <p:txBody>
          <a:bodyPr/>
          <a:lstStyle/>
          <a:p>
            <a:endParaRPr lang="en-US"/>
          </a:p>
        </p:txBody>
      </p:sp>
      <p:sp>
        <p:nvSpPr>
          <p:cNvPr id="16" name="Text 14"/>
          <p:cNvSpPr txBox="1"/>
          <p:nvPr/>
        </p:nvSpPr>
        <p:spPr>
          <a:xfrm>
            <a:off x="822960" y="5824728"/>
            <a:ext cx="10241280" cy="320040"/>
          </a:xfrm>
          <a:prstGeom prst="rect">
            <a:avLst/>
          </a:prstGeom>
          <a:noFill/>
          <a:ln/>
        </p:spPr>
        <p:txBody>
          <a:bodyPr wrap="square" lIns="0" tIns="0" rIns="0" bIns="0" rtlCol="0" anchor="ctr">
            <a:normAutofit/>
          </a:bodyPr>
          <a:lstStyle/>
          <a:p>
            <a:pPr marL="0" indent="0" algn="l">
              <a:buNone/>
            </a:pPr>
            <a:r>
              <a:rPr lang="en-US" sz="1500" b="1" dirty="0">
                <a:solidFill>
                  <a:srgbClr val="FFFFFF"/>
                </a:solidFill>
                <a:latin typeface="Aptos" pitchFamily="34" charset="0"/>
                <a:ea typeface="Aptos" pitchFamily="34" charset="-122"/>
                <a:cs typeface="Aptos" pitchFamily="34" charset="-120"/>
              </a:rPr>
              <a:t>Next step: train and evaluate a machine-learning model in the next milestone.</a:t>
            </a:r>
            <a:endParaRPr lang="en-US" sz="1500" dirty="0"/>
          </a:p>
        </p:txBody>
      </p:sp>
      <p:sp>
        <p:nvSpPr>
          <p:cNvPr id="17" name="Text 15"/>
          <p:cNvSpPr txBox="1"/>
          <p:nvPr/>
        </p:nvSpPr>
        <p:spPr>
          <a:xfrm>
            <a:off x="822960" y="6400800"/>
            <a:ext cx="1828800" cy="182880"/>
          </a:xfrm>
          <a:prstGeom prst="rect">
            <a:avLst/>
          </a:prstGeom>
          <a:noFill/>
          <a:ln/>
        </p:spPr>
        <p:txBody>
          <a:bodyPr wrap="square" lIns="0" tIns="0" rIns="0" bIns="0" rtlCol="0" anchor="ctr">
            <a:normAutofit/>
          </a:bodyPr>
          <a:lstStyle/>
          <a:p>
            <a:pPr marL="0" indent="0" algn="l">
              <a:buNone/>
            </a:pPr>
            <a:r>
              <a:rPr lang="en-US" sz="900" b="1" kern="0" spc="170" dirty="0">
                <a:solidFill>
                  <a:srgbClr val="9FB3C8"/>
                </a:solidFill>
                <a:latin typeface="Aptos" pitchFamily="34" charset="0"/>
                <a:ea typeface="Aptos" pitchFamily="34" charset="-122"/>
                <a:cs typeface="Aptos" pitchFamily="34" charset="-120"/>
              </a:rPr>
              <a:t>THANK YOU</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Rectangle 1"/>
          <p:cNvSpPr/>
          <p:nvPr/>
        </p:nvSpPr>
        <p:spPr>
          <a:xfrm>
            <a:off x="0" y="6848475"/>
            <a:ext cx="1219200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4473773"/>
            <a:ext cx="2819400" cy="438150"/>
          </a:xfrm>
          <a:prstGeom prst="roundRect">
            <a:avLst>
              <a:gd name="adj" fmla="val 17391"/>
            </a:avLst>
          </a:prstGeom>
          <a:solidFill>
            <a:srgbClr val="1B2F4B"/>
          </a:solidFill>
          <a:ln w="9525">
            <a:solidFill>
              <a:srgbClr val="2538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0" y="4473773"/>
            <a:ext cx="3238500" cy="438150"/>
          </a:xfrm>
          <a:prstGeom prst="roundRect">
            <a:avLst>
              <a:gd name="adj" fmla="val 17391"/>
            </a:avLst>
          </a:prstGeom>
          <a:solidFill>
            <a:srgbClr val="1B2F4B"/>
          </a:solidFill>
          <a:ln w="9525">
            <a:solidFill>
              <a:srgbClr val="2538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561781" y="1292563"/>
            <a:ext cx="266700" cy="266700"/>
          </a:xfrm>
          <a:prstGeom prst="rect">
            <a:avLst/>
          </a:prstGeom>
        </p:spPr>
      </p:pic>
      <p:sp>
        <p:nvSpPr>
          <p:cNvPr id="6" name="TextBox 5"/>
          <p:cNvSpPr txBox="1"/>
          <p:nvPr/>
        </p:nvSpPr>
        <p:spPr>
          <a:xfrm>
            <a:off x="609600" y="2262840"/>
            <a:ext cx="11251406" cy="613320"/>
          </a:xfrm>
          <a:prstGeom prst="rect">
            <a:avLst/>
          </a:prstGeom>
          <a:noFill/>
        </p:spPr>
        <p:txBody>
          <a:bodyPr wrap="none" lIns="0" tIns="0" rIns="0" bIns="0" anchor="t">
            <a:spAutoFit/>
          </a:bodyPr>
          <a:lstStyle/>
          <a:p>
            <a:pPr algn="l">
              <a:lnSpc>
                <a:spcPts val="4830"/>
              </a:lnSpc>
            </a:pPr>
            <a:r>
              <a:rPr sz="4200" b="1" i="0" u="none" dirty="0">
                <a:solidFill>
                  <a:srgbClr val="FFFFFF"/>
                </a:solidFill>
                <a:latin typeface="Space Grotesk"/>
              </a:rPr>
              <a:t>Bank Customer Churn Prediction</a:t>
            </a:r>
          </a:p>
        </p:txBody>
      </p:sp>
      <p:sp>
        <p:nvSpPr>
          <p:cNvPr id="7" name="TextBox 6"/>
          <p:cNvSpPr txBox="1"/>
          <p:nvPr/>
        </p:nvSpPr>
        <p:spPr>
          <a:xfrm>
            <a:off x="609600" y="3285336"/>
            <a:ext cx="6953250" cy="857250"/>
          </a:xfrm>
          <a:prstGeom prst="rect">
            <a:avLst/>
          </a:prstGeom>
          <a:noFill/>
        </p:spPr>
        <p:txBody>
          <a:bodyPr wrap="square" lIns="0" tIns="0" rIns="0" bIns="0" anchor="t">
            <a:spAutoFit/>
          </a:bodyPr>
          <a:lstStyle/>
          <a:p>
            <a:pPr algn="l">
              <a:lnSpc>
                <a:spcPts val="2250"/>
              </a:lnSpc>
            </a:pPr>
            <a:r>
              <a:rPr sz="1500" b="0" i="0" u="none" dirty="0">
                <a:solidFill>
                  <a:srgbClr val="94A3B8"/>
                </a:solidFill>
                <a:latin typeface="Inter"/>
              </a:rPr>
              <a:t>Building on the groundwork of Milestones 1–3 to present machine learning model performance, evaluation metrics, and strategic recommendations for Demo Day.</a:t>
            </a:r>
          </a:p>
        </p:txBody>
      </p:sp>
      <p:sp>
        <p:nvSpPr>
          <p:cNvPr id="9" name="TextBox 8"/>
          <p:cNvSpPr txBox="1"/>
          <p:nvPr/>
        </p:nvSpPr>
        <p:spPr>
          <a:xfrm>
            <a:off x="800100" y="4588073"/>
            <a:ext cx="2533650" cy="209550"/>
          </a:xfrm>
          <a:prstGeom prst="rect">
            <a:avLst/>
          </a:prstGeom>
          <a:noFill/>
        </p:spPr>
        <p:txBody>
          <a:bodyPr wrap="square" lIns="0" tIns="0" rIns="0" bIns="0" anchor="t">
            <a:spAutoFit/>
          </a:bodyPr>
          <a:lstStyle/>
          <a:p>
            <a:pPr algn="l"/>
            <a:r>
              <a:rPr sz="1050" b="0" i="0" u="none">
                <a:solidFill>
                  <a:srgbClr val="CBD5E1"/>
                </a:solidFill>
                <a:latin typeface="Inter"/>
              </a:rPr>
              <a:t>Status: </a:t>
            </a:r>
            <a:r>
              <a:rPr sz="1050" b="1" i="0" u="none">
                <a:solidFill>
                  <a:srgbClr val="38BDF8"/>
                </a:solidFill>
                <a:latin typeface="Inter"/>
              </a:rPr>
              <a:t>Milestones 1, 2 &amp; 3 Completed</a:t>
            </a:r>
          </a:p>
        </p:txBody>
      </p:sp>
      <p:sp>
        <p:nvSpPr>
          <p:cNvPr id="10" name="TextBox 9"/>
          <p:cNvSpPr txBox="1"/>
          <p:nvPr/>
        </p:nvSpPr>
        <p:spPr>
          <a:xfrm>
            <a:off x="3848100" y="4588073"/>
            <a:ext cx="2952750" cy="209550"/>
          </a:xfrm>
          <a:prstGeom prst="rect">
            <a:avLst/>
          </a:prstGeom>
          <a:noFill/>
        </p:spPr>
        <p:txBody>
          <a:bodyPr wrap="square" lIns="0" tIns="0" rIns="0" bIns="0" anchor="t">
            <a:spAutoFit/>
          </a:bodyPr>
          <a:lstStyle/>
          <a:p>
            <a:pPr algn="l"/>
            <a:r>
              <a:rPr sz="1050" b="0" i="0" u="none">
                <a:solidFill>
                  <a:srgbClr val="CBD5E1"/>
                </a:solidFill>
                <a:latin typeface="Inter"/>
              </a:rPr>
              <a:t>Current Focus: </a:t>
            </a:r>
            <a:r>
              <a:rPr sz="1050" b="1" i="0" u="none">
                <a:solidFill>
                  <a:srgbClr val="34D399"/>
                </a:solidFill>
                <a:latin typeface="Inter"/>
              </a:rPr>
              <a:t>Milestone 4 &amp; Demo Day Prep</a:t>
            </a:r>
          </a:p>
        </p:txBody>
      </p:sp>
      <p:sp>
        <p:nvSpPr>
          <p:cNvPr id="12" name="TextBox 11">
            <a:extLst>
              <a:ext uri="{FF2B5EF4-FFF2-40B4-BE49-F238E27FC236}">
                <a16:creationId xmlns:a16="http://schemas.microsoft.com/office/drawing/2014/main" id="{DB425B22-DE82-3DF2-46AD-E9A0C769C53E}"/>
              </a:ext>
            </a:extLst>
          </p:cNvPr>
          <p:cNvSpPr txBox="1"/>
          <p:nvPr/>
        </p:nvSpPr>
        <p:spPr>
          <a:xfrm>
            <a:off x="800100" y="1102748"/>
            <a:ext cx="11177553" cy="646331"/>
          </a:xfrm>
          <a:prstGeom prst="rect">
            <a:avLst/>
          </a:prstGeom>
          <a:noFill/>
        </p:spPr>
        <p:txBody>
          <a:bodyPr wrap="square">
            <a:spAutoFit/>
          </a:bodyPr>
          <a:lstStyle/>
          <a:p>
            <a:pPr algn="l"/>
            <a:r>
              <a:rPr lang="en-US" sz="3600" b="1" i="0" u="none" dirty="0">
                <a:solidFill>
                  <a:srgbClr val="93C5FD"/>
                </a:solidFill>
                <a:latin typeface="Inter"/>
              </a:rPr>
              <a:t>PROJECT REVIEW 4 - MILESTONE 4</a:t>
            </a:r>
          </a:p>
        </p:txBody>
      </p:sp>
      <p:sp>
        <p:nvSpPr>
          <p:cNvPr id="14" name="Rounded Rectangle 4">
            <a:hlinkClick r:id="rId3"/>
            <a:extLst>
              <a:ext uri="{FF2B5EF4-FFF2-40B4-BE49-F238E27FC236}">
                <a16:creationId xmlns:a16="http://schemas.microsoft.com/office/drawing/2014/main" id="{AF87F7DF-9CF7-A065-04C9-8E7338A88FBC}"/>
              </a:ext>
            </a:extLst>
          </p:cNvPr>
          <p:cNvSpPr/>
          <p:nvPr/>
        </p:nvSpPr>
        <p:spPr>
          <a:xfrm>
            <a:off x="4963886" y="5887015"/>
            <a:ext cx="7106194" cy="371475"/>
          </a:xfrm>
          <a:prstGeom prst="roundRect">
            <a:avLst>
              <a:gd name="adj" fmla="val 20512"/>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2">
                    <a:lumMod val="60000"/>
                    <a:lumOff val="40000"/>
                  </a:schemeClr>
                </a:solidFill>
                <a:hlinkClick r:id="rId3">
                  <a:extLst>
                    <a:ext uri="{A12FA001-AC4F-418D-AE19-62706E023703}">
                      <ahyp:hlinkClr xmlns:ahyp="http://schemas.microsoft.com/office/drawing/2018/hyperlinkcolor" val="tx"/>
                    </a:ext>
                  </a:extLst>
                </a:hlinkClick>
              </a:rPr>
              <a:t>https://github.com/hibaalshalabi/Bank-Customer-Churn-Prediction.git</a:t>
            </a:r>
            <a:endParaRPr dirty="0">
              <a:solidFill>
                <a:schemeClr val="tx2">
                  <a:lumMod val="60000"/>
                  <a:lumOff val="40000"/>
                </a:schemeClr>
              </a:solidFill>
            </a:endParaRPr>
          </a:p>
        </p:txBody>
      </p:sp>
      <p:pic>
        <p:nvPicPr>
          <p:cNvPr id="16" name="Picture 15" descr="image.png">
            <a:extLst>
              <a:ext uri="{FF2B5EF4-FFF2-40B4-BE49-F238E27FC236}">
                <a16:creationId xmlns:a16="http://schemas.microsoft.com/office/drawing/2014/main" id="{7EAA6185-4D5D-70BC-9349-5944A5B75086}"/>
              </a:ext>
            </a:extLst>
          </p:cNvPr>
          <p:cNvPicPr>
            <a:picLocks noChangeAspect="1"/>
          </p:cNvPicPr>
          <p:nvPr/>
        </p:nvPicPr>
        <p:blipFill>
          <a:blip r:embed="rId4"/>
          <a:stretch>
            <a:fillRect/>
          </a:stretch>
        </p:blipFill>
        <p:spPr>
          <a:xfrm>
            <a:off x="4963886" y="5946438"/>
            <a:ext cx="238595" cy="252630"/>
          </a:xfrm>
          <a:prstGeom prst="rect">
            <a:avLst/>
          </a:prstGeom>
        </p:spPr>
      </p:pic>
      <p:sp>
        <p:nvSpPr>
          <p:cNvPr id="18" name="Rounded Rectangle 4">
            <a:extLst>
              <a:ext uri="{FF2B5EF4-FFF2-40B4-BE49-F238E27FC236}">
                <a16:creationId xmlns:a16="http://schemas.microsoft.com/office/drawing/2014/main" id="{B4A4C8C9-F9BD-B7FD-AB14-1688CF7C40AA}"/>
              </a:ext>
            </a:extLst>
          </p:cNvPr>
          <p:cNvSpPr/>
          <p:nvPr/>
        </p:nvSpPr>
        <p:spPr>
          <a:xfrm>
            <a:off x="609601" y="5887016"/>
            <a:ext cx="3259013" cy="371475"/>
          </a:xfrm>
          <a:prstGeom prst="roundRect">
            <a:avLst>
              <a:gd name="adj" fmla="val 2051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2">
                    <a:lumMod val="40000"/>
                    <a:lumOff val="60000"/>
                  </a:schemeClr>
                </a:solidFill>
              </a:rPr>
              <a:t>HIBA MUKARUAM MAHMOUD</a:t>
            </a:r>
            <a:endParaRPr dirty="0">
              <a:solidFill>
                <a:schemeClr val="tx2">
                  <a:lumMod val="40000"/>
                  <a:lumOff val="6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1390650"/>
            <a:ext cx="2595562" cy="5010150"/>
          </a:xfrm>
          <a:prstGeom prst="roundRect">
            <a:avLst>
              <a:gd name="adj" fmla="val 44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395662" y="1390650"/>
            <a:ext cx="2595562" cy="5010150"/>
          </a:xfrm>
          <a:prstGeom prst="roundRect">
            <a:avLst>
              <a:gd name="adj" fmla="val 44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81725" y="1390650"/>
            <a:ext cx="2595562" cy="5010150"/>
          </a:xfrm>
          <a:prstGeom prst="roundRect">
            <a:avLst>
              <a:gd name="adj" fmla="val 44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967787" y="1390650"/>
            <a:ext cx="2614612" cy="5010150"/>
          </a:xfrm>
          <a:prstGeom prst="roundRect">
            <a:avLst>
              <a:gd name="adj" fmla="val 4371"/>
            </a:avLst>
          </a:prstGeom>
          <a:solidFill>
            <a:srgbClr val="F0F9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47725" y="1638300"/>
            <a:ext cx="800100" cy="219075"/>
          </a:xfrm>
          <a:prstGeom prst="roundRect">
            <a:avLst>
              <a:gd name="adj" fmla="val 26086"/>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33787" y="1638300"/>
            <a:ext cx="819150" cy="219075"/>
          </a:xfrm>
          <a:prstGeom prst="roundRect">
            <a:avLst>
              <a:gd name="adj" fmla="val 26086"/>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19850" y="1638300"/>
            <a:ext cx="819150" cy="219075"/>
          </a:xfrm>
          <a:prstGeom prst="roundRect">
            <a:avLst>
              <a:gd name="adj" fmla="val 26086"/>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215437" y="1647825"/>
            <a:ext cx="828675" cy="219075"/>
          </a:xfrm>
          <a:prstGeom prst="roundRect">
            <a:avLst>
              <a:gd name="adj" fmla="val 26086"/>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847725" y="6024562"/>
            <a:ext cx="123825" cy="123825"/>
          </a:xfrm>
          <a:prstGeom prst="rect">
            <a:avLst/>
          </a:prstGeom>
        </p:spPr>
      </p:pic>
      <p:pic>
        <p:nvPicPr>
          <p:cNvPr id="11" name="Picture 10" descr="image.png"/>
          <p:cNvPicPr>
            <a:picLocks noChangeAspect="1"/>
          </p:cNvPicPr>
          <p:nvPr/>
        </p:nvPicPr>
        <p:blipFill>
          <a:blip r:embed="rId2"/>
          <a:stretch>
            <a:fillRect/>
          </a:stretch>
        </p:blipFill>
        <p:spPr>
          <a:xfrm>
            <a:off x="3633787" y="6024562"/>
            <a:ext cx="123825" cy="123825"/>
          </a:xfrm>
          <a:prstGeom prst="rect">
            <a:avLst/>
          </a:prstGeom>
        </p:spPr>
      </p:pic>
      <p:pic>
        <p:nvPicPr>
          <p:cNvPr id="12" name="Picture 11" descr="image.png"/>
          <p:cNvPicPr>
            <a:picLocks noChangeAspect="1"/>
          </p:cNvPicPr>
          <p:nvPr/>
        </p:nvPicPr>
        <p:blipFill>
          <a:blip r:embed="rId2"/>
          <a:stretch>
            <a:fillRect/>
          </a:stretch>
        </p:blipFill>
        <p:spPr>
          <a:xfrm>
            <a:off x="6419850" y="6024562"/>
            <a:ext cx="123825" cy="123825"/>
          </a:xfrm>
          <a:prstGeom prst="rect">
            <a:avLst/>
          </a:prstGeom>
        </p:spPr>
      </p:pic>
      <p:pic>
        <p:nvPicPr>
          <p:cNvPr id="13" name="Picture 12" descr="image.png"/>
          <p:cNvPicPr>
            <a:picLocks noChangeAspect="1"/>
          </p:cNvPicPr>
          <p:nvPr/>
        </p:nvPicPr>
        <p:blipFill>
          <a:blip r:embed="rId3"/>
          <a:stretch>
            <a:fillRect/>
          </a:stretch>
        </p:blipFill>
        <p:spPr>
          <a:xfrm>
            <a:off x="9215437" y="6015037"/>
            <a:ext cx="95250" cy="123825"/>
          </a:xfrm>
          <a:prstGeom prst="rect">
            <a:avLst/>
          </a:prstGeom>
        </p:spPr>
      </p:pic>
      <p:sp>
        <p:nvSpPr>
          <p:cNvPr id="14" name="TextBox 13"/>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PROJECT JOURNEY</a:t>
            </a:r>
          </a:p>
        </p:txBody>
      </p:sp>
      <p:sp>
        <p:nvSpPr>
          <p:cNvPr id="15" name="TextBox 14"/>
          <p:cNvSpPr txBox="1"/>
          <p:nvPr/>
        </p:nvSpPr>
        <p:spPr>
          <a:xfrm>
            <a:off x="609600" y="704850"/>
            <a:ext cx="11582400" cy="381000"/>
          </a:xfrm>
          <a:prstGeom prst="rect">
            <a:avLst/>
          </a:prstGeom>
          <a:noFill/>
        </p:spPr>
        <p:txBody>
          <a:bodyPr wrap="none" lIns="0" tIns="0" rIns="0" bIns="0" anchor="t">
            <a:spAutoFit/>
          </a:bodyPr>
          <a:lstStyle/>
          <a:p>
            <a:pPr algn="l"/>
            <a:r>
              <a:rPr sz="2400" b="1" i="0" u="none">
                <a:solidFill>
                  <a:srgbClr val="0F172A"/>
                </a:solidFill>
                <a:latin typeface="Plus Jakarta Sans"/>
              </a:rPr>
              <a:t>Milestones Execution Overview</a:t>
            </a:r>
          </a:p>
        </p:txBody>
      </p:sp>
      <p:sp>
        <p:nvSpPr>
          <p:cNvPr id="16" name="TextBox 15"/>
          <p:cNvSpPr txBox="1"/>
          <p:nvPr/>
        </p:nvSpPr>
        <p:spPr>
          <a:xfrm>
            <a:off x="1028700" y="6010275"/>
            <a:ext cx="2468165" cy="152400"/>
          </a:xfrm>
          <a:prstGeom prst="rect">
            <a:avLst/>
          </a:prstGeom>
          <a:noFill/>
        </p:spPr>
        <p:txBody>
          <a:bodyPr wrap="none" lIns="0" tIns="0" rIns="0" bIns="0" anchor="ctr">
            <a:spAutoFit/>
          </a:bodyPr>
          <a:lstStyle/>
          <a:p>
            <a:pPr algn="l"/>
            <a:r>
              <a:rPr sz="975" b="1" i="0" u="none">
                <a:solidFill>
                  <a:srgbClr val="16A34A"/>
                </a:solidFill>
                <a:latin typeface="Plus Jakarta Sans"/>
              </a:rPr>
              <a:t>Completed</a:t>
            </a:r>
          </a:p>
        </p:txBody>
      </p:sp>
      <p:sp>
        <p:nvSpPr>
          <p:cNvPr id="17" name="TextBox 16"/>
          <p:cNvSpPr txBox="1"/>
          <p:nvPr/>
        </p:nvSpPr>
        <p:spPr>
          <a:xfrm>
            <a:off x="3814762" y="6010275"/>
            <a:ext cx="2468165" cy="152400"/>
          </a:xfrm>
          <a:prstGeom prst="rect">
            <a:avLst/>
          </a:prstGeom>
          <a:noFill/>
        </p:spPr>
        <p:txBody>
          <a:bodyPr wrap="none" lIns="0" tIns="0" rIns="0" bIns="0" anchor="ctr">
            <a:spAutoFit/>
          </a:bodyPr>
          <a:lstStyle/>
          <a:p>
            <a:pPr algn="l"/>
            <a:r>
              <a:rPr sz="975" b="1" i="0" u="none">
                <a:solidFill>
                  <a:srgbClr val="16A34A"/>
                </a:solidFill>
                <a:latin typeface="Plus Jakarta Sans"/>
              </a:rPr>
              <a:t>Completed</a:t>
            </a:r>
          </a:p>
        </p:txBody>
      </p:sp>
      <p:sp>
        <p:nvSpPr>
          <p:cNvPr id="18" name="TextBox 17"/>
          <p:cNvSpPr txBox="1"/>
          <p:nvPr/>
        </p:nvSpPr>
        <p:spPr>
          <a:xfrm>
            <a:off x="6600825" y="6010275"/>
            <a:ext cx="2468165" cy="152400"/>
          </a:xfrm>
          <a:prstGeom prst="rect">
            <a:avLst/>
          </a:prstGeom>
          <a:noFill/>
        </p:spPr>
        <p:txBody>
          <a:bodyPr wrap="none" lIns="0" tIns="0" rIns="0" bIns="0" anchor="ctr">
            <a:spAutoFit/>
          </a:bodyPr>
          <a:lstStyle/>
          <a:p>
            <a:pPr algn="l"/>
            <a:r>
              <a:rPr sz="975" b="1" i="0" u="none">
                <a:solidFill>
                  <a:srgbClr val="16A34A"/>
                </a:solidFill>
                <a:latin typeface="Plus Jakarta Sans"/>
              </a:rPr>
              <a:t>Completed</a:t>
            </a:r>
          </a:p>
        </p:txBody>
      </p:sp>
      <p:sp>
        <p:nvSpPr>
          <p:cNvPr id="19" name="TextBox 18"/>
          <p:cNvSpPr txBox="1"/>
          <p:nvPr/>
        </p:nvSpPr>
        <p:spPr>
          <a:xfrm>
            <a:off x="9367837" y="6000750"/>
            <a:ext cx="2496740" cy="152400"/>
          </a:xfrm>
          <a:prstGeom prst="rect">
            <a:avLst/>
          </a:prstGeom>
          <a:noFill/>
        </p:spPr>
        <p:txBody>
          <a:bodyPr wrap="none" lIns="0" tIns="0" rIns="0" bIns="0" anchor="ctr">
            <a:spAutoFit/>
          </a:bodyPr>
          <a:lstStyle/>
          <a:p>
            <a:pPr algn="l"/>
            <a:r>
              <a:rPr sz="975" b="1" i="0" u="none">
                <a:solidFill>
                  <a:srgbClr val="0284C7"/>
                </a:solidFill>
                <a:latin typeface="Plus Jakarta Sans"/>
              </a:rPr>
              <a:t>Presenting Now</a:t>
            </a:r>
          </a:p>
        </p:txBody>
      </p:sp>
      <p:sp>
        <p:nvSpPr>
          <p:cNvPr id="20" name="TextBox 19"/>
          <p:cNvSpPr txBox="1"/>
          <p:nvPr/>
        </p:nvSpPr>
        <p:spPr>
          <a:xfrm>
            <a:off x="942975" y="1676400"/>
            <a:ext cx="704850" cy="142875"/>
          </a:xfrm>
          <a:prstGeom prst="rect">
            <a:avLst/>
          </a:prstGeom>
          <a:noFill/>
        </p:spPr>
        <p:txBody>
          <a:bodyPr wrap="square" lIns="0" tIns="0" rIns="0" bIns="0" anchor="t">
            <a:spAutoFit/>
          </a:bodyPr>
          <a:lstStyle/>
          <a:p>
            <a:pPr algn="l"/>
            <a:r>
              <a:rPr sz="900" b="1" i="0" u="none">
                <a:solidFill>
                  <a:srgbClr val="475569"/>
                </a:solidFill>
                <a:latin typeface="Plus Jakarta Sans"/>
              </a:rPr>
              <a:t>Milestone 1</a:t>
            </a:r>
          </a:p>
        </p:txBody>
      </p:sp>
      <p:sp>
        <p:nvSpPr>
          <p:cNvPr id="21" name="TextBox 20"/>
          <p:cNvSpPr txBox="1"/>
          <p:nvPr/>
        </p:nvSpPr>
        <p:spPr>
          <a:xfrm>
            <a:off x="847725" y="1981200"/>
            <a:ext cx="2325290" cy="438150"/>
          </a:xfrm>
          <a:prstGeom prst="rect">
            <a:avLst/>
          </a:prstGeom>
          <a:noFill/>
        </p:spPr>
        <p:txBody>
          <a:bodyPr wrap="square" lIns="0" tIns="0" rIns="0" bIns="0" anchor="t">
            <a:spAutoFit/>
          </a:bodyPr>
          <a:lstStyle/>
          <a:p>
            <a:pPr algn="l"/>
            <a:r>
              <a:rPr sz="1350" b="1" i="0" u="none">
                <a:solidFill>
                  <a:srgbClr val="0F172A"/>
                </a:solidFill>
                <a:latin typeface="Plus Jakarta Sans"/>
              </a:rPr>
              <a:t>Problem &amp; Data Definition</a:t>
            </a:r>
          </a:p>
        </p:txBody>
      </p:sp>
      <p:sp>
        <p:nvSpPr>
          <p:cNvPr id="22" name="TextBox 21"/>
          <p:cNvSpPr txBox="1"/>
          <p:nvPr/>
        </p:nvSpPr>
        <p:spPr>
          <a:xfrm>
            <a:off x="847725" y="2495550"/>
            <a:ext cx="2214562"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Plus Jakarta Sans"/>
              </a:rPr>
              <a:t>Defined target column 'Exited' and verified dataset schema across 10,000 records.</a:t>
            </a:r>
          </a:p>
        </p:txBody>
      </p:sp>
      <p:sp>
        <p:nvSpPr>
          <p:cNvPr id="23" name="TextBox 22"/>
          <p:cNvSpPr txBox="1"/>
          <p:nvPr/>
        </p:nvSpPr>
        <p:spPr>
          <a:xfrm>
            <a:off x="3729037" y="1676400"/>
            <a:ext cx="723900" cy="142875"/>
          </a:xfrm>
          <a:prstGeom prst="rect">
            <a:avLst/>
          </a:prstGeom>
          <a:noFill/>
        </p:spPr>
        <p:txBody>
          <a:bodyPr wrap="square" lIns="0" tIns="0" rIns="0" bIns="0" anchor="t">
            <a:spAutoFit/>
          </a:bodyPr>
          <a:lstStyle/>
          <a:p>
            <a:pPr algn="l"/>
            <a:r>
              <a:rPr sz="900" b="1" i="0" u="none">
                <a:solidFill>
                  <a:srgbClr val="475569"/>
                </a:solidFill>
                <a:latin typeface="Plus Jakarta Sans"/>
              </a:rPr>
              <a:t>Milestone 2</a:t>
            </a:r>
          </a:p>
        </p:txBody>
      </p:sp>
      <p:sp>
        <p:nvSpPr>
          <p:cNvPr id="24" name="TextBox 23"/>
          <p:cNvSpPr txBox="1"/>
          <p:nvPr/>
        </p:nvSpPr>
        <p:spPr>
          <a:xfrm>
            <a:off x="3633787" y="1981200"/>
            <a:ext cx="2781597" cy="219075"/>
          </a:xfrm>
          <a:prstGeom prst="rect">
            <a:avLst/>
          </a:prstGeom>
          <a:noFill/>
        </p:spPr>
        <p:txBody>
          <a:bodyPr wrap="none" lIns="0" tIns="0" rIns="0" bIns="0" anchor="t">
            <a:spAutoFit/>
          </a:bodyPr>
          <a:lstStyle/>
          <a:p>
            <a:pPr algn="l"/>
            <a:r>
              <a:rPr sz="1350" b="1" i="0" u="none">
                <a:solidFill>
                  <a:srgbClr val="0F172A"/>
                </a:solidFill>
                <a:latin typeface="Plus Jakarta Sans"/>
              </a:rPr>
              <a:t>Data Cleaning</a:t>
            </a:r>
          </a:p>
        </p:txBody>
      </p:sp>
      <p:sp>
        <p:nvSpPr>
          <p:cNvPr id="25" name="TextBox 24"/>
          <p:cNvSpPr txBox="1"/>
          <p:nvPr/>
        </p:nvSpPr>
        <p:spPr>
          <a:xfrm>
            <a:off x="3633787" y="2276475"/>
            <a:ext cx="2214562"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Plus Jakarta Sans"/>
              </a:rPr>
              <a:t>Processed missing fields, duplicate checks, and dropped redundant non-predictive IDs.</a:t>
            </a:r>
          </a:p>
        </p:txBody>
      </p:sp>
      <p:sp>
        <p:nvSpPr>
          <p:cNvPr id="26" name="TextBox 25"/>
          <p:cNvSpPr txBox="1"/>
          <p:nvPr/>
        </p:nvSpPr>
        <p:spPr>
          <a:xfrm>
            <a:off x="6515100" y="1676400"/>
            <a:ext cx="723900" cy="142875"/>
          </a:xfrm>
          <a:prstGeom prst="rect">
            <a:avLst/>
          </a:prstGeom>
          <a:noFill/>
        </p:spPr>
        <p:txBody>
          <a:bodyPr wrap="square" lIns="0" tIns="0" rIns="0" bIns="0" anchor="t">
            <a:spAutoFit/>
          </a:bodyPr>
          <a:lstStyle/>
          <a:p>
            <a:pPr algn="l"/>
            <a:r>
              <a:rPr sz="900" b="1" i="0" u="none">
                <a:solidFill>
                  <a:srgbClr val="475569"/>
                </a:solidFill>
                <a:latin typeface="Plus Jakarta Sans"/>
              </a:rPr>
              <a:t>Milestone 3</a:t>
            </a:r>
          </a:p>
        </p:txBody>
      </p:sp>
      <p:sp>
        <p:nvSpPr>
          <p:cNvPr id="27" name="TextBox 26"/>
          <p:cNvSpPr txBox="1"/>
          <p:nvPr/>
        </p:nvSpPr>
        <p:spPr>
          <a:xfrm>
            <a:off x="6419850" y="1981200"/>
            <a:ext cx="2781597" cy="219075"/>
          </a:xfrm>
          <a:prstGeom prst="rect">
            <a:avLst/>
          </a:prstGeom>
          <a:noFill/>
        </p:spPr>
        <p:txBody>
          <a:bodyPr wrap="none" lIns="0" tIns="0" rIns="0" bIns="0" anchor="t">
            <a:spAutoFit/>
          </a:bodyPr>
          <a:lstStyle/>
          <a:p>
            <a:pPr algn="l"/>
            <a:r>
              <a:rPr sz="1350" b="1" i="0" u="none">
                <a:solidFill>
                  <a:srgbClr val="0F172A"/>
                </a:solidFill>
                <a:latin typeface="Plus Jakarta Sans"/>
              </a:rPr>
              <a:t>EDA &amp; Features</a:t>
            </a:r>
          </a:p>
        </p:txBody>
      </p:sp>
      <p:sp>
        <p:nvSpPr>
          <p:cNvPr id="28" name="TextBox 27"/>
          <p:cNvSpPr txBox="1"/>
          <p:nvPr/>
        </p:nvSpPr>
        <p:spPr>
          <a:xfrm>
            <a:off x="6419850" y="2276475"/>
            <a:ext cx="2214562"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Plus Jakarta Sans"/>
              </a:rPr>
              <a:t>Analyzed churn correlations, imbalance ratios, and feature importance indicators.</a:t>
            </a:r>
          </a:p>
        </p:txBody>
      </p:sp>
      <p:sp>
        <p:nvSpPr>
          <p:cNvPr id="29" name="TextBox 28"/>
          <p:cNvSpPr txBox="1"/>
          <p:nvPr/>
        </p:nvSpPr>
        <p:spPr>
          <a:xfrm>
            <a:off x="9310687" y="1685925"/>
            <a:ext cx="733425" cy="142875"/>
          </a:xfrm>
          <a:prstGeom prst="rect">
            <a:avLst/>
          </a:prstGeom>
          <a:noFill/>
        </p:spPr>
        <p:txBody>
          <a:bodyPr wrap="square" lIns="0" tIns="0" rIns="0" bIns="0" anchor="t">
            <a:spAutoFit/>
          </a:bodyPr>
          <a:lstStyle/>
          <a:p>
            <a:pPr algn="l"/>
            <a:r>
              <a:rPr sz="900" b="1" i="0" u="none">
                <a:solidFill>
                  <a:srgbClr val="FFFFFF"/>
                </a:solidFill>
                <a:latin typeface="Plus Jakarta Sans"/>
              </a:rPr>
              <a:t>Milestone 4</a:t>
            </a:r>
          </a:p>
        </p:txBody>
      </p:sp>
      <p:sp>
        <p:nvSpPr>
          <p:cNvPr id="30" name="TextBox 29"/>
          <p:cNvSpPr txBox="1"/>
          <p:nvPr/>
        </p:nvSpPr>
        <p:spPr>
          <a:xfrm>
            <a:off x="9215437" y="1990725"/>
            <a:ext cx="2781597" cy="219075"/>
          </a:xfrm>
          <a:prstGeom prst="rect">
            <a:avLst/>
          </a:prstGeom>
          <a:noFill/>
        </p:spPr>
        <p:txBody>
          <a:bodyPr wrap="none" lIns="0" tIns="0" rIns="0" bIns="0" anchor="t">
            <a:spAutoFit/>
          </a:bodyPr>
          <a:lstStyle/>
          <a:p>
            <a:pPr algn="l"/>
            <a:r>
              <a:rPr sz="1350" b="1" i="0" u="none" dirty="0">
                <a:solidFill>
                  <a:srgbClr val="0369A1"/>
                </a:solidFill>
                <a:latin typeface="Plus Jakarta Sans"/>
              </a:rPr>
              <a:t>Modeling &amp; Serving</a:t>
            </a:r>
          </a:p>
        </p:txBody>
      </p:sp>
      <p:sp>
        <p:nvSpPr>
          <p:cNvPr id="31" name="TextBox 30"/>
          <p:cNvSpPr txBox="1"/>
          <p:nvPr/>
        </p:nvSpPr>
        <p:spPr>
          <a:xfrm>
            <a:off x="9215437" y="2286000"/>
            <a:ext cx="2214562" cy="600075"/>
          </a:xfrm>
          <a:prstGeom prst="rect">
            <a:avLst/>
          </a:prstGeom>
          <a:noFill/>
        </p:spPr>
        <p:txBody>
          <a:bodyPr wrap="square" lIns="0" tIns="0" rIns="0" bIns="0" anchor="t">
            <a:spAutoFit/>
          </a:bodyPr>
          <a:lstStyle/>
          <a:p>
            <a:pPr algn="l">
              <a:lnSpc>
                <a:spcPts val="1575"/>
              </a:lnSpc>
            </a:pPr>
            <a:r>
              <a:rPr sz="1050" b="0" i="0" u="none">
                <a:solidFill>
                  <a:srgbClr val="334155"/>
                </a:solidFill>
                <a:latin typeface="Plus Jakarta Sans"/>
              </a:rPr>
              <a:t>Pipelines, 5-Fold Stratified CV, export, and Streamlit inference architecture.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686800" cy="228600"/>
          </a:xfrm>
          <a:prstGeom prst="rect">
            <a:avLst/>
          </a:prstGeom>
          <a:noFill/>
        </p:spPr>
        <p:txBody>
          <a:bodyPr wrap="square" lIns="54864" tIns="54864" rIns="54864" bIns="54864" anchor="t">
            <a:spAutoFit/>
          </a:bodyPr>
          <a:lstStyle/>
          <a:p>
            <a:r>
              <a:rPr sz="900" b="1">
                <a:solidFill>
                  <a:srgbClr val="18A9A7"/>
                </a:solidFill>
                <a:latin typeface="Aptos"/>
              </a:rPr>
              <a:t>MILESTONE 4 • PRACTICAL WALKTHROUGH</a:t>
            </a:r>
          </a:p>
        </p:txBody>
      </p:sp>
      <p:sp>
        <p:nvSpPr>
          <p:cNvPr id="3" name="TextBox 2"/>
          <p:cNvSpPr txBox="1"/>
          <p:nvPr/>
        </p:nvSpPr>
        <p:spPr>
          <a:xfrm>
            <a:off x="502920" y="566928"/>
            <a:ext cx="11064240" cy="530352"/>
          </a:xfrm>
          <a:prstGeom prst="rect">
            <a:avLst/>
          </a:prstGeom>
          <a:noFill/>
        </p:spPr>
        <p:txBody>
          <a:bodyPr wrap="square" lIns="54864" tIns="54864" rIns="54864" bIns="54864" anchor="t">
            <a:spAutoFit/>
          </a:bodyPr>
          <a:lstStyle/>
          <a:p>
            <a:r>
              <a:rPr sz="2600" b="1">
                <a:solidFill>
                  <a:srgbClr val="081931"/>
                </a:solidFill>
                <a:latin typeface="Aptos"/>
              </a:rPr>
              <a:t>What this presentation demonstrates</a:t>
            </a:r>
          </a:p>
        </p:txBody>
      </p:sp>
      <p:sp>
        <p:nvSpPr>
          <p:cNvPr id="4" name="Rectangle 3"/>
          <p:cNvSpPr/>
          <p:nvPr/>
        </p:nvSpPr>
        <p:spPr>
          <a:xfrm>
            <a:off x="530352" y="1170432"/>
            <a:ext cx="685800" cy="41148"/>
          </a:xfrm>
          <a:prstGeom prst="rect">
            <a:avLst/>
          </a:prstGeom>
          <a:solidFill>
            <a:srgbClr val="18A9A7"/>
          </a:solidFill>
          <a:ln>
            <a:solidFill>
              <a:srgbClr val="18A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492240"/>
            <a:ext cx="7315200" cy="164592"/>
          </a:xfrm>
          <a:prstGeom prst="rect">
            <a:avLst/>
          </a:prstGeom>
          <a:noFill/>
        </p:spPr>
        <p:txBody>
          <a:bodyPr wrap="square" lIns="54864" tIns="54864" rIns="54864" bIns="54864" anchor="t">
            <a:spAutoFit/>
          </a:bodyPr>
          <a:lstStyle/>
          <a:p>
            <a:r>
              <a:rPr sz="800" b="1">
                <a:solidFill>
                  <a:srgbClr val="5B6F86"/>
                </a:solidFill>
                <a:latin typeface="Aptos"/>
              </a:rPr>
              <a:t>TEAM 6  |  BANK CUSTOMER CHURN PREDICTION</a:t>
            </a:r>
          </a:p>
        </p:txBody>
      </p:sp>
      <p:sp>
        <p:nvSpPr>
          <p:cNvPr id="7" name="TextBox 6"/>
          <p:cNvSpPr txBox="1"/>
          <p:nvPr/>
        </p:nvSpPr>
        <p:spPr>
          <a:xfrm>
            <a:off x="685800" y="1481328"/>
            <a:ext cx="5212080" cy="411480"/>
          </a:xfrm>
          <a:prstGeom prst="rect">
            <a:avLst/>
          </a:prstGeom>
          <a:noFill/>
        </p:spPr>
        <p:txBody>
          <a:bodyPr wrap="square" lIns="54864" tIns="54864" rIns="54864" bIns="54864" anchor="t">
            <a:spAutoFit/>
          </a:bodyPr>
          <a:lstStyle/>
          <a:p>
            <a:r>
              <a:rPr sz="1800" b="1">
                <a:solidFill>
                  <a:srgbClr val="081931"/>
                </a:solidFill>
                <a:latin typeface="Aptos"/>
              </a:rPr>
              <a:t>A practical walkthrough of the deployed application</a:t>
            </a:r>
          </a:p>
        </p:txBody>
      </p:sp>
      <p:sp>
        <p:nvSpPr>
          <p:cNvPr id="8" name="TextBox 7"/>
          <p:cNvSpPr txBox="1"/>
          <p:nvPr/>
        </p:nvSpPr>
        <p:spPr>
          <a:xfrm>
            <a:off x="731520" y="1993392"/>
            <a:ext cx="5212080" cy="3474720"/>
          </a:xfrm>
          <a:prstGeom prst="rect">
            <a:avLst/>
          </a:prstGeom>
          <a:noFill/>
        </p:spPr>
        <p:txBody>
          <a:bodyPr wrap="square" lIns="109728" tIns="73152" rIns="109728">
            <a:spAutoFit/>
          </a:bodyPr>
          <a:lstStyle/>
          <a:p>
            <a:pPr>
              <a:spcAft>
                <a:spcPts val="800"/>
              </a:spcAft>
              <a:defRPr sz="1600">
                <a:solidFill>
                  <a:srgbClr val="1D3046"/>
                </a:solidFill>
                <a:latin typeface="Aptos"/>
              </a:defRPr>
            </a:pPr>
            <a:r>
              <a:t>•  How the app loads the saved Random Forest model and customer dataset</a:t>
            </a:r>
          </a:p>
          <a:p>
            <a:pPr>
              <a:spcAft>
                <a:spcPts val="800"/>
              </a:spcAft>
              <a:defRPr sz="1600">
                <a:solidFill>
                  <a:srgbClr val="1D3046"/>
                </a:solidFill>
                <a:latin typeface="Aptos"/>
              </a:defRPr>
            </a:pPr>
            <a:r>
              <a:t>•  How Streamlit builds input controls from the dataset's feature columns</a:t>
            </a:r>
          </a:p>
          <a:p>
            <a:pPr>
              <a:spcAft>
                <a:spcPts val="800"/>
              </a:spcAft>
              <a:defRPr sz="1600">
                <a:solidFill>
                  <a:srgbClr val="1D3046"/>
                </a:solidFill>
                <a:latin typeface="Aptos"/>
              </a:defRPr>
            </a:pPr>
            <a:r>
              <a:t>•  How a submitted customer profile becomes a one-row DataFrame</a:t>
            </a:r>
          </a:p>
          <a:p>
            <a:pPr>
              <a:spcAft>
                <a:spcPts val="800"/>
              </a:spcAft>
              <a:defRPr sz="1600">
                <a:solidFill>
                  <a:srgbClr val="1D3046"/>
                </a:solidFill>
                <a:latin typeface="Aptos"/>
              </a:defRPr>
            </a:pPr>
            <a:r>
              <a:t>•  How the model returns a class prediction and churn probability</a:t>
            </a:r>
          </a:p>
          <a:p>
            <a:pPr>
              <a:spcAft>
                <a:spcPts val="800"/>
              </a:spcAft>
              <a:defRPr sz="1600">
                <a:solidFill>
                  <a:srgbClr val="1D3046"/>
                </a:solidFill>
                <a:latin typeface="Aptos"/>
              </a:defRPr>
            </a:pPr>
            <a:r>
              <a:t>•  How the app displays evaluation metrics and a model-comparison chart</a:t>
            </a:r>
          </a:p>
        </p:txBody>
      </p:sp>
      <p:sp>
        <p:nvSpPr>
          <p:cNvPr id="9" name="Rounded Rectangle 8"/>
          <p:cNvSpPr/>
          <p:nvPr/>
        </p:nvSpPr>
        <p:spPr>
          <a:xfrm>
            <a:off x="6400800" y="1572768"/>
            <a:ext cx="4937760" cy="1874519"/>
          </a:xfrm>
          <a:prstGeom prst="roundRect">
            <a:avLst/>
          </a:prstGeom>
          <a:solidFill>
            <a:srgbClr val="EBF3FA"/>
          </a:solidFill>
          <a:ln>
            <a:solidFill>
              <a:srgbClr val="EBF3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65392" y="1682495"/>
            <a:ext cx="4608576" cy="292608"/>
          </a:xfrm>
          <a:prstGeom prst="rect">
            <a:avLst/>
          </a:prstGeom>
          <a:noFill/>
        </p:spPr>
        <p:txBody>
          <a:bodyPr wrap="square" lIns="54864" tIns="54864" rIns="54864" bIns="54864" anchor="t">
            <a:spAutoFit/>
          </a:bodyPr>
          <a:lstStyle/>
          <a:p>
            <a:r>
              <a:rPr sz="1400" b="1">
                <a:solidFill>
                  <a:srgbClr val="081931"/>
                </a:solidFill>
                <a:latin typeface="Aptos"/>
              </a:rPr>
              <a:t>Files used as evidence</a:t>
            </a:r>
          </a:p>
        </p:txBody>
      </p:sp>
      <p:sp>
        <p:nvSpPr>
          <p:cNvPr id="11" name="TextBox 10"/>
          <p:cNvSpPr txBox="1"/>
          <p:nvPr/>
        </p:nvSpPr>
        <p:spPr>
          <a:xfrm>
            <a:off x="6547104" y="2048256"/>
            <a:ext cx="4645152" cy="598112"/>
          </a:xfrm>
          <a:prstGeom prst="rect">
            <a:avLst/>
          </a:prstGeom>
          <a:noFill/>
        </p:spPr>
        <p:txBody>
          <a:bodyPr wrap="square" lIns="109728" tIns="73152" rIns="109728">
            <a:spAutoFit/>
          </a:bodyPr>
          <a:lstStyle/>
          <a:p>
            <a:pPr>
              <a:spcAft>
                <a:spcPts val="800"/>
              </a:spcAft>
              <a:defRPr sz="1220">
                <a:solidFill>
                  <a:srgbClr val="1D3046"/>
                </a:solidFill>
                <a:latin typeface="Aptos"/>
              </a:defRPr>
            </a:pPr>
            <a:r>
              <a:rPr dirty="0"/>
              <a:t>•  app.py — the actual 729-line </a:t>
            </a:r>
            <a:r>
              <a:rPr dirty="0" err="1"/>
              <a:t>Streamlit</a:t>
            </a:r>
            <a:r>
              <a:rPr dirty="0"/>
              <a:t> application</a:t>
            </a:r>
          </a:p>
          <a:p>
            <a:pPr>
              <a:spcAft>
                <a:spcPts val="800"/>
              </a:spcAft>
              <a:defRPr sz="1220">
                <a:solidFill>
                  <a:srgbClr val="1D3046"/>
                </a:solidFill>
                <a:latin typeface="Aptos"/>
              </a:defRPr>
            </a:pPr>
            <a:r>
              <a:rPr dirty="0"/>
              <a:t>•  </a:t>
            </a:r>
            <a:r>
              <a:rPr lang="en-US" sz="1220" dirty="0" err="1">
                <a:solidFill>
                  <a:srgbClr val="1D3046"/>
                </a:solidFill>
                <a:latin typeface="Aptos"/>
              </a:rPr>
              <a:t>Churn_Modelling_Featured.cs</a:t>
            </a:r>
            <a:endParaRPr dirty="0"/>
          </a:p>
        </p:txBody>
      </p:sp>
      <p:sp>
        <p:nvSpPr>
          <p:cNvPr id="12" name="Rounded Rectangle 11"/>
          <p:cNvSpPr/>
          <p:nvPr/>
        </p:nvSpPr>
        <p:spPr>
          <a:xfrm>
            <a:off x="6400800" y="3703320"/>
            <a:ext cx="4937760" cy="1508760"/>
          </a:xfrm>
          <a:prstGeom prst="roundRect">
            <a:avLst/>
          </a:prstGeom>
          <a:solidFill>
            <a:srgbClr val="FFF6E2"/>
          </a:solidFill>
          <a:ln>
            <a:solidFill>
              <a:srgbClr val="FFF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65392" y="3813048"/>
            <a:ext cx="4608576" cy="292608"/>
          </a:xfrm>
          <a:prstGeom prst="rect">
            <a:avLst/>
          </a:prstGeom>
          <a:noFill/>
        </p:spPr>
        <p:txBody>
          <a:bodyPr wrap="square" lIns="54864" tIns="54864" rIns="54864" bIns="54864" anchor="t">
            <a:spAutoFit/>
          </a:bodyPr>
          <a:lstStyle/>
          <a:p>
            <a:r>
              <a:rPr sz="1400" b="1">
                <a:solidFill>
                  <a:srgbClr val="081931"/>
                </a:solidFill>
                <a:latin typeface="Aptos"/>
              </a:rPr>
              <a:t>Important distinction</a:t>
            </a:r>
          </a:p>
        </p:txBody>
      </p:sp>
      <p:sp>
        <p:nvSpPr>
          <p:cNvPr id="14" name="TextBox 13"/>
          <p:cNvSpPr txBox="1"/>
          <p:nvPr/>
        </p:nvSpPr>
        <p:spPr>
          <a:xfrm>
            <a:off x="6547104" y="4178808"/>
            <a:ext cx="4645152" cy="960119"/>
          </a:xfrm>
          <a:prstGeom prst="rect">
            <a:avLst/>
          </a:prstGeom>
          <a:noFill/>
        </p:spPr>
        <p:txBody>
          <a:bodyPr wrap="square" lIns="109728" tIns="73152" rIns="109728">
            <a:spAutoFit/>
          </a:bodyPr>
          <a:lstStyle/>
          <a:p>
            <a:pPr>
              <a:spcAft>
                <a:spcPts val="800"/>
              </a:spcAft>
              <a:defRPr sz="1220">
                <a:solidFill>
                  <a:srgbClr val="1D3046"/>
                </a:solidFill>
                <a:latin typeface="Aptos"/>
              </a:defRPr>
            </a:pPr>
            <a:r>
              <a:t>•  The app loads a previously trained model; training code is not present in the uploaded app.py.</a:t>
            </a:r>
          </a:p>
        </p:txBody>
      </p:sp>
      <p:sp>
        <p:nvSpPr>
          <p:cNvPr id="15" name="TextBox 14"/>
          <p:cNvSpPr txBox="1"/>
          <p:nvPr/>
        </p:nvSpPr>
        <p:spPr>
          <a:xfrm>
            <a:off x="731520" y="5897880"/>
            <a:ext cx="10698480" cy="320040"/>
          </a:xfrm>
          <a:prstGeom prst="rect">
            <a:avLst/>
          </a:prstGeom>
          <a:noFill/>
        </p:spPr>
        <p:txBody>
          <a:bodyPr wrap="square" lIns="54864" tIns="54864" rIns="54864" bIns="54864" anchor="t">
            <a:spAutoFit/>
          </a:bodyPr>
          <a:lstStyle/>
          <a:p>
            <a:r>
              <a:rPr sz="1300" b="0">
                <a:solidFill>
                  <a:srgbClr val="5B6F86"/>
                </a:solidFill>
                <a:latin typeface="Aptos"/>
              </a:rPr>
              <a:t>Earlier milestones are not re-presented here; the focus is the working app and its outputs.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5924550"/>
            <a:ext cx="10972800" cy="476250"/>
          </a:xfrm>
          <a:prstGeom prst="roundRect">
            <a:avLst>
              <a:gd name="adj" fmla="val 1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390650"/>
            <a:ext cx="2595562" cy="4305300"/>
          </a:xfrm>
          <a:prstGeom prst="roundRect">
            <a:avLst>
              <a:gd name="adj" fmla="val 44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395662" y="1390650"/>
            <a:ext cx="2595562" cy="4305300"/>
          </a:xfrm>
          <a:prstGeom prst="roundRect">
            <a:avLst>
              <a:gd name="adj" fmla="val 44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81725" y="1390650"/>
            <a:ext cx="2614612" cy="4305300"/>
          </a:xfrm>
          <a:prstGeom prst="roundRect">
            <a:avLst>
              <a:gd name="adj" fmla="val 4371"/>
            </a:avLst>
          </a:prstGeom>
          <a:solidFill>
            <a:srgbClr val="F0F9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986837" y="1390650"/>
            <a:ext cx="2595562" cy="4305300"/>
          </a:xfrm>
          <a:prstGeom prst="roundRect">
            <a:avLst>
              <a:gd name="adj" fmla="val 44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885825" y="1666875"/>
            <a:ext cx="266700" cy="266700"/>
          </a:xfrm>
          <a:prstGeom prst="rect">
            <a:avLst/>
          </a:prstGeom>
        </p:spPr>
      </p:pic>
      <p:pic>
        <p:nvPicPr>
          <p:cNvPr id="8" name="Picture 7" descr="image.png"/>
          <p:cNvPicPr>
            <a:picLocks noChangeAspect="1"/>
          </p:cNvPicPr>
          <p:nvPr/>
        </p:nvPicPr>
        <p:blipFill>
          <a:blip r:embed="rId3"/>
          <a:stretch>
            <a:fillRect/>
          </a:stretch>
        </p:blipFill>
        <p:spPr>
          <a:xfrm>
            <a:off x="3671887" y="1666875"/>
            <a:ext cx="304800" cy="266700"/>
          </a:xfrm>
          <a:prstGeom prst="rect">
            <a:avLst/>
          </a:prstGeom>
        </p:spPr>
      </p:pic>
      <p:pic>
        <p:nvPicPr>
          <p:cNvPr id="9" name="Picture 8" descr="image.png"/>
          <p:cNvPicPr>
            <a:picLocks noChangeAspect="1"/>
          </p:cNvPicPr>
          <p:nvPr/>
        </p:nvPicPr>
        <p:blipFill>
          <a:blip r:embed="rId4"/>
          <a:stretch>
            <a:fillRect/>
          </a:stretch>
        </p:blipFill>
        <p:spPr>
          <a:xfrm>
            <a:off x="6467475" y="1676400"/>
            <a:ext cx="238125" cy="266700"/>
          </a:xfrm>
          <a:prstGeom prst="rect">
            <a:avLst/>
          </a:prstGeom>
        </p:spPr>
      </p:pic>
      <p:pic>
        <p:nvPicPr>
          <p:cNvPr id="10" name="Picture 9" descr="image.png"/>
          <p:cNvPicPr>
            <a:picLocks noChangeAspect="1"/>
          </p:cNvPicPr>
          <p:nvPr/>
        </p:nvPicPr>
        <p:blipFill>
          <a:blip r:embed="rId5"/>
          <a:stretch>
            <a:fillRect/>
          </a:stretch>
        </p:blipFill>
        <p:spPr>
          <a:xfrm>
            <a:off x="9263062" y="1666875"/>
            <a:ext cx="333375" cy="266700"/>
          </a:xfrm>
          <a:prstGeom prst="rect">
            <a:avLst/>
          </a:prstGeom>
        </p:spPr>
      </p:pic>
      <p:pic>
        <p:nvPicPr>
          <p:cNvPr id="11" name="Picture 10" descr="image.png"/>
          <p:cNvPicPr>
            <a:picLocks noChangeAspect="1"/>
          </p:cNvPicPr>
          <p:nvPr/>
        </p:nvPicPr>
        <p:blipFill>
          <a:blip r:embed="rId6"/>
          <a:stretch>
            <a:fillRect/>
          </a:stretch>
        </p:blipFill>
        <p:spPr>
          <a:xfrm>
            <a:off x="838200" y="6105525"/>
            <a:ext cx="133350" cy="133350"/>
          </a:xfrm>
          <a:prstGeom prst="rect">
            <a:avLst/>
          </a:prstGeom>
        </p:spPr>
      </p:pic>
      <p:sp>
        <p:nvSpPr>
          <p:cNvPr id="12" name="TextBox 11"/>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MODEL ARCHITECTURE</a:t>
            </a:r>
          </a:p>
        </p:txBody>
      </p:sp>
      <p:sp>
        <p:nvSpPr>
          <p:cNvPr id="13" name="TextBox 12"/>
          <p:cNvSpPr txBox="1"/>
          <p:nvPr/>
        </p:nvSpPr>
        <p:spPr>
          <a:xfrm>
            <a:off x="609600" y="704850"/>
            <a:ext cx="11582400" cy="381000"/>
          </a:xfrm>
          <a:prstGeom prst="rect">
            <a:avLst/>
          </a:prstGeom>
          <a:noFill/>
        </p:spPr>
        <p:txBody>
          <a:bodyPr wrap="none" lIns="0" tIns="0" rIns="0" bIns="0" anchor="t">
            <a:spAutoFit/>
          </a:bodyPr>
          <a:lstStyle/>
          <a:p>
            <a:pPr algn="l"/>
            <a:r>
              <a:rPr sz="2400" b="1" i="0" u="none">
                <a:solidFill>
                  <a:srgbClr val="0F172A"/>
                </a:solidFill>
                <a:latin typeface="Plus Jakarta Sans"/>
              </a:rPr>
              <a:t>Model Selection &amp; Training Architecture</a:t>
            </a:r>
          </a:p>
        </p:txBody>
      </p:sp>
      <p:sp>
        <p:nvSpPr>
          <p:cNvPr id="14" name="TextBox 13"/>
          <p:cNvSpPr txBox="1"/>
          <p:nvPr/>
        </p:nvSpPr>
        <p:spPr>
          <a:xfrm>
            <a:off x="838200" y="6076950"/>
            <a:ext cx="4619625" cy="171450"/>
          </a:xfrm>
          <a:prstGeom prst="rect">
            <a:avLst/>
          </a:prstGeom>
          <a:noFill/>
        </p:spPr>
        <p:txBody>
          <a:bodyPr wrap="none" lIns="209550" tIns="0" rIns="0" bIns="0" anchor="t">
            <a:spAutoFit/>
          </a:bodyPr>
          <a:lstStyle/>
          <a:p>
            <a:pPr algn="l"/>
            <a:r>
              <a:rPr sz="1050" b="1" i="0" u="none">
                <a:solidFill>
                  <a:srgbClr val="FFFFFF"/>
                </a:solidFill>
                <a:latin typeface="Plus Jakarta Sans"/>
              </a:rPr>
              <a:t>Evaluation Protocol: Stratified 5-Fold Cross-Validation</a:t>
            </a:r>
          </a:p>
        </p:txBody>
      </p:sp>
      <p:sp>
        <p:nvSpPr>
          <p:cNvPr id="15" name="TextBox 14"/>
          <p:cNvSpPr txBox="1"/>
          <p:nvPr/>
        </p:nvSpPr>
        <p:spPr>
          <a:xfrm>
            <a:off x="7258050" y="6076950"/>
            <a:ext cx="4933950" cy="171450"/>
          </a:xfrm>
          <a:prstGeom prst="rect">
            <a:avLst/>
          </a:prstGeom>
          <a:noFill/>
        </p:spPr>
        <p:txBody>
          <a:bodyPr wrap="none" lIns="0" tIns="0" rIns="0" bIns="0" anchor="t">
            <a:spAutoFit/>
          </a:bodyPr>
          <a:lstStyle/>
          <a:p>
            <a:pPr algn="l"/>
            <a:r>
              <a:rPr sz="1050" b="1" i="0" u="none">
                <a:solidFill>
                  <a:srgbClr val="38BDF8"/>
                </a:solidFill>
                <a:latin typeface="Plus Jakarta Sans"/>
              </a:rPr>
              <a:t>Selection Metric: Mean CV F1-Score to balance Precision &amp; Recall</a:t>
            </a:r>
          </a:p>
        </p:txBody>
      </p:sp>
      <p:sp>
        <p:nvSpPr>
          <p:cNvPr id="16" name="TextBox 15"/>
          <p:cNvSpPr txBox="1"/>
          <p:nvPr/>
        </p:nvSpPr>
        <p:spPr>
          <a:xfrm>
            <a:off x="885825" y="2085975"/>
            <a:ext cx="2681585" cy="219075"/>
          </a:xfrm>
          <a:prstGeom prst="rect">
            <a:avLst/>
          </a:prstGeom>
          <a:noFill/>
        </p:spPr>
        <p:txBody>
          <a:bodyPr wrap="none" lIns="0" tIns="0" rIns="0" bIns="0" anchor="t">
            <a:spAutoFit/>
          </a:bodyPr>
          <a:lstStyle/>
          <a:p>
            <a:pPr algn="l"/>
            <a:r>
              <a:rPr sz="1350" b="1" i="0" u="none">
                <a:solidFill>
                  <a:srgbClr val="0F172A"/>
                </a:solidFill>
                <a:latin typeface="Plus Jakarta Sans"/>
              </a:rPr>
              <a:t>Logistic Regression</a:t>
            </a:r>
          </a:p>
        </p:txBody>
      </p:sp>
      <p:sp>
        <p:nvSpPr>
          <p:cNvPr id="17" name="TextBox 16"/>
          <p:cNvSpPr txBox="1"/>
          <p:nvPr/>
        </p:nvSpPr>
        <p:spPr>
          <a:xfrm>
            <a:off x="885825" y="2381250"/>
            <a:ext cx="2138362" cy="800100"/>
          </a:xfrm>
          <a:prstGeom prst="rect">
            <a:avLst/>
          </a:prstGeom>
          <a:noFill/>
        </p:spPr>
        <p:txBody>
          <a:bodyPr wrap="square" lIns="0" tIns="0" rIns="0" bIns="0" anchor="t">
            <a:spAutoFit/>
          </a:bodyPr>
          <a:lstStyle/>
          <a:p>
            <a:pPr algn="l">
              <a:lnSpc>
                <a:spcPts val="1575"/>
              </a:lnSpc>
            </a:pPr>
            <a:r>
              <a:rPr sz="1050" b="0" i="0" u="none">
                <a:solidFill>
                  <a:srgbClr val="64748B"/>
                </a:solidFill>
                <a:latin typeface="Plus Jakarta Sans"/>
              </a:rPr>
              <a:t>Interpretable baseline algorithm evaluating linear decision boundaries between churn predictors.</a:t>
            </a:r>
          </a:p>
        </p:txBody>
      </p:sp>
      <p:sp>
        <p:nvSpPr>
          <p:cNvPr id="18" name="TextBox 17"/>
          <p:cNvSpPr txBox="1"/>
          <p:nvPr/>
        </p:nvSpPr>
        <p:spPr>
          <a:xfrm>
            <a:off x="3671887" y="2085975"/>
            <a:ext cx="2681585" cy="219075"/>
          </a:xfrm>
          <a:prstGeom prst="rect">
            <a:avLst/>
          </a:prstGeom>
          <a:noFill/>
        </p:spPr>
        <p:txBody>
          <a:bodyPr wrap="none" lIns="0" tIns="0" rIns="0" bIns="0" anchor="t">
            <a:spAutoFit/>
          </a:bodyPr>
          <a:lstStyle/>
          <a:p>
            <a:pPr algn="l"/>
            <a:r>
              <a:rPr sz="1350" b="1" i="0" u="none">
                <a:solidFill>
                  <a:srgbClr val="0F172A"/>
                </a:solidFill>
                <a:latin typeface="Plus Jakarta Sans"/>
              </a:rPr>
              <a:t>Decision Trees</a:t>
            </a:r>
          </a:p>
        </p:txBody>
      </p:sp>
      <p:sp>
        <p:nvSpPr>
          <p:cNvPr id="19" name="TextBox 18"/>
          <p:cNvSpPr txBox="1"/>
          <p:nvPr/>
        </p:nvSpPr>
        <p:spPr>
          <a:xfrm>
            <a:off x="3671887" y="2381250"/>
            <a:ext cx="2138362" cy="800100"/>
          </a:xfrm>
          <a:prstGeom prst="rect">
            <a:avLst/>
          </a:prstGeom>
          <a:noFill/>
        </p:spPr>
        <p:txBody>
          <a:bodyPr wrap="square" lIns="0" tIns="0" rIns="0" bIns="0" anchor="t">
            <a:spAutoFit/>
          </a:bodyPr>
          <a:lstStyle/>
          <a:p>
            <a:pPr algn="l">
              <a:lnSpc>
                <a:spcPts val="1575"/>
              </a:lnSpc>
            </a:pPr>
            <a:r>
              <a:rPr sz="1050" b="0" i="0" u="none">
                <a:solidFill>
                  <a:srgbClr val="64748B"/>
                </a:solidFill>
                <a:latin typeface="Plus Jakarta Sans"/>
              </a:rPr>
              <a:t>Non-linear rules capturing complex interactions between balance, tenure, and activity level.</a:t>
            </a:r>
          </a:p>
        </p:txBody>
      </p:sp>
      <p:sp>
        <p:nvSpPr>
          <p:cNvPr id="20" name="TextBox 19"/>
          <p:cNvSpPr txBox="1"/>
          <p:nvPr/>
        </p:nvSpPr>
        <p:spPr>
          <a:xfrm>
            <a:off x="6467475" y="2095500"/>
            <a:ext cx="2681585" cy="219075"/>
          </a:xfrm>
          <a:prstGeom prst="rect">
            <a:avLst/>
          </a:prstGeom>
          <a:noFill/>
        </p:spPr>
        <p:txBody>
          <a:bodyPr wrap="none" lIns="0" tIns="0" rIns="0" bIns="0" anchor="t">
            <a:spAutoFit/>
          </a:bodyPr>
          <a:lstStyle/>
          <a:p>
            <a:pPr algn="l"/>
            <a:r>
              <a:rPr sz="1350" b="1" i="0" u="none">
                <a:solidFill>
                  <a:srgbClr val="0369A1"/>
                </a:solidFill>
                <a:latin typeface="Plus Jakarta Sans"/>
              </a:rPr>
              <a:t>Random Forest</a:t>
            </a:r>
          </a:p>
        </p:txBody>
      </p:sp>
      <p:sp>
        <p:nvSpPr>
          <p:cNvPr id="21" name="TextBox 20"/>
          <p:cNvSpPr txBox="1"/>
          <p:nvPr/>
        </p:nvSpPr>
        <p:spPr>
          <a:xfrm>
            <a:off x="6467475" y="2390775"/>
            <a:ext cx="2138362" cy="600075"/>
          </a:xfrm>
          <a:prstGeom prst="rect">
            <a:avLst/>
          </a:prstGeom>
          <a:noFill/>
        </p:spPr>
        <p:txBody>
          <a:bodyPr wrap="square" lIns="0" tIns="0" rIns="0" bIns="0" anchor="t">
            <a:spAutoFit/>
          </a:bodyPr>
          <a:lstStyle/>
          <a:p>
            <a:pPr algn="l">
              <a:lnSpc>
                <a:spcPts val="1575"/>
              </a:lnSpc>
            </a:pPr>
            <a:r>
              <a:rPr sz="1050" b="0" i="0" u="none">
                <a:solidFill>
                  <a:srgbClr val="334155"/>
                </a:solidFill>
                <a:latin typeface="Plus Jakarta Sans"/>
              </a:rPr>
              <a:t>Ensemble approach minimizing variance while prioritizing high feature importance signals.</a:t>
            </a:r>
          </a:p>
        </p:txBody>
      </p:sp>
      <p:sp>
        <p:nvSpPr>
          <p:cNvPr id="22" name="TextBox 21"/>
          <p:cNvSpPr txBox="1"/>
          <p:nvPr/>
        </p:nvSpPr>
        <p:spPr>
          <a:xfrm>
            <a:off x="9263062" y="2085975"/>
            <a:ext cx="2681585" cy="219075"/>
          </a:xfrm>
          <a:prstGeom prst="rect">
            <a:avLst/>
          </a:prstGeom>
          <a:noFill/>
        </p:spPr>
        <p:txBody>
          <a:bodyPr wrap="none" lIns="0" tIns="0" rIns="0" bIns="0" anchor="t">
            <a:spAutoFit/>
          </a:bodyPr>
          <a:lstStyle/>
          <a:p>
            <a:pPr algn="l"/>
            <a:r>
              <a:rPr sz="1350" b="1" i="0" u="none">
                <a:solidFill>
                  <a:srgbClr val="0F172A"/>
                </a:solidFill>
                <a:latin typeface="Plus Jakarta Sans"/>
              </a:rPr>
              <a:t>K-Nearest Neighbors</a:t>
            </a:r>
          </a:p>
        </p:txBody>
      </p:sp>
      <p:sp>
        <p:nvSpPr>
          <p:cNvPr id="23" name="TextBox 22"/>
          <p:cNvSpPr txBox="1"/>
          <p:nvPr/>
        </p:nvSpPr>
        <p:spPr>
          <a:xfrm>
            <a:off x="9263062" y="2381250"/>
            <a:ext cx="2138362" cy="600075"/>
          </a:xfrm>
          <a:prstGeom prst="rect">
            <a:avLst/>
          </a:prstGeom>
          <a:noFill/>
        </p:spPr>
        <p:txBody>
          <a:bodyPr wrap="square" lIns="0" tIns="0" rIns="0" bIns="0" anchor="t">
            <a:spAutoFit/>
          </a:bodyPr>
          <a:lstStyle/>
          <a:p>
            <a:pPr algn="l">
              <a:lnSpc>
                <a:spcPts val="1575"/>
              </a:lnSpc>
            </a:pPr>
            <a:r>
              <a:rPr sz="1050" b="0" i="0" u="none">
                <a:solidFill>
                  <a:srgbClr val="64748B"/>
                </a:solidFill>
                <a:latin typeface="Plus Jakarta Sans"/>
              </a:rPr>
              <a:t>Distance-based clustering approach leveraging customer similarity profiles.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686800" cy="228600"/>
          </a:xfrm>
          <a:prstGeom prst="rect">
            <a:avLst/>
          </a:prstGeom>
          <a:noFill/>
        </p:spPr>
        <p:txBody>
          <a:bodyPr wrap="square" lIns="54864" tIns="54864" rIns="54864" bIns="54864" anchor="t">
            <a:spAutoFit/>
          </a:bodyPr>
          <a:lstStyle/>
          <a:p>
            <a:r>
              <a:rPr sz="900" b="1">
                <a:solidFill>
                  <a:srgbClr val="18A9A7"/>
                </a:solidFill>
                <a:latin typeface="Aptos"/>
              </a:rPr>
              <a:t>MILESTONE 4 • PRACTICAL WALKTHROUGH</a:t>
            </a:r>
          </a:p>
        </p:txBody>
      </p:sp>
      <p:sp>
        <p:nvSpPr>
          <p:cNvPr id="3" name="TextBox 2"/>
          <p:cNvSpPr txBox="1"/>
          <p:nvPr/>
        </p:nvSpPr>
        <p:spPr>
          <a:xfrm>
            <a:off x="502920" y="566928"/>
            <a:ext cx="11064240" cy="530352"/>
          </a:xfrm>
          <a:prstGeom prst="rect">
            <a:avLst/>
          </a:prstGeom>
          <a:noFill/>
        </p:spPr>
        <p:txBody>
          <a:bodyPr wrap="square" lIns="54864" tIns="54864" rIns="54864" bIns="54864" anchor="t">
            <a:spAutoFit/>
          </a:bodyPr>
          <a:lstStyle/>
          <a:p>
            <a:r>
              <a:rPr sz="2600" b="1">
                <a:solidFill>
                  <a:srgbClr val="081931"/>
                </a:solidFill>
                <a:latin typeface="Aptos"/>
              </a:rPr>
              <a:t>End-to-end application flow</a:t>
            </a:r>
          </a:p>
        </p:txBody>
      </p:sp>
      <p:sp>
        <p:nvSpPr>
          <p:cNvPr id="4" name="Rectangle 3"/>
          <p:cNvSpPr/>
          <p:nvPr/>
        </p:nvSpPr>
        <p:spPr>
          <a:xfrm>
            <a:off x="530352" y="1170432"/>
            <a:ext cx="685800" cy="41148"/>
          </a:xfrm>
          <a:prstGeom prst="rect">
            <a:avLst/>
          </a:prstGeom>
          <a:solidFill>
            <a:srgbClr val="18A9A7"/>
          </a:solidFill>
          <a:ln>
            <a:solidFill>
              <a:srgbClr val="18A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6492240"/>
            <a:ext cx="7315200" cy="164592"/>
          </a:xfrm>
          <a:prstGeom prst="rect">
            <a:avLst/>
          </a:prstGeom>
          <a:noFill/>
        </p:spPr>
        <p:txBody>
          <a:bodyPr wrap="square" lIns="54864" tIns="54864" rIns="54864" bIns="54864" anchor="t">
            <a:spAutoFit/>
          </a:bodyPr>
          <a:lstStyle/>
          <a:p>
            <a:r>
              <a:rPr sz="800" b="1">
                <a:solidFill>
                  <a:srgbClr val="5B6F86"/>
                </a:solidFill>
                <a:latin typeface="Aptos"/>
              </a:rPr>
              <a:t>TEAM 6  |  BANK CUSTOMER CHURN PREDICTION</a:t>
            </a:r>
          </a:p>
        </p:txBody>
      </p:sp>
      <p:sp>
        <p:nvSpPr>
          <p:cNvPr id="7" name="Rounded Rectangle 6"/>
          <p:cNvSpPr/>
          <p:nvPr/>
        </p:nvSpPr>
        <p:spPr>
          <a:xfrm>
            <a:off x="566928" y="1965960"/>
            <a:ext cx="1938528" cy="2057400"/>
          </a:xfrm>
          <a:prstGeom prst="roundRect">
            <a:avLst/>
          </a:prstGeom>
          <a:solidFill>
            <a:srgbClr val="EBF3FA"/>
          </a:solidFill>
          <a:ln>
            <a:solidFill>
              <a:srgbClr val="EBF3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2121408"/>
            <a:ext cx="502920" cy="274320"/>
          </a:xfrm>
          <a:prstGeom prst="rect">
            <a:avLst/>
          </a:prstGeom>
          <a:noFill/>
        </p:spPr>
        <p:txBody>
          <a:bodyPr wrap="square" lIns="54864" tIns="54864" rIns="54864" bIns="54864" anchor="t">
            <a:spAutoFit/>
          </a:bodyPr>
          <a:lstStyle/>
          <a:p>
            <a:r>
              <a:rPr sz="1200" b="1">
                <a:solidFill>
                  <a:srgbClr val="18A9A7"/>
                </a:solidFill>
                <a:latin typeface="Aptos"/>
              </a:rPr>
              <a:t>01</a:t>
            </a:r>
          </a:p>
        </p:txBody>
      </p:sp>
      <p:sp>
        <p:nvSpPr>
          <p:cNvPr id="9" name="TextBox 8"/>
          <p:cNvSpPr txBox="1"/>
          <p:nvPr/>
        </p:nvSpPr>
        <p:spPr>
          <a:xfrm>
            <a:off x="713232" y="2542032"/>
            <a:ext cx="1664208" cy="320040"/>
          </a:xfrm>
          <a:prstGeom prst="rect">
            <a:avLst/>
          </a:prstGeom>
          <a:noFill/>
        </p:spPr>
        <p:txBody>
          <a:bodyPr wrap="square" lIns="54864" tIns="54864" rIns="54864" bIns="54864" anchor="t">
            <a:spAutoFit/>
          </a:bodyPr>
          <a:lstStyle/>
          <a:p>
            <a:r>
              <a:rPr sz="1600" b="1">
                <a:solidFill>
                  <a:srgbClr val="081931"/>
                </a:solidFill>
                <a:latin typeface="Aptos"/>
              </a:rPr>
              <a:t>Saved files</a:t>
            </a:r>
          </a:p>
        </p:txBody>
      </p:sp>
      <p:sp>
        <p:nvSpPr>
          <p:cNvPr id="10" name="TextBox 9"/>
          <p:cNvSpPr txBox="1"/>
          <p:nvPr/>
        </p:nvSpPr>
        <p:spPr>
          <a:xfrm>
            <a:off x="713232" y="2971800"/>
            <a:ext cx="1664208" cy="822960"/>
          </a:xfrm>
          <a:prstGeom prst="rect">
            <a:avLst/>
          </a:prstGeom>
          <a:noFill/>
        </p:spPr>
        <p:txBody>
          <a:bodyPr wrap="square" lIns="54864" tIns="54864" rIns="54864" bIns="54864" anchor="t">
            <a:spAutoFit/>
          </a:bodyPr>
          <a:lstStyle/>
          <a:p>
            <a:r>
              <a:rPr sz="1150" b="0">
                <a:solidFill>
                  <a:srgbClr val="5B6F86"/>
                </a:solidFill>
                <a:latin typeface="Aptos"/>
              </a:rPr>
              <a:t>best_churn_model.joblib
Churn_Modelling_Featured.csv</a:t>
            </a:r>
          </a:p>
        </p:txBody>
      </p:sp>
      <p:sp>
        <p:nvSpPr>
          <p:cNvPr id="11" name="TextBox 10"/>
          <p:cNvSpPr txBox="1"/>
          <p:nvPr/>
        </p:nvSpPr>
        <p:spPr>
          <a:xfrm>
            <a:off x="2542032" y="2743200"/>
            <a:ext cx="292608" cy="274320"/>
          </a:xfrm>
          <a:prstGeom prst="rect">
            <a:avLst/>
          </a:prstGeom>
          <a:noFill/>
        </p:spPr>
        <p:txBody>
          <a:bodyPr wrap="square" lIns="54864" tIns="54864" rIns="54864" bIns="54864" anchor="t">
            <a:spAutoFit/>
          </a:bodyPr>
          <a:lstStyle/>
          <a:p>
            <a:pPr algn="ctr"/>
            <a:r>
              <a:rPr sz="2000" b="1">
                <a:solidFill>
                  <a:srgbClr val="18A9A7"/>
                </a:solidFill>
                <a:latin typeface="Aptos"/>
              </a:rPr>
              <a:t>→</a:t>
            </a:r>
          </a:p>
        </p:txBody>
      </p:sp>
      <p:sp>
        <p:nvSpPr>
          <p:cNvPr id="12" name="Rounded Rectangle 11"/>
          <p:cNvSpPr/>
          <p:nvPr/>
        </p:nvSpPr>
        <p:spPr>
          <a:xfrm>
            <a:off x="2898648" y="1965960"/>
            <a:ext cx="1938528" cy="2057400"/>
          </a:xfrm>
          <a:prstGeom prst="roundRect">
            <a:avLst/>
          </a:prstGeom>
          <a:solidFill>
            <a:srgbClr val="EBF3FA"/>
          </a:solidFill>
          <a:ln>
            <a:solidFill>
              <a:srgbClr val="EBF3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44952" y="2121408"/>
            <a:ext cx="502920" cy="274320"/>
          </a:xfrm>
          <a:prstGeom prst="rect">
            <a:avLst/>
          </a:prstGeom>
          <a:noFill/>
        </p:spPr>
        <p:txBody>
          <a:bodyPr wrap="square" lIns="54864" tIns="54864" rIns="54864" bIns="54864" anchor="t">
            <a:spAutoFit/>
          </a:bodyPr>
          <a:lstStyle/>
          <a:p>
            <a:r>
              <a:rPr sz="1200" b="1">
                <a:solidFill>
                  <a:srgbClr val="18A9A7"/>
                </a:solidFill>
                <a:latin typeface="Aptos"/>
              </a:rPr>
              <a:t>02</a:t>
            </a:r>
          </a:p>
        </p:txBody>
      </p:sp>
      <p:sp>
        <p:nvSpPr>
          <p:cNvPr id="14" name="TextBox 13"/>
          <p:cNvSpPr txBox="1"/>
          <p:nvPr/>
        </p:nvSpPr>
        <p:spPr>
          <a:xfrm>
            <a:off x="3044952" y="2542032"/>
            <a:ext cx="1664208" cy="320040"/>
          </a:xfrm>
          <a:prstGeom prst="rect">
            <a:avLst/>
          </a:prstGeom>
          <a:noFill/>
        </p:spPr>
        <p:txBody>
          <a:bodyPr wrap="square" lIns="54864" tIns="54864" rIns="54864" bIns="54864" anchor="t">
            <a:spAutoFit/>
          </a:bodyPr>
          <a:lstStyle/>
          <a:p>
            <a:r>
              <a:rPr sz="1600" b="1">
                <a:solidFill>
                  <a:srgbClr val="081931"/>
                </a:solidFill>
                <a:latin typeface="Aptos"/>
              </a:rPr>
              <a:t>Load &amp; validate</a:t>
            </a:r>
          </a:p>
        </p:txBody>
      </p:sp>
      <p:sp>
        <p:nvSpPr>
          <p:cNvPr id="15" name="TextBox 14"/>
          <p:cNvSpPr txBox="1"/>
          <p:nvPr/>
        </p:nvSpPr>
        <p:spPr>
          <a:xfrm>
            <a:off x="3044952" y="2971800"/>
            <a:ext cx="1664208" cy="822960"/>
          </a:xfrm>
          <a:prstGeom prst="rect">
            <a:avLst/>
          </a:prstGeom>
          <a:noFill/>
        </p:spPr>
        <p:txBody>
          <a:bodyPr wrap="square" lIns="54864" tIns="54864" rIns="54864" bIns="54864" anchor="t">
            <a:spAutoFit/>
          </a:bodyPr>
          <a:lstStyle/>
          <a:p>
            <a:r>
              <a:rPr sz="1150" b="0">
                <a:solidFill>
                  <a:srgbClr val="5B6F86"/>
                </a:solidFill>
                <a:latin typeface="Aptos"/>
              </a:rPr>
              <a:t>Joblib + Pandas
File / target checks</a:t>
            </a:r>
          </a:p>
        </p:txBody>
      </p:sp>
      <p:sp>
        <p:nvSpPr>
          <p:cNvPr id="16" name="TextBox 15"/>
          <p:cNvSpPr txBox="1"/>
          <p:nvPr/>
        </p:nvSpPr>
        <p:spPr>
          <a:xfrm>
            <a:off x="4873752" y="2743200"/>
            <a:ext cx="292608" cy="274320"/>
          </a:xfrm>
          <a:prstGeom prst="rect">
            <a:avLst/>
          </a:prstGeom>
          <a:noFill/>
        </p:spPr>
        <p:txBody>
          <a:bodyPr wrap="square" lIns="54864" tIns="54864" rIns="54864" bIns="54864" anchor="t">
            <a:spAutoFit/>
          </a:bodyPr>
          <a:lstStyle/>
          <a:p>
            <a:pPr algn="ctr"/>
            <a:r>
              <a:rPr sz="2000" b="1">
                <a:solidFill>
                  <a:srgbClr val="18A9A7"/>
                </a:solidFill>
                <a:latin typeface="Aptos"/>
              </a:rPr>
              <a:t>→</a:t>
            </a:r>
          </a:p>
        </p:txBody>
      </p:sp>
      <p:sp>
        <p:nvSpPr>
          <p:cNvPr id="17" name="Rounded Rectangle 16"/>
          <p:cNvSpPr/>
          <p:nvPr/>
        </p:nvSpPr>
        <p:spPr>
          <a:xfrm>
            <a:off x="5230368" y="1965960"/>
            <a:ext cx="1938528" cy="2057400"/>
          </a:xfrm>
          <a:prstGeom prst="roundRect">
            <a:avLst/>
          </a:prstGeom>
          <a:solidFill>
            <a:srgbClr val="EBF3FA"/>
          </a:solidFill>
          <a:ln>
            <a:solidFill>
              <a:srgbClr val="EBF3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76672" y="2121408"/>
            <a:ext cx="502920" cy="274320"/>
          </a:xfrm>
          <a:prstGeom prst="rect">
            <a:avLst/>
          </a:prstGeom>
          <a:noFill/>
        </p:spPr>
        <p:txBody>
          <a:bodyPr wrap="square" lIns="54864" tIns="54864" rIns="54864" bIns="54864" anchor="t">
            <a:spAutoFit/>
          </a:bodyPr>
          <a:lstStyle/>
          <a:p>
            <a:r>
              <a:rPr sz="1200" b="1">
                <a:solidFill>
                  <a:srgbClr val="18A9A7"/>
                </a:solidFill>
                <a:latin typeface="Aptos"/>
              </a:rPr>
              <a:t>03</a:t>
            </a:r>
          </a:p>
        </p:txBody>
      </p:sp>
      <p:sp>
        <p:nvSpPr>
          <p:cNvPr id="19" name="TextBox 18"/>
          <p:cNvSpPr txBox="1"/>
          <p:nvPr/>
        </p:nvSpPr>
        <p:spPr>
          <a:xfrm>
            <a:off x="5376672" y="2542032"/>
            <a:ext cx="1664208" cy="320040"/>
          </a:xfrm>
          <a:prstGeom prst="rect">
            <a:avLst/>
          </a:prstGeom>
          <a:noFill/>
        </p:spPr>
        <p:txBody>
          <a:bodyPr wrap="square" lIns="54864" tIns="54864" rIns="54864" bIns="54864" anchor="t">
            <a:spAutoFit/>
          </a:bodyPr>
          <a:lstStyle/>
          <a:p>
            <a:r>
              <a:rPr sz="1600" b="1">
                <a:solidFill>
                  <a:srgbClr val="081931"/>
                </a:solidFill>
                <a:latin typeface="Aptos"/>
              </a:rPr>
              <a:t>Customer form</a:t>
            </a:r>
          </a:p>
        </p:txBody>
      </p:sp>
      <p:sp>
        <p:nvSpPr>
          <p:cNvPr id="20" name="TextBox 19"/>
          <p:cNvSpPr txBox="1"/>
          <p:nvPr/>
        </p:nvSpPr>
        <p:spPr>
          <a:xfrm>
            <a:off x="5376672" y="2971800"/>
            <a:ext cx="1664208" cy="822960"/>
          </a:xfrm>
          <a:prstGeom prst="rect">
            <a:avLst/>
          </a:prstGeom>
          <a:noFill/>
        </p:spPr>
        <p:txBody>
          <a:bodyPr wrap="square" lIns="54864" tIns="54864" rIns="54864" bIns="54864" anchor="t">
            <a:spAutoFit/>
          </a:bodyPr>
          <a:lstStyle/>
          <a:p>
            <a:r>
              <a:rPr sz="1150" b="0">
                <a:solidFill>
                  <a:srgbClr val="5B6F86"/>
                </a:solidFill>
                <a:latin typeface="Aptos"/>
              </a:rPr>
              <a:t>Feature-driven
Streamlit widgets</a:t>
            </a:r>
          </a:p>
        </p:txBody>
      </p:sp>
      <p:sp>
        <p:nvSpPr>
          <p:cNvPr id="21" name="TextBox 20"/>
          <p:cNvSpPr txBox="1"/>
          <p:nvPr/>
        </p:nvSpPr>
        <p:spPr>
          <a:xfrm>
            <a:off x="7205472" y="2743200"/>
            <a:ext cx="292608" cy="274320"/>
          </a:xfrm>
          <a:prstGeom prst="rect">
            <a:avLst/>
          </a:prstGeom>
          <a:noFill/>
        </p:spPr>
        <p:txBody>
          <a:bodyPr wrap="square" lIns="54864" tIns="54864" rIns="54864" bIns="54864" anchor="t">
            <a:spAutoFit/>
          </a:bodyPr>
          <a:lstStyle/>
          <a:p>
            <a:pPr algn="ctr"/>
            <a:r>
              <a:rPr sz="2000" b="1">
                <a:solidFill>
                  <a:srgbClr val="18A9A7"/>
                </a:solidFill>
                <a:latin typeface="Aptos"/>
              </a:rPr>
              <a:t>→</a:t>
            </a:r>
          </a:p>
        </p:txBody>
      </p:sp>
      <p:sp>
        <p:nvSpPr>
          <p:cNvPr id="22" name="Rounded Rectangle 21"/>
          <p:cNvSpPr/>
          <p:nvPr/>
        </p:nvSpPr>
        <p:spPr>
          <a:xfrm>
            <a:off x="7562088" y="1965960"/>
            <a:ext cx="1938528" cy="2057400"/>
          </a:xfrm>
          <a:prstGeom prst="roundRect">
            <a:avLst/>
          </a:prstGeom>
          <a:solidFill>
            <a:srgbClr val="EBF3FA"/>
          </a:solidFill>
          <a:ln>
            <a:solidFill>
              <a:srgbClr val="EBF3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08392" y="2121408"/>
            <a:ext cx="502920" cy="274320"/>
          </a:xfrm>
          <a:prstGeom prst="rect">
            <a:avLst/>
          </a:prstGeom>
          <a:noFill/>
        </p:spPr>
        <p:txBody>
          <a:bodyPr wrap="square" lIns="54864" tIns="54864" rIns="54864" bIns="54864" anchor="t">
            <a:spAutoFit/>
          </a:bodyPr>
          <a:lstStyle/>
          <a:p>
            <a:r>
              <a:rPr sz="1200" b="1">
                <a:solidFill>
                  <a:srgbClr val="18A9A7"/>
                </a:solidFill>
                <a:latin typeface="Aptos"/>
              </a:rPr>
              <a:t>04</a:t>
            </a:r>
          </a:p>
        </p:txBody>
      </p:sp>
      <p:sp>
        <p:nvSpPr>
          <p:cNvPr id="24" name="TextBox 23"/>
          <p:cNvSpPr txBox="1"/>
          <p:nvPr/>
        </p:nvSpPr>
        <p:spPr>
          <a:xfrm>
            <a:off x="7708392" y="2542032"/>
            <a:ext cx="1664208" cy="320040"/>
          </a:xfrm>
          <a:prstGeom prst="rect">
            <a:avLst/>
          </a:prstGeom>
          <a:noFill/>
        </p:spPr>
        <p:txBody>
          <a:bodyPr wrap="square" lIns="54864" tIns="54864" rIns="54864" bIns="54864" anchor="t">
            <a:spAutoFit/>
          </a:bodyPr>
          <a:lstStyle/>
          <a:p>
            <a:r>
              <a:rPr sz="1600" b="1">
                <a:solidFill>
                  <a:srgbClr val="081931"/>
                </a:solidFill>
                <a:latin typeface="Aptos"/>
              </a:rPr>
              <a:t>Prediction</a:t>
            </a:r>
          </a:p>
        </p:txBody>
      </p:sp>
      <p:sp>
        <p:nvSpPr>
          <p:cNvPr id="25" name="TextBox 24"/>
          <p:cNvSpPr txBox="1"/>
          <p:nvPr/>
        </p:nvSpPr>
        <p:spPr>
          <a:xfrm>
            <a:off x="7708392" y="2971800"/>
            <a:ext cx="1664208" cy="822960"/>
          </a:xfrm>
          <a:prstGeom prst="rect">
            <a:avLst/>
          </a:prstGeom>
          <a:noFill/>
        </p:spPr>
        <p:txBody>
          <a:bodyPr wrap="square" lIns="54864" tIns="54864" rIns="54864" bIns="54864" anchor="t">
            <a:spAutoFit/>
          </a:bodyPr>
          <a:lstStyle/>
          <a:p>
            <a:r>
              <a:rPr sz="1150" b="0">
                <a:solidFill>
                  <a:srgbClr val="5B6F86"/>
                </a:solidFill>
                <a:latin typeface="Aptos"/>
              </a:rPr>
              <a:t>DataFrame → predict()
→ predict_proba()</a:t>
            </a:r>
          </a:p>
        </p:txBody>
      </p:sp>
      <p:sp>
        <p:nvSpPr>
          <p:cNvPr id="26" name="TextBox 25"/>
          <p:cNvSpPr txBox="1"/>
          <p:nvPr/>
        </p:nvSpPr>
        <p:spPr>
          <a:xfrm>
            <a:off x="9537192" y="2743200"/>
            <a:ext cx="292608" cy="274320"/>
          </a:xfrm>
          <a:prstGeom prst="rect">
            <a:avLst/>
          </a:prstGeom>
          <a:noFill/>
        </p:spPr>
        <p:txBody>
          <a:bodyPr wrap="square" lIns="54864" tIns="54864" rIns="54864" bIns="54864" anchor="t">
            <a:spAutoFit/>
          </a:bodyPr>
          <a:lstStyle/>
          <a:p>
            <a:pPr algn="ctr"/>
            <a:r>
              <a:rPr sz="2000" b="1">
                <a:solidFill>
                  <a:srgbClr val="18A9A7"/>
                </a:solidFill>
                <a:latin typeface="Aptos"/>
              </a:rPr>
              <a:t>→</a:t>
            </a:r>
          </a:p>
        </p:txBody>
      </p:sp>
      <p:sp>
        <p:nvSpPr>
          <p:cNvPr id="27" name="Rounded Rectangle 26"/>
          <p:cNvSpPr/>
          <p:nvPr/>
        </p:nvSpPr>
        <p:spPr>
          <a:xfrm>
            <a:off x="9893807" y="1965960"/>
            <a:ext cx="1938528" cy="2057400"/>
          </a:xfrm>
          <a:prstGeom prst="roundRect">
            <a:avLst/>
          </a:prstGeom>
          <a:solidFill>
            <a:srgbClr val="EBF3FA"/>
          </a:solidFill>
          <a:ln>
            <a:solidFill>
              <a:srgbClr val="EBF3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40111" y="2121408"/>
            <a:ext cx="502920" cy="274320"/>
          </a:xfrm>
          <a:prstGeom prst="rect">
            <a:avLst/>
          </a:prstGeom>
          <a:noFill/>
        </p:spPr>
        <p:txBody>
          <a:bodyPr wrap="square" lIns="54864" tIns="54864" rIns="54864" bIns="54864" anchor="t">
            <a:spAutoFit/>
          </a:bodyPr>
          <a:lstStyle/>
          <a:p>
            <a:r>
              <a:rPr sz="1200" b="1">
                <a:solidFill>
                  <a:srgbClr val="18A9A7"/>
                </a:solidFill>
                <a:latin typeface="Aptos"/>
              </a:rPr>
              <a:t>05</a:t>
            </a:r>
          </a:p>
        </p:txBody>
      </p:sp>
      <p:sp>
        <p:nvSpPr>
          <p:cNvPr id="29" name="TextBox 28"/>
          <p:cNvSpPr txBox="1"/>
          <p:nvPr/>
        </p:nvSpPr>
        <p:spPr>
          <a:xfrm>
            <a:off x="10040111" y="2542032"/>
            <a:ext cx="1664208" cy="320040"/>
          </a:xfrm>
          <a:prstGeom prst="rect">
            <a:avLst/>
          </a:prstGeom>
          <a:noFill/>
        </p:spPr>
        <p:txBody>
          <a:bodyPr wrap="square" lIns="54864" tIns="54864" rIns="54864" bIns="54864" anchor="t">
            <a:spAutoFit/>
          </a:bodyPr>
          <a:lstStyle/>
          <a:p>
            <a:r>
              <a:rPr sz="1600" b="1">
                <a:solidFill>
                  <a:srgbClr val="081931"/>
                </a:solidFill>
                <a:latin typeface="Aptos"/>
              </a:rPr>
              <a:t>Result</a:t>
            </a:r>
          </a:p>
        </p:txBody>
      </p:sp>
      <p:sp>
        <p:nvSpPr>
          <p:cNvPr id="30" name="TextBox 29"/>
          <p:cNvSpPr txBox="1"/>
          <p:nvPr/>
        </p:nvSpPr>
        <p:spPr>
          <a:xfrm>
            <a:off x="10040111" y="2971800"/>
            <a:ext cx="1664208" cy="822960"/>
          </a:xfrm>
          <a:prstGeom prst="rect">
            <a:avLst/>
          </a:prstGeom>
          <a:noFill/>
        </p:spPr>
        <p:txBody>
          <a:bodyPr wrap="square" lIns="54864" tIns="54864" rIns="54864" bIns="54864" anchor="t">
            <a:spAutoFit/>
          </a:bodyPr>
          <a:lstStyle/>
          <a:p>
            <a:r>
              <a:rPr sz="1150" b="0">
                <a:solidFill>
                  <a:srgbClr val="5B6F86"/>
                </a:solidFill>
                <a:latin typeface="Aptos"/>
              </a:rPr>
              <a:t>Stay / Leave
Churn probability</a:t>
            </a:r>
          </a:p>
        </p:txBody>
      </p:sp>
      <p:sp>
        <p:nvSpPr>
          <p:cNvPr id="31" name="TextBox 30"/>
          <p:cNvSpPr txBox="1"/>
          <p:nvPr/>
        </p:nvSpPr>
        <p:spPr>
          <a:xfrm>
            <a:off x="731520" y="4663440"/>
            <a:ext cx="10789920" cy="594360"/>
          </a:xfrm>
          <a:prstGeom prst="rect">
            <a:avLst/>
          </a:prstGeom>
          <a:noFill/>
        </p:spPr>
        <p:txBody>
          <a:bodyPr wrap="square" lIns="54864" tIns="54864" rIns="54864" bIns="54864" anchor="t">
            <a:spAutoFit/>
          </a:bodyPr>
          <a:lstStyle/>
          <a:p>
            <a:r>
              <a:rPr sz="1500" b="0">
                <a:solidFill>
                  <a:srgbClr val="1D3046"/>
                </a:solidFill>
                <a:latin typeface="Aptos"/>
              </a:rPr>
              <a:t>The application separates the offline training step from online inference: the trained model is saved first, then loaded by Streamlit when users open the app.</a:t>
            </a:r>
          </a:p>
        </p:txBody>
      </p:sp>
      <p:sp>
        <p:nvSpPr>
          <p:cNvPr id="32" name="TextBox 31"/>
          <p:cNvSpPr txBox="1"/>
          <p:nvPr/>
        </p:nvSpPr>
        <p:spPr>
          <a:xfrm>
            <a:off x="731520" y="5532120"/>
            <a:ext cx="10789920" cy="320040"/>
          </a:xfrm>
          <a:prstGeom prst="rect">
            <a:avLst/>
          </a:prstGeom>
          <a:noFill/>
        </p:spPr>
        <p:txBody>
          <a:bodyPr wrap="square" lIns="54864" tIns="54864" rIns="54864" bIns="54864" anchor="t">
            <a:spAutoFit/>
          </a:bodyPr>
          <a:lstStyle/>
          <a:p>
            <a:r>
              <a:rPr sz="1000" b="0">
                <a:solidFill>
                  <a:srgbClr val="5B6F86"/>
                </a:solidFill>
                <a:latin typeface="Aptos"/>
              </a:rPr>
              <a:t>Source: app.py — LOAD MODEL AND DATA, PREDICT CHURN sections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096000"/>
            <a:ext cx="10972800" cy="381000"/>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095375"/>
            <a:ext cx="6434137" cy="4848225"/>
          </a:xfrm>
          <a:prstGeom prst="roundRect">
            <a:avLst>
              <a:gd name="adj" fmla="val 1964"/>
            </a:avLst>
          </a:prstGeom>
          <a:solidFill>
            <a:srgbClr val="0F17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6096000"/>
            <a:ext cx="38100" cy="381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272337" y="1095375"/>
            <a:ext cx="4310062" cy="965596"/>
          </a:xfrm>
          <a:prstGeom prst="roundRect">
            <a:avLst>
              <a:gd name="adj" fmla="val 118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72337" y="2213371"/>
            <a:ext cx="4310062" cy="965596"/>
          </a:xfrm>
          <a:prstGeom prst="roundRect">
            <a:avLst>
              <a:gd name="adj" fmla="val 118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7472362" y="1463873"/>
            <a:ext cx="257175" cy="228600"/>
          </a:xfrm>
          <a:prstGeom prst="rect">
            <a:avLst/>
          </a:prstGeom>
        </p:spPr>
      </p:pic>
      <p:pic>
        <p:nvPicPr>
          <p:cNvPr id="8" name="Picture 7" descr="image.png"/>
          <p:cNvPicPr>
            <a:picLocks noChangeAspect="1"/>
          </p:cNvPicPr>
          <p:nvPr/>
        </p:nvPicPr>
        <p:blipFill>
          <a:blip r:embed="rId3"/>
          <a:stretch>
            <a:fillRect/>
          </a:stretch>
        </p:blipFill>
        <p:spPr>
          <a:xfrm>
            <a:off x="7472362" y="2581870"/>
            <a:ext cx="228600" cy="228600"/>
          </a:xfrm>
          <a:prstGeom prst="rect">
            <a:avLst/>
          </a:prstGeom>
        </p:spPr>
      </p:pic>
      <p:sp>
        <p:nvSpPr>
          <p:cNvPr id="9" name="TextBox 8"/>
          <p:cNvSpPr txBox="1"/>
          <p:nvPr/>
        </p:nvSpPr>
        <p:spPr>
          <a:xfrm>
            <a:off x="609600" y="3810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MILESTONE 4 CODE DEEP DIVE • STEP 1</a:t>
            </a:r>
          </a:p>
        </p:txBody>
      </p:sp>
      <p:sp>
        <p:nvSpPr>
          <p:cNvPr id="10" name="TextBox 9"/>
          <p:cNvSpPr txBox="1"/>
          <p:nvPr/>
        </p:nvSpPr>
        <p:spPr>
          <a:xfrm>
            <a:off x="609600" y="609600"/>
            <a:ext cx="11582400" cy="333375"/>
          </a:xfrm>
          <a:prstGeom prst="rect">
            <a:avLst/>
          </a:prstGeom>
          <a:noFill/>
        </p:spPr>
        <p:txBody>
          <a:bodyPr wrap="none" lIns="0" tIns="0" rIns="0" bIns="0" anchor="t">
            <a:spAutoFit/>
          </a:bodyPr>
          <a:lstStyle/>
          <a:p>
            <a:pPr algn="l"/>
            <a:r>
              <a:rPr sz="2100" b="1" i="0" u="none">
                <a:solidFill>
                  <a:srgbClr val="0F172A"/>
                </a:solidFill>
                <a:latin typeface="Plus Jakarta Sans"/>
              </a:rPr>
              <a:t>Preprocessing Pipeline &amp; Data Split Code</a:t>
            </a:r>
          </a:p>
        </p:txBody>
      </p:sp>
      <p:sp>
        <p:nvSpPr>
          <p:cNvPr id="11" name="TextBox 10"/>
          <p:cNvSpPr txBox="1"/>
          <p:nvPr/>
        </p:nvSpPr>
        <p:spPr>
          <a:xfrm>
            <a:off x="800100" y="1285875"/>
            <a:ext cx="6148387" cy="4467225"/>
          </a:xfrm>
          <a:prstGeom prst="rect">
            <a:avLst/>
          </a:prstGeom>
          <a:noFill/>
        </p:spPr>
        <p:txBody>
          <a:bodyPr wrap="square" lIns="0" tIns="0" rIns="0" bIns="0" anchor="t">
            <a:spAutoFit/>
          </a:bodyPr>
          <a:lstStyle/>
          <a:p>
            <a:pPr algn="l">
              <a:lnSpc>
                <a:spcPts val="1518"/>
              </a:lnSpc>
            </a:pPr>
            <a:r>
              <a:rPr sz="1012" b="0" i="1" u="none">
                <a:solidFill>
                  <a:srgbClr val="64748B"/>
                </a:solidFill>
                <a:latin typeface="JetBrains Mono"/>
              </a:rPr>
              <a:t># Stratified Train-Test Split (80/20)</a:t>
            </a:r>
            <a:r>
              <a:t>
</a:t>
            </a:r>
            <a:r>
              <a:rPr sz="1012" b="0" i="0" u="none">
                <a:solidFill>
                  <a:srgbClr val="E2E8F0"/>
                </a:solidFill>
                <a:latin typeface="JetBrains Mono"/>
              </a:rPr>
              <a:t> X = df.</a:t>
            </a:r>
            <a:r>
              <a:rPr sz="1012" b="0" i="0" u="none">
                <a:solidFill>
                  <a:srgbClr val="38BDF8"/>
                </a:solidFill>
                <a:latin typeface="JetBrains Mono"/>
              </a:rPr>
              <a:t>drop</a:t>
            </a:r>
            <a:r>
              <a:rPr sz="1012" b="0" i="0" u="none">
                <a:solidFill>
                  <a:srgbClr val="E2E8F0"/>
                </a:solidFill>
                <a:latin typeface="JetBrains Mono"/>
              </a:rPr>
              <a:t>(columns=[</a:t>
            </a:r>
            <a:r>
              <a:rPr sz="1012" b="0" i="0" u="none">
                <a:solidFill>
                  <a:srgbClr val="A3E635"/>
                </a:solidFill>
                <a:latin typeface="JetBrains Mono"/>
              </a:rPr>
              <a:t>"Exited"</a:t>
            </a:r>
            <a:r>
              <a:rPr sz="1012" b="0" i="0" u="none">
                <a:solidFill>
                  <a:srgbClr val="E2E8F0"/>
                </a:solidFill>
                <a:latin typeface="JetBrains Mono"/>
              </a:rPr>
              <a:t>])</a:t>
            </a:r>
            <a:r>
              <a:t>
</a:t>
            </a:r>
            <a:r>
              <a:rPr sz="1012" b="0" i="0" u="none">
                <a:solidFill>
                  <a:srgbClr val="E2E8F0"/>
                </a:solidFill>
                <a:latin typeface="JetBrains Mono"/>
              </a:rPr>
              <a:t> y = df[</a:t>
            </a:r>
            <a:r>
              <a:rPr sz="1012" b="0" i="0" u="none">
                <a:solidFill>
                  <a:srgbClr val="A3E635"/>
                </a:solidFill>
                <a:latin typeface="JetBrains Mono"/>
              </a:rPr>
              <a:t>"Exited"</a:t>
            </a:r>
            <a:r>
              <a:rPr sz="1012" b="0" i="0" u="none">
                <a:solidFill>
                  <a:srgbClr val="E2E8F0"/>
                </a:solidFill>
                <a:latin typeface="JetBrains Mono"/>
              </a:rPr>
              <a:t>]</a:t>
            </a:r>
            <a:r>
              <a:t>
</a:t>
            </a:r>
            <a:r>
              <a:rPr sz="1012" b="0" i="0" u="none">
                <a:solidFill>
                  <a:srgbClr val="E2E8F0"/>
                </a:solidFill>
                <a:latin typeface="JetBrains Mono"/>
              </a:rPr>
              <a:t> X_train, X_test, y_train, y_test = </a:t>
            </a:r>
            <a:r>
              <a:rPr sz="1012" b="0" i="0" u="none">
                <a:solidFill>
                  <a:srgbClr val="38BDF8"/>
                </a:solidFill>
                <a:latin typeface="JetBrains Mono"/>
              </a:rPr>
              <a:t>train_test_split</a:t>
            </a:r>
            <a:r>
              <a:rPr sz="1012" b="0" i="0" u="none">
                <a:solidFill>
                  <a:srgbClr val="E2E8F0"/>
                </a:solidFill>
                <a:latin typeface="JetBrains Mono"/>
              </a:rPr>
              <a:t>(</a:t>
            </a:r>
            <a:r>
              <a:t>
</a:t>
            </a:r>
            <a:r>
              <a:rPr sz="1012" b="0" i="0" u="none">
                <a:solidFill>
                  <a:srgbClr val="E2E8F0"/>
                </a:solidFill>
                <a:latin typeface="JetBrains Mono"/>
              </a:rPr>
              <a:t>     X, y, test_size=</a:t>
            </a:r>
            <a:r>
              <a:rPr sz="1012" b="0" i="0" u="none">
                <a:solidFill>
                  <a:srgbClr val="FBBF24"/>
                </a:solidFill>
                <a:latin typeface="JetBrains Mono"/>
              </a:rPr>
              <a:t>0.20</a:t>
            </a:r>
            <a:r>
              <a:rPr sz="1012" b="0" i="0" u="none">
                <a:solidFill>
                  <a:srgbClr val="E2E8F0"/>
                </a:solidFill>
                <a:latin typeface="JetBrains Mono"/>
              </a:rPr>
              <a:t>, stratify=y, random_state=</a:t>
            </a:r>
            <a:r>
              <a:rPr sz="1012" b="0" i="0" u="none">
                <a:solidFill>
                  <a:srgbClr val="FBBF24"/>
                </a:solidFill>
                <a:latin typeface="JetBrains Mono"/>
              </a:rPr>
              <a:t>42</a:t>
            </a:r>
            <a:r>
              <a:t>
</a:t>
            </a:r>
            <a:r>
              <a:rPr sz="1012" b="0" i="0" u="none">
                <a:solidFill>
                  <a:srgbClr val="E2E8F0"/>
                </a:solidFill>
                <a:latin typeface="JetBrains Mono"/>
              </a:rPr>
              <a:t> )</a:t>
            </a:r>
            <a:r>
              <a:t>
</a:t>
            </a:r>
            <a:r>
              <a:rPr sz="1012" b="0" i="1" u="none">
                <a:solidFill>
                  <a:srgbClr val="64748B"/>
                </a:solidFill>
                <a:latin typeface="JetBrains Mono"/>
              </a:rPr>
              <a:t># Column Transformer Pipeline</a:t>
            </a:r>
            <a:r>
              <a:t>
</a:t>
            </a:r>
            <a:r>
              <a:rPr sz="1012" b="0" i="0" u="none">
                <a:solidFill>
                  <a:srgbClr val="E2E8F0"/>
                </a:solidFill>
                <a:latin typeface="JetBrains Mono"/>
              </a:rPr>
              <a:t> num_pipe = </a:t>
            </a:r>
            <a:r>
              <a:rPr sz="1012" b="1" i="0" u="none">
                <a:solidFill>
                  <a:srgbClr val="C084FC"/>
                </a:solidFill>
                <a:latin typeface="JetBrains Mono"/>
              </a:rPr>
              <a:t>Pipeline</a:t>
            </a:r>
            <a:r>
              <a:rPr sz="1012" b="0" i="0" u="none">
                <a:solidFill>
                  <a:srgbClr val="E2E8F0"/>
                </a:solidFill>
                <a:latin typeface="JetBrains Mono"/>
              </a:rPr>
              <a:t>([</a:t>
            </a:r>
            <a:r>
              <a:t>
</a:t>
            </a:r>
            <a:r>
              <a:rPr sz="1012" b="0" i="0" u="none">
                <a:solidFill>
                  <a:srgbClr val="E2E8F0"/>
                </a:solidFill>
                <a:latin typeface="JetBrains Mono"/>
              </a:rPr>
              <a:t>     (</a:t>
            </a:r>
            <a:r>
              <a:rPr sz="1012" b="0" i="0" u="none">
                <a:solidFill>
                  <a:srgbClr val="A3E635"/>
                </a:solidFill>
                <a:latin typeface="JetBrains Mono"/>
              </a:rPr>
              <a:t>'imputer'</a:t>
            </a:r>
            <a:r>
              <a:rPr sz="1012" b="0" i="0" u="none">
                <a:solidFill>
                  <a:srgbClr val="E2E8F0"/>
                </a:solidFill>
                <a:latin typeface="JetBrains Mono"/>
              </a:rPr>
              <a:t>, </a:t>
            </a:r>
            <a:r>
              <a:rPr sz="1012" b="1" i="0" u="none">
                <a:solidFill>
                  <a:srgbClr val="C084FC"/>
                </a:solidFill>
                <a:latin typeface="JetBrains Mono"/>
              </a:rPr>
              <a:t>SimpleImputer</a:t>
            </a:r>
            <a:r>
              <a:rPr sz="1012" b="0" i="0" u="none">
                <a:solidFill>
                  <a:srgbClr val="E2E8F0"/>
                </a:solidFill>
                <a:latin typeface="JetBrains Mono"/>
              </a:rPr>
              <a:t>(strategy=</a:t>
            </a:r>
            <a:r>
              <a:rPr sz="1012" b="0" i="0" u="none">
                <a:solidFill>
                  <a:srgbClr val="A3E635"/>
                </a:solidFill>
                <a:latin typeface="JetBrains Mono"/>
              </a:rPr>
              <a:t>'median'</a:t>
            </a:r>
            <a:r>
              <a:rPr sz="1012" b="0" i="0" u="none">
                <a:solidFill>
                  <a:srgbClr val="E2E8F0"/>
                </a:solidFill>
                <a:latin typeface="JetBrains Mono"/>
              </a:rPr>
              <a:t>)),</a:t>
            </a:r>
            <a:r>
              <a:t>
</a:t>
            </a:r>
            <a:r>
              <a:rPr sz="1012" b="0" i="0" u="none">
                <a:solidFill>
                  <a:srgbClr val="E2E8F0"/>
                </a:solidFill>
                <a:latin typeface="JetBrains Mono"/>
              </a:rPr>
              <a:t>     (</a:t>
            </a:r>
            <a:r>
              <a:rPr sz="1012" b="0" i="0" u="none">
                <a:solidFill>
                  <a:srgbClr val="A3E635"/>
                </a:solidFill>
                <a:latin typeface="JetBrains Mono"/>
              </a:rPr>
              <a:t>'scaler'</a:t>
            </a:r>
            <a:r>
              <a:rPr sz="1012" b="0" i="0" u="none">
                <a:solidFill>
                  <a:srgbClr val="E2E8F0"/>
                </a:solidFill>
                <a:latin typeface="JetBrains Mono"/>
              </a:rPr>
              <a:t>, </a:t>
            </a:r>
            <a:r>
              <a:rPr sz="1012" b="1" i="0" u="none">
                <a:solidFill>
                  <a:srgbClr val="C084FC"/>
                </a:solidFill>
                <a:latin typeface="JetBrains Mono"/>
              </a:rPr>
              <a:t>StandardScaler</a:t>
            </a:r>
            <a:r>
              <a:rPr sz="1012" b="0" i="0" u="none">
                <a:solidFill>
                  <a:srgbClr val="E2E8F0"/>
                </a:solidFill>
                <a:latin typeface="JetBrains Mono"/>
              </a:rPr>
              <a:t>())</a:t>
            </a:r>
            <a:r>
              <a:t>
</a:t>
            </a:r>
            <a:r>
              <a:rPr sz="1012" b="0" i="0" u="none">
                <a:solidFill>
                  <a:srgbClr val="E2E8F0"/>
                </a:solidFill>
                <a:latin typeface="JetBrains Mono"/>
              </a:rPr>
              <a:t> ])</a:t>
            </a:r>
            <a:r>
              <a:t>
</a:t>
            </a:r>
            <a:r>
              <a:rPr sz="1012" b="0" i="0" u="none">
                <a:solidFill>
                  <a:srgbClr val="E2E8F0"/>
                </a:solidFill>
                <a:latin typeface="JetBrains Mono"/>
              </a:rPr>
              <a:t> cat_pipe = </a:t>
            </a:r>
            <a:r>
              <a:rPr sz="1012" b="1" i="0" u="none">
                <a:solidFill>
                  <a:srgbClr val="C084FC"/>
                </a:solidFill>
                <a:latin typeface="JetBrains Mono"/>
              </a:rPr>
              <a:t>Pipeline</a:t>
            </a:r>
            <a:r>
              <a:rPr sz="1012" b="0" i="0" u="none">
                <a:solidFill>
                  <a:srgbClr val="E2E8F0"/>
                </a:solidFill>
                <a:latin typeface="JetBrains Mono"/>
              </a:rPr>
              <a:t>([</a:t>
            </a:r>
            <a:r>
              <a:t>
</a:t>
            </a:r>
            <a:r>
              <a:rPr sz="1012" b="0" i="0" u="none">
                <a:solidFill>
                  <a:srgbClr val="E2E8F0"/>
                </a:solidFill>
                <a:latin typeface="JetBrains Mono"/>
              </a:rPr>
              <a:t>     (</a:t>
            </a:r>
            <a:r>
              <a:rPr sz="1012" b="0" i="0" u="none">
                <a:solidFill>
                  <a:srgbClr val="A3E635"/>
                </a:solidFill>
                <a:latin typeface="JetBrains Mono"/>
              </a:rPr>
              <a:t>'imputer'</a:t>
            </a:r>
            <a:r>
              <a:rPr sz="1012" b="0" i="0" u="none">
                <a:solidFill>
                  <a:srgbClr val="E2E8F0"/>
                </a:solidFill>
                <a:latin typeface="JetBrains Mono"/>
              </a:rPr>
              <a:t>, </a:t>
            </a:r>
            <a:r>
              <a:rPr sz="1012" b="1" i="0" u="none">
                <a:solidFill>
                  <a:srgbClr val="C084FC"/>
                </a:solidFill>
                <a:latin typeface="JetBrains Mono"/>
              </a:rPr>
              <a:t>SimpleImputer</a:t>
            </a:r>
            <a:r>
              <a:rPr sz="1012" b="0" i="0" u="none">
                <a:solidFill>
                  <a:srgbClr val="E2E8F0"/>
                </a:solidFill>
                <a:latin typeface="JetBrains Mono"/>
              </a:rPr>
              <a:t>(strategy=</a:t>
            </a:r>
            <a:r>
              <a:rPr sz="1012" b="0" i="0" u="none">
                <a:solidFill>
                  <a:srgbClr val="A3E635"/>
                </a:solidFill>
                <a:latin typeface="JetBrains Mono"/>
              </a:rPr>
              <a:t>'most_frequent'</a:t>
            </a:r>
            <a:r>
              <a:rPr sz="1012" b="0" i="0" u="none">
                <a:solidFill>
                  <a:srgbClr val="E2E8F0"/>
                </a:solidFill>
                <a:latin typeface="JetBrains Mono"/>
              </a:rPr>
              <a:t>)),</a:t>
            </a:r>
            <a:r>
              <a:t>
</a:t>
            </a:r>
            <a:r>
              <a:rPr sz="1012" b="0" i="0" u="none">
                <a:solidFill>
                  <a:srgbClr val="E2E8F0"/>
                </a:solidFill>
                <a:latin typeface="JetBrains Mono"/>
              </a:rPr>
              <a:t>     (</a:t>
            </a:r>
            <a:r>
              <a:rPr sz="1012" b="0" i="0" u="none">
                <a:solidFill>
                  <a:srgbClr val="A3E635"/>
                </a:solidFill>
                <a:latin typeface="JetBrains Mono"/>
              </a:rPr>
              <a:t>'encoder'</a:t>
            </a:r>
            <a:r>
              <a:rPr sz="1012" b="0" i="0" u="none">
                <a:solidFill>
                  <a:srgbClr val="E2E8F0"/>
                </a:solidFill>
                <a:latin typeface="JetBrains Mono"/>
              </a:rPr>
              <a:t>, </a:t>
            </a:r>
            <a:r>
              <a:rPr sz="1012" b="1" i="0" u="none">
                <a:solidFill>
                  <a:srgbClr val="C084FC"/>
                </a:solidFill>
                <a:latin typeface="JetBrains Mono"/>
              </a:rPr>
              <a:t>OneHotEncoder</a:t>
            </a:r>
            <a:r>
              <a:rPr sz="1012" b="0" i="0" u="none">
                <a:solidFill>
                  <a:srgbClr val="E2E8F0"/>
                </a:solidFill>
                <a:latin typeface="JetBrains Mono"/>
              </a:rPr>
              <a:t>(handle_unknown=</a:t>
            </a:r>
            <a:r>
              <a:rPr sz="1012" b="0" i="0" u="none">
                <a:solidFill>
                  <a:srgbClr val="A3E635"/>
                </a:solidFill>
                <a:latin typeface="JetBrains Mono"/>
              </a:rPr>
              <a:t>'ignore'</a:t>
            </a:r>
            <a:r>
              <a:rPr sz="1012" b="0" i="0" u="none">
                <a:solidFill>
                  <a:srgbClr val="E2E8F0"/>
                </a:solidFill>
                <a:latin typeface="JetBrains Mono"/>
              </a:rPr>
              <a:t>))</a:t>
            </a:r>
            <a:r>
              <a:t>
</a:t>
            </a:r>
            <a:r>
              <a:rPr sz="1012" b="0" i="0" u="none">
                <a:solidFill>
                  <a:srgbClr val="E2E8F0"/>
                </a:solidFill>
                <a:latin typeface="JetBrains Mono"/>
              </a:rPr>
              <a:t> ])</a:t>
            </a:r>
          </a:p>
        </p:txBody>
      </p:sp>
      <p:sp>
        <p:nvSpPr>
          <p:cNvPr id="12" name="TextBox 11"/>
          <p:cNvSpPr txBox="1"/>
          <p:nvPr/>
        </p:nvSpPr>
        <p:spPr>
          <a:xfrm>
            <a:off x="838200" y="6210300"/>
            <a:ext cx="1333500" cy="152400"/>
          </a:xfrm>
          <a:prstGeom prst="rect">
            <a:avLst/>
          </a:prstGeom>
          <a:noFill/>
        </p:spPr>
        <p:txBody>
          <a:bodyPr wrap="none" lIns="0" tIns="0" rIns="0" bIns="0" anchor="t">
            <a:spAutoFit/>
          </a:bodyPr>
          <a:lstStyle/>
          <a:p>
            <a:pPr algn="l"/>
            <a:r>
              <a:rPr sz="975" b="1" i="0" u="none">
                <a:solidFill>
                  <a:srgbClr val="0284C7"/>
                </a:solidFill>
                <a:latin typeface="Plus Jakarta Sans"/>
              </a:rPr>
              <a:t>Technical Insight:</a:t>
            </a:r>
          </a:p>
        </p:txBody>
      </p:sp>
      <p:sp>
        <p:nvSpPr>
          <p:cNvPr id="13" name="TextBox 12"/>
          <p:cNvSpPr txBox="1"/>
          <p:nvPr/>
        </p:nvSpPr>
        <p:spPr>
          <a:xfrm>
            <a:off x="2000250" y="6210300"/>
            <a:ext cx="10191750" cy="152400"/>
          </a:xfrm>
          <a:prstGeom prst="rect">
            <a:avLst/>
          </a:prstGeom>
          <a:noFill/>
        </p:spPr>
        <p:txBody>
          <a:bodyPr wrap="none" lIns="0" tIns="0" rIns="0" bIns="0" anchor="t">
            <a:spAutoFit/>
          </a:bodyPr>
          <a:lstStyle/>
          <a:p>
            <a:pPr algn="l"/>
            <a:r>
              <a:rPr sz="975" b="0" i="0" u="none">
                <a:solidFill>
                  <a:srgbClr val="0369A1"/>
                </a:solidFill>
                <a:latin typeface="Plus Jakarta Sans"/>
              </a:rPr>
              <a:t>Separated target features and applied ColumnTransformer Pipelines for imputation and encoding to prevent Data Leakage during cross-validation.</a:t>
            </a:r>
          </a:p>
        </p:txBody>
      </p:sp>
      <p:sp>
        <p:nvSpPr>
          <p:cNvPr id="14" name="TextBox 13"/>
          <p:cNvSpPr txBox="1"/>
          <p:nvPr/>
        </p:nvSpPr>
        <p:spPr>
          <a:xfrm>
            <a:off x="7881937" y="1295400"/>
            <a:ext cx="4310062" cy="180975"/>
          </a:xfrm>
          <a:prstGeom prst="rect">
            <a:avLst/>
          </a:prstGeom>
          <a:noFill/>
        </p:spPr>
        <p:txBody>
          <a:bodyPr wrap="none" lIns="0" tIns="0" rIns="0" bIns="0" anchor="t">
            <a:spAutoFit/>
          </a:bodyPr>
          <a:lstStyle/>
          <a:p>
            <a:pPr algn="l"/>
            <a:r>
              <a:rPr sz="1125" b="1" i="0" u="none">
                <a:solidFill>
                  <a:srgbClr val="0F172A"/>
                </a:solidFill>
                <a:latin typeface="Plus Jakarta Sans"/>
              </a:rPr>
              <a:t>Stratified Split</a:t>
            </a:r>
          </a:p>
        </p:txBody>
      </p:sp>
      <p:sp>
        <p:nvSpPr>
          <p:cNvPr id="15" name="TextBox 14"/>
          <p:cNvSpPr txBox="1"/>
          <p:nvPr/>
        </p:nvSpPr>
        <p:spPr>
          <a:xfrm>
            <a:off x="7881937" y="1514475"/>
            <a:ext cx="3595687" cy="346471"/>
          </a:xfrm>
          <a:prstGeom prst="rect">
            <a:avLst/>
          </a:prstGeom>
          <a:noFill/>
        </p:spPr>
        <p:txBody>
          <a:bodyPr wrap="square" lIns="0" tIns="0" rIns="0" bIns="0" anchor="t">
            <a:spAutoFit/>
          </a:bodyPr>
          <a:lstStyle/>
          <a:p>
            <a:pPr algn="l">
              <a:lnSpc>
                <a:spcPts val="1364"/>
              </a:lnSpc>
            </a:pPr>
            <a:r>
              <a:rPr sz="975" b="0" i="0" u="none">
                <a:solidFill>
                  <a:srgbClr val="64748B"/>
                </a:solidFill>
                <a:latin typeface="Plus Jakarta Sans"/>
              </a:rPr>
              <a:t>8,000 train / 2,000 test rows. Preserves identical churn proportions across sets.</a:t>
            </a:r>
          </a:p>
        </p:txBody>
      </p:sp>
      <p:sp>
        <p:nvSpPr>
          <p:cNvPr id="16" name="TextBox 15"/>
          <p:cNvSpPr txBox="1"/>
          <p:nvPr/>
        </p:nvSpPr>
        <p:spPr>
          <a:xfrm>
            <a:off x="7853362" y="2413396"/>
            <a:ext cx="4338637" cy="180975"/>
          </a:xfrm>
          <a:prstGeom prst="rect">
            <a:avLst/>
          </a:prstGeom>
          <a:noFill/>
        </p:spPr>
        <p:txBody>
          <a:bodyPr wrap="none" lIns="0" tIns="0" rIns="0" bIns="0" anchor="t">
            <a:spAutoFit/>
          </a:bodyPr>
          <a:lstStyle/>
          <a:p>
            <a:pPr algn="l"/>
            <a:r>
              <a:rPr sz="1125" b="1" i="0" u="none">
                <a:solidFill>
                  <a:srgbClr val="0F172A"/>
                </a:solidFill>
                <a:latin typeface="Plus Jakarta Sans"/>
              </a:rPr>
              <a:t>Leak-Free Pipeline</a:t>
            </a:r>
          </a:p>
        </p:txBody>
      </p:sp>
      <p:sp>
        <p:nvSpPr>
          <p:cNvPr id="17" name="TextBox 16"/>
          <p:cNvSpPr txBox="1"/>
          <p:nvPr/>
        </p:nvSpPr>
        <p:spPr>
          <a:xfrm>
            <a:off x="7853362" y="2632471"/>
            <a:ext cx="3624262" cy="346471"/>
          </a:xfrm>
          <a:prstGeom prst="rect">
            <a:avLst/>
          </a:prstGeom>
          <a:noFill/>
        </p:spPr>
        <p:txBody>
          <a:bodyPr wrap="square" lIns="0" tIns="0" rIns="0" bIns="0" anchor="t">
            <a:spAutoFit/>
          </a:bodyPr>
          <a:lstStyle/>
          <a:p>
            <a:pPr algn="l">
              <a:lnSpc>
                <a:spcPts val="1364"/>
              </a:lnSpc>
            </a:pPr>
            <a:r>
              <a:rPr sz="975" b="0" i="0" u="none">
                <a:solidFill>
                  <a:srgbClr val="64748B"/>
                </a:solidFill>
                <a:latin typeface="Plus Jakarta Sans"/>
              </a:rPr>
              <a:t>Imputation and scaling parameters are fitted ONLY on training folds.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5943600"/>
            <a:ext cx="10972800" cy="533400"/>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095375"/>
            <a:ext cx="6200775" cy="4695825"/>
          </a:xfrm>
          <a:prstGeom prst="roundRect">
            <a:avLst>
              <a:gd name="adj" fmla="val 2028"/>
            </a:avLst>
          </a:prstGeom>
          <a:solidFill>
            <a:srgbClr val="0F17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038975" y="1095375"/>
            <a:ext cx="4543425" cy="4695825"/>
          </a:xfrm>
          <a:prstGeom prst="roundRect">
            <a:avLst>
              <a:gd name="adj" fmla="val 251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5943600"/>
            <a:ext cx="38100" cy="5334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239000" y="2662237"/>
          <a:ext cx="4143373" cy="1562100"/>
        </p:xfrm>
        <a:graphic>
          <a:graphicData uri="http://schemas.openxmlformats.org/drawingml/2006/table">
            <a:tbl>
              <a:tblPr/>
              <a:tblGrid>
                <a:gridCol w="1666130">
                  <a:extLst>
                    <a:ext uri="{9D8B030D-6E8A-4147-A177-3AD203B41FA5}">
                      <a16:colId xmlns:a16="http://schemas.microsoft.com/office/drawing/2014/main" val="20000"/>
                    </a:ext>
                  </a:extLst>
                </a:gridCol>
                <a:gridCol w="958304">
                  <a:extLst>
                    <a:ext uri="{9D8B030D-6E8A-4147-A177-3AD203B41FA5}">
                      <a16:colId xmlns:a16="http://schemas.microsoft.com/office/drawing/2014/main" val="20001"/>
                    </a:ext>
                  </a:extLst>
                </a:gridCol>
                <a:gridCol w="1518939">
                  <a:extLst>
                    <a:ext uri="{9D8B030D-6E8A-4147-A177-3AD203B41FA5}">
                      <a16:colId xmlns:a16="http://schemas.microsoft.com/office/drawing/2014/main" val="20002"/>
                    </a:ext>
                  </a:extLst>
                </a:gridCol>
              </a:tblGrid>
              <a:tr h="312420">
                <a:tc>
                  <a:txBody>
                    <a:bodyPr/>
                    <a:lstStyle/>
                    <a:p>
                      <a:pPr algn="l"/>
                      <a:r>
                        <a:rPr sz="975" b="1" i="0" u="none">
                          <a:solidFill>
                            <a:srgbClr val="475569"/>
                          </a:solidFill>
                          <a:latin typeface="Plus Jakarta Sans"/>
                        </a:rPr>
                        <a:t>Model</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0284C7"/>
                          </a:solidFill>
                          <a:latin typeface="Plus Jakarta Sans"/>
                        </a:rPr>
                        <a:t>CV F1</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475569"/>
                          </a:solidFill>
                          <a:latin typeface="Plus Jakarta Sans"/>
                        </a:rPr>
                        <a:t>CV ROC-AUC</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312420">
                <a:tc>
                  <a:txBody>
                    <a:bodyPr/>
                    <a:lstStyle/>
                    <a:p>
                      <a:pPr algn="l"/>
                      <a:r>
                        <a:rPr sz="975" b="1" i="0" u="none">
                          <a:solidFill>
                            <a:srgbClr val="0369A1"/>
                          </a:solidFill>
                          <a:latin typeface="Plus Jakarta Sans"/>
                        </a:rPr>
                        <a:t>Random Forest</a:t>
                      </a:r>
                    </a:p>
                  </a:txBody>
                  <a:tcPr marL="63500" marR="63500" marT="25400" marB="25400" anchor="ctr">
                    <a:lnL>
                      <a:noFill/>
                    </a:lnL>
                    <a:lnR>
                      <a:noFill/>
                    </a:lnR>
                    <a:lnT>
                      <a:noFill/>
                    </a:lnT>
                    <a:lnB>
                      <a:noFill/>
                    </a:lnB>
                    <a:solidFill>
                      <a:srgbClr val="F0F9FF"/>
                    </a:solidFill>
                  </a:tcPr>
                </a:tc>
                <a:tc>
                  <a:txBody>
                    <a:bodyPr/>
                    <a:lstStyle/>
                    <a:p>
                      <a:pPr algn="l"/>
                      <a:r>
                        <a:rPr sz="975" b="1" i="0" u="none">
                          <a:solidFill>
                            <a:srgbClr val="0284C7"/>
                          </a:solidFill>
                          <a:latin typeface="Plus Jakarta Sans"/>
                        </a:rPr>
                        <a:t>0.5404</a:t>
                      </a:r>
                    </a:p>
                  </a:txBody>
                  <a:tcPr marL="63500" marR="63500" marT="25400" marB="25400" anchor="ctr">
                    <a:lnL>
                      <a:noFill/>
                    </a:lnL>
                    <a:lnR>
                      <a:noFill/>
                    </a:lnR>
                    <a:lnT>
                      <a:noFill/>
                    </a:lnT>
                    <a:lnB>
                      <a:noFill/>
                    </a:lnB>
                    <a:solidFill>
                      <a:srgbClr val="F0F9FF"/>
                    </a:solidFill>
                  </a:tcPr>
                </a:tc>
                <a:tc>
                  <a:txBody>
                    <a:bodyPr/>
                    <a:lstStyle/>
                    <a:p>
                      <a:pPr algn="l"/>
                      <a:r>
                        <a:rPr sz="975" b="1" i="0" u="none">
                          <a:solidFill>
                            <a:srgbClr val="0369A1"/>
                          </a:solidFill>
                          <a:latin typeface="Plus Jakarta Sans"/>
                        </a:rPr>
                        <a:t>0.8440</a:t>
                      </a:r>
                    </a:p>
                  </a:txBody>
                  <a:tcPr marL="63500" marR="63500" marT="25400" marB="25400" anchor="ctr">
                    <a:lnL>
                      <a:noFill/>
                    </a:lnL>
                    <a:lnR>
                      <a:noFill/>
                    </a:lnR>
                    <a:lnT>
                      <a:noFill/>
                    </a:lnT>
                    <a:lnB>
                      <a:noFill/>
                    </a:lnB>
                    <a:solidFill>
                      <a:srgbClr val="F0F9FF"/>
                    </a:solidFill>
                  </a:tcPr>
                </a:tc>
                <a:extLst>
                  <a:ext uri="{0D108BD9-81ED-4DB2-BD59-A6C34878D82A}">
                    <a16:rowId xmlns:a16="http://schemas.microsoft.com/office/drawing/2014/main" val="10001"/>
                  </a:ext>
                </a:extLst>
              </a:tr>
              <a:tr h="312420">
                <a:tc>
                  <a:txBody>
                    <a:bodyPr/>
                    <a:lstStyle/>
                    <a:p>
                      <a:pPr algn="l"/>
                      <a:r>
                        <a:rPr sz="975" b="0" i="0" u="none">
                          <a:solidFill>
                            <a:srgbClr val="64748B"/>
                          </a:solidFill>
                          <a:latin typeface="Plus Jakarta Sans"/>
                        </a:rPr>
                        <a:t>Logistic Reg.</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64748B"/>
                          </a:solidFill>
                          <a:latin typeface="Plus Jakarta Sans"/>
                        </a:rPr>
                        <a:t>0.5085</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64748B"/>
                          </a:solidFill>
                          <a:latin typeface="Plus Jakarta Sans"/>
                        </a:rPr>
                        <a:t>0.7804</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312420">
                <a:tc>
                  <a:txBody>
                    <a:bodyPr/>
                    <a:lstStyle/>
                    <a:p>
                      <a:pPr algn="l"/>
                      <a:r>
                        <a:rPr sz="975" b="0" i="0" u="none">
                          <a:solidFill>
                            <a:srgbClr val="64748B"/>
                          </a:solidFill>
                          <a:latin typeface="Plus Jakarta Sans"/>
                        </a:rPr>
                        <a:t>KNN</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64748B"/>
                          </a:solidFill>
                          <a:latin typeface="Plus Jakarta Sans"/>
                        </a:rPr>
                        <a:t>0.4989</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64748B"/>
                          </a:solidFill>
                          <a:latin typeface="Plus Jakarta Sans"/>
                        </a:rPr>
                        <a:t>0.7749</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3"/>
                  </a:ext>
                </a:extLst>
              </a:tr>
              <a:tr h="312420">
                <a:tc>
                  <a:txBody>
                    <a:bodyPr/>
                    <a:lstStyle/>
                    <a:p>
                      <a:pPr algn="l"/>
                      <a:r>
                        <a:rPr sz="975" b="0" i="0" u="none">
                          <a:solidFill>
                            <a:srgbClr val="64748B"/>
                          </a:solidFill>
                          <a:latin typeface="Plus Jakarta Sans"/>
                        </a:rPr>
                        <a:t>Decision Tree</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64748B"/>
                          </a:solidFill>
                          <a:latin typeface="Plus Jakarta Sans"/>
                        </a:rPr>
                        <a:t>0.4867</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64748B"/>
                          </a:solidFill>
                          <a:latin typeface="Plus Jakarta Sans"/>
                        </a:rPr>
                        <a:t>0.6774</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09600" y="3810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MILESTONE 4 CODE DEEP DIVE • STEP 2</a:t>
            </a:r>
          </a:p>
        </p:txBody>
      </p:sp>
      <p:sp>
        <p:nvSpPr>
          <p:cNvPr id="8" name="TextBox 7"/>
          <p:cNvSpPr txBox="1"/>
          <p:nvPr/>
        </p:nvSpPr>
        <p:spPr>
          <a:xfrm>
            <a:off x="609600" y="609600"/>
            <a:ext cx="11582400" cy="333375"/>
          </a:xfrm>
          <a:prstGeom prst="rect">
            <a:avLst/>
          </a:prstGeom>
          <a:noFill/>
        </p:spPr>
        <p:txBody>
          <a:bodyPr wrap="none" lIns="0" tIns="0" rIns="0" bIns="0" anchor="t">
            <a:spAutoFit/>
          </a:bodyPr>
          <a:lstStyle/>
          <a:p>
            <a:pPr algn="l"/>
            <a:r>
              <a:rPr sz="2100" b="1" i="0" u="none">
                <a:solidFill>
                  <a:srgbClr val="0F172A"/>
                </a:solidFill>
                <a:latin typeface="Plus Jakarta Sans"/>
              </a:rPr>
              <a:t>Model Comparison &amp; 5-Fold Stratified CV</a:t>
            </a:r>
          </a:p>
        </p:txBody>
      </p:sp>
      <p:sp>
        <p:nvSpPr>
          <p:cNvPr id="9" name="TextBox 8"/>
          <p:cNvSpPr txBox="1"/>
          <p:nvPr/>
        </p:nvSpPr>
        <p:spPr>
          <a:xfrm>
            <a:off x="800100" y="1285875"/>
            <a:ext cx="5915025" cy="4314825"/>
          </a:xfrm>
          <a:prstGeom prst="rect">
            <a:avLst/>
          </a:prstGeom>
          <a:noFill/>
        </p:spPr>
        <p:txBody>
          <a:bodyPr wrap="square" lIns="0" tIns="0" rIns="0" bIns="0" anchor="t">
            <a:spAutoFit/>
          </a:bodyPr>
          <a:lstStyle/>
          <a:p>
            <a:pPr algn="l">
              <a:lnSpc>
                <a:spcPts val="1518"/>
              </a:lnSpc>
            </a:pPr>
            <a:r>
              <a:rPr sz="1012" b="0" i="1" u="none">
                <a:solidFill>
                  <a:srgbClr val="64748B"/>
                </a:solidFill>
                <a:latin typeface="JetBrains Mono"/>
              </a:rPr>
              <a:t># Classifiers Dictionary &amp; Stratified Cross Validation</a:t>
            </a:r>
            <a:r>
              <a:t>
</a:t>
            </a:r>
            <a:r>
              <a:rPr sz="1012" b="0" i="0" u="none">
                <a:solidFill>
                  <a:srgbClr val="E2E8F0"/>
                </a:solidFill>
                <a:latin typeface="JetBrains Mono"/>
              </a:rPr>
              <a:t> classifiers = {</a:t>
            </a:r>
            <a:r>
              <a:t>
</a:t>
            </a:r>
            <a:r>
              <a:rPr sz="1012" b="0" i="0" u="none">
                <a:solidFill>
                  <a:srgbClr val="E2E8F0"/>
                </a:solidFill>
                <a:latin typeface="JetBrains Mono"/>
              </a:rPr>
              <a:t>     </a:t>
            </a:r>
            <a:r>
              <a:rPr sz="1012" b="0" i="0" u="none">
                <a:solidFill>
                  <a:srgbClr val="A3E635"/>
                </a:solidFill>
                <a:latin typeface="JetBrains Mono"/>
              </a:rPr>
              <a:t>"Logistic Regression"</a:t>
            </a:r>
            <a:r>
              <a:rPr sz="1012" b="0" i="0" u="none">
                <a:solidFill>
                  <a:srgbClr val="E2E8F0"/>
                </a:solidFill>
                <a:latin typeface="JetBrains Mono"/>
              </a:rPr>
              <a:t>: </a:t>
            </a:r>
            <a:r>
              <a:rPr sz="1012" b="1" i="0" u="none">
                <a:solidFill>
                  <a:srgbClr val="C084FC"/>
                </a:solidFill>
                <a:latin typeface="JetBrains Mono"/>
              </a:rPr>
              <a:t>LogisticRegression</a:t>
            </a:r>
            <a:r>
              <a:rPr sz="1012" b="0" i="0" u="none">
                <a:solidFill>
                  <a:srgbClr val="E2E8F0"/>
                </a:solidFill>
                <a:latin typeface="JetBrains Mono"/>
              </a:rPr>
              <a:t>(),</a:t>
            </a:r>
            <a:r>
              <a:t>
</a:t>
            </a:r>
            <a:r>
              <a:rPr sz="1012" b="0" i="0" u="none">
                <a:solidFill>
                  <a:srgbClr val="E2E8F0"/>
                </a:solidFill>
                <a:latin typeface="JetBrains Mono"/>
              </a:rPr>
              <a:t>     </a:t>
            </a:r>
            <a:r>
              <a:rPr sz="1012" b="0" i="0" u="none">
                <a:solidFill>
                  <a:srgbClr val="A3E635"/>
                </a:solidFill>
                <a:latin typeface="JetBrains Mono"/>
              </a:rPr>
              <a:t>"K-Nearest Neighbors"</a:t>
            </a:r>
            <a:r>
              <a:rPr sz="1012" b="0" i="0" u="none">
                <a:solidFill>
                  <a:srgbClr val="E2E8F0"/>
                </a:solidFill>
                <a:latin typeface="JetBrains Mono"/>
              </a:rPr>
              <a:t>: </a:t>
            </a:r>
            <a:r>
              <a:rPr sz="1012" b="1" i="0" u="none">
                <a:solidFill>
                  <a:srgbClr val="C084FC"/>
                </a:solidFill>
                <a:latin typeface="JetBrains Mono"/>
              </a:rPr>
              <a:t>KNeighborsClassifier</a:t>
            </a:r>
            <a:r>
              <a:rPr sz="1012" b="0" i="0" u="none">
                <a:solidFill>
                  <a:srgbClr val="E2E8F0"/>
                </a:solidFill>
                <a:latin typeface="JetBrains Mono"/>
              </a:rPr>
              <a:t>(),</a:t>
            </a:r>
            <a:r>
              <a:t>
</a:t>
            </a:r>
            <a:r>
              <a:rPr sz="1012" b="0" i="0" u="none">
                <a:solidFill>
                  <a:srgbClr val="E2E8F0"/>
                </a:solidFill>
                <a:latin typeface="JetBrains Mono"/>
              </a:rPr>
              <a:t>     </a:t>
            </a:r>
            <a:r>
              <a:rPr sz="1012" b="0" i="0" u="none">
                <a:solidFill>
                  <a:srgbClr val="A3E635"/>
                </a:solidFill>
                <a:latin typeface="JetBrains Mono"/>
              </a:rPr>
              <a:t>"Decision Tree"</a:t>
            </a:r>
            <a:r>
              <a:rPr sz="1012" b="0" i="0" u="none">
                <a:solidFill>
                  <a:srgbClr val="E2E8F0"/>
                </a:solidFill>
                <a:latin typeface="JetBrains Mono"/>
              </a:rPr>
              <a:t>: </a:t>
            </a:r>
            <a:r>
              <a:rPr sz="1012" b="1" i="0" u="none">
                <a:solidFill>
                  <a:srgbClr val="C084FC"/>
                </a:solidFill>
                <a:latin typeface="JetBrains Mono"/>
              </a:rPr>
              <a:t>DecisionTreeClassifier</a:t>
            </a:r>
            <a:r>
              <a:rPr sz="1012" b="0" i="0" u="none">
                <a:solidFill>
                  <a:srgbClr val="E2E8F0"/>
                </a:solidFill>
                <a:latin typeface="JetBrains Mono"/>
              </a:rPr>
              <a:t>(),</a:t>
            </a:r>
            <a:r>
              <a:t>
</a:t>
            </a:r>
            <a:r>
              <a:rPr sz="1012" b="0" i="0" u="none">
                <a:solidFill>
                  <a:srgbClr val="E2E8F0"/>
                </a:solidFill>
                <a:latin typeface="JetBrains Mono"/>
              </a:rPr>
              <a:t>     </a:t>
            </a:r>
            <a:r>
              <a:rPr sz="1012" b="0" i="0" u="none">
                <a:solidFill>
                  <a:srgbClr val="A3E635"/>
                </a:solidFill>
                <a:latin typeface="JetBrains Mono"/>
              </a:rPr>
              <a:t>"Random Forest"</a:t>
            </a:r>
            <a:r>
              <a:rPr sz="1012" b="0" i="0" u="none">
                <a:solidFill>
                  <a:srgbClr val="E2E8F0"/>
                </a:solidFill>
                <a:latin typeface="JetBrains Mono"/>
              </a:rPr>
              <a:t>: </a:t>
            </a:r>
            <a:r>
              <a:rPr sz="1012" b="1" i="0" u="none">
                <a:solidFill>
                  <a:srgbClr val="C084FC"/>
                </a:solidFill>
                <a:latin typeface="JetBrains Mono"/>
              </a:rPr>
              <a:t>RandomForestClassifier</a:t>
            </a:r>
            <a:r>
              <a:rPr sz="1012" b="0" i="0" u="none">
                <a:solidFill>
                  <a:srgbClr val="E2E8F0"/>
                </a:solidFill>
                <a:latin typeface="JetBrains Mono"/>
              </a:rPr>
              <a:t>(random_state=</a:t>
            </a:r>
            <a:r>
              <a:rPr sz="1012" b="0" i="0" u="none">
                <a:solidFill>
                  <a:srgbClr val="FBBF24"/>
                </a:solidFill>
                <a:latin typeface="JetBrains Mono"/>
              </a:rPr>
              <a:t>42</a:t>
            </a:r>
            <a:r>
              <a:rPr sz="1012" b="0" i="0" u="none">
                <a:solidFill>
                  <a:srgbClr val="E2E8F0"/>
                </a:solidFill>
                <a:latin typeface="JetBrains Mono"/>
              </a:rPr>
              <a:t>)</a:t>
            </a:r>
            <a:r>
              <a:t>
</a:t>
            </a:r>
            <a:r>
              <a:rPr sz="1012" b="0" i="0" u="none">
                <a:solidFill>
                  <a:srgbClr val="E2E8F0"/>
                </a:solidFill>
                <a:latin typeface="JetBrains Mono"/>
              </a:rPr>
              <a:t> }</a:t>
            </a:r>
            <a:r>
              <a:t>
</a:t>
            </a:r>
            <a:r>
              <a:rPr sz="1012" b="0" i="0" u="none">
                <a:solidFill>
                  <a:srgbClr val="E2E8F0"/>
                </a:solidFill>
                <a:latin typeface="JetBrains Mono"/>
              </a:rPr>
              <a:t> cv = </a:t>
            </a:r>
            <a:r>
              <a:rPr sz="1012" b="1" i="0" u="none">
                <a:solidFill>
                  <a:srgbClr val="C084FC"/>
                </a:solidFill>
                <a:latin typeface="JetBrains Mono"/>
              </a:rPr>
              <a:t>StratifiedKFold</a:t>
            </a:r>
            <a:r>
              <a:rPr sz="1012" b="0" i="0" u="none">
                <a:solidFill>
                  <a:srgbClr val="E2E8F0"/>
                </a:solidFill>
                <a:latin typeface="JetBrains Mono"/>
              </a:rPr>
              <a:t>(n_splits=</a:t>
            </a:r>
            <a:r>
              <a:rPr sz="1012" b="0" i="0" u="none">
                <a:solidFill>
                  <a:srgbClr val="FBBF24"/>
                </a:solidFill>
                <a:latin typeface="JetBrains Mono"/>
              </a:rPr>
              <a:t>5</a:t>
            </a:r>
            <a:r>
              <a:rPr sz="1012" b="0" i="0" u="none">
                <a:solidFill>
                  <a:srgbClr val="E2E8F0"/>
                </a:solidFill>
                <a:latin typeface="JetBrains Mono"/>
              </a:rPr>
              <a:t>, shuffle=</a:t>
            </a:r>
            <a:r>
              <a:rPr sz="1012" b="1" i="0" u="none">
                <a:solidFill>
                  <a:srgbClr val="F43F5E"/>
                </a:solidFill>
                <a:latin typeface="JetBrains Mono"/>
              </a:rPr>
              <a:t>True</a:t>
            </a:r>
            <a:r>
              <a:rPr sz="1012" b="0" i="0" u="none">
                <a:solidFill>
                  <a:srgbClr val="E2E8F0"/>
                </a:solidFill>
                <a:latin typeface="JetBrains Mono"/>
              </a:rPr>
              <a:t>, random_state=</a:t>
            </a:r>
            <a:r>
              <a:rPr sz="1012" b="0" i="0" u="none">
                <a:solidFill>
                  <a:srgbClr val="FBBF24"/>
                </a:solidFill>
                <a:latin typeface="JetBrains Mono"/>
              </a:rPr>
              <a:t>42</a:t>
            </a:r>
            <a:r>
              <a:rPr sz="1012" b="0" i="0" u="none">
                <a:solidFill>
                  <a:srgbClr val="E2E8F0"/>
                </a:solidFill>
                <a:latin typeface="JetBrains Mono"/>
              </a:rPr>
              <a:t>)</a:t>
            </a:r>
          </a:p>
        </p:txBody>
      </p:sp>
      <p:sp>
        <p:nvSpPr>
          <p:cNvPr id="10" name="TextBox 9"/>
          <p:cNvSpPr txBox="1"/>
          <p:nvPr/>
        </p:nvSpPr>
        <p:spPr>
          <a:xfrm>
            <a:off x="838200" y="6134100"/>
            <a:ext cx="1333500" cy="152400"/>
          </a:xfrm>
          <a:prstGeom prst="rect">
            <a:avLst/>
          </a:prstGeom>
          <a:noFill/>
        </p:spPr>
        <p:txBody>
          <a:bodyPr wrap="none" lIns="0" tIns="0" rIns="0" bIns="0" anchor="t">
            <a:spAutoFit/>
          </a:bodyPr>
          <a:lstStyle/>
          <a:p>
            <a:pPr algn="l"/>
            <a:r>
              <a:rPr sz="975" b="1" i="0" u="none">
                <a:solidFill>
                  <a:srgbClr val="0284C7"/>
                </a:solidFill>
                <a:latin typeface="Plus Jakarta Sans"/>
              </a:rPr>
              <a:t>Technical Insight:</a:t>
            </a:r>
          </a:p>
        </p:txBody>
      </p:sp>
      <p:sp>
        <p:nvSpPr>
          <p:cNvPr id="11" name="TextBox 10"/>
          <p:cNvSpPr txBox="1"/>
          <p:nvPr/>
        </p:nvSpPr>
        <p:spPr>
          <a:xfrm>
            <a:off x="2000250" y="6057900"/>
            <a:ext cx="9486900" cy="304800"/>
          </a:xfrm>
          <a:prstGeom prst="rect">
            <a:avLst/>
          </a:prstGeom>
          <a:noFill/>
        </p:spPr>
        <p:txBody>
          <a:bodyPr wrap="square" lIns="0" tIns="0" rIns="0" bIns="0" anchor="t">
            <a:spAutoFit/>
          </a:bodyPr>
          <a:lstStyle/>
          <a:p>
            <a:pPr algn="l"/>
            <a:r>
              <a:rPr sz="975" b="0" i="0" u="none">
                <a:solidFill>
                  <a:srgbClr val="0369A1"/>
                </a:solidFill>
                <a:latin typeface="Plus Jakarta Sans"/>
              </a:rPr>
              <a:t>Trained four baseline classifiers using 5-Fold Stratified Cross-Validation for unbiased performance comparison, identifying Random Forest as the champion (F1: 0.5404).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1314450"/>
            <a:ext cx="10972800" cy="2476500"/>
          </a:xfrm>
          <a:prstGeom prst="roundRect">
            <a:avLst>
              <a:gd name="adj" fmla="val 461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4019550"/>
            <a:ext cx="10972800" cy="485775"/>
          </a:xfrm>
          <a:prstGeom prst="roundRect">
            <a:avLst>
              <a:gd name="adj" fmla="val 15686"/>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809625" y="2014537"/>
            <a:ext cx="152400" cy="133350"/>
          </a:xfrm>
          <a:prstGeom prst="rect">
            <a:avLst/>
          </a:prstGeom>
        </p:spPr>
      </p:pic>
      <p:pic>
        <p:nvPicPr>
          <p:cNvPr id="5" name="Picture 4" descr="image.png"/>
          <p:cNvPicPr>
            <a:picLocks noChangeAspect="1"/>
          </p:cNvPicPr>
          <p:nvPr/>
        </p:nvPicPr>
        <p:blipFill>
          <a:blip r:embed="rId2"/>
          <a:stretch>
            <a:fillRect/>
          </a:stretch>
        </p:blipFill>
        <p:spPr>
          <a:xfrm>
            <a:off x="809625" y="2014537"/>
            <a:ext cx="152400" cy="133350"/>
          </a:xfrm>
          <a:prstGeom prst="rect">
            <a:avLst/>
          </a:prstGeom>
        </p:spPr>
      </p:pic>
      <p:graphicFrame>
        <p:nvGraphicFramePr>
          <p:cNvPr id="6" name="Table 5"/>
          <p:cNvGraphicFramePr>
            <a:graphicFrameLocks noGrp="1"/>
          </p:cNvGraphicFramePr>
          <p:nvPr/>
        </p:nvGraphicFramePr>
        <p:xfrm>
          <a:off x="619125" y="1323975"/>
          <a:ext cx="10953747" cy="2457450"/>
        </p:xfrm>
        <a:graphic>
          <a:graphicData uri="http://schemas.openxmlformats.org/drawingml/2006/table">
            <a:tbl>
              <a:tblPr/>
              <a:tblGrid>
                <a:gridCol w="2455366">
                  <a:extLst>
                    <a:ext uri="{9D8B030D-6E8A-4147-A177-3AD203B41FA5}">
                      <a16:colId xmlns:a16="http://schemas.microsoft.com/office/drawing/2014/main" val="20000"/>
                    </a:ext>
                  </a:extLst>
                </a:gridCol>
                <a:gridCol w="1759594">
                  <a:extLst>
                    <a:ext uri="{9D8B030D-6E8A-4147-A177-3AD203B41FA5}">
                      <a16:colId xmlns:a16="http://schemas.microsoft.com/office/drawing/2014/main" val="20001"/>
                    </a:ext>
                  </a:extLst>
                </a:gridCol>
                <a:gridCol w="1732359">
                  <a:extLst>
                    <a:ext uri="{9D8B030D-6E8A-4147-A177-3AD203B41FA5}">
                      <a16:colId xmlns:a16="http://schemas.microsoft.com/office/drawing/2014/main" val="20002"/>
                    </a:ext>
                  </a:extLst>
                </a:gridCol>
                <a:gridCol w="1445865">
                  <a:extLst>
                    <a:ext uri="{9D8B030D-6E8A-4147-A177-3AD203B41FA5}">
                      <a16:colId xmlns:a16="http://schemas.microsoft.com/office/drawing/2014/main" val="20003"/>
                    </a:ext>
                  </a:extLst>
                </a:gridCol>
                <a:gridCol w="1732359">
                  <a:extLst>
                    <a:ext uri="{9D8B030D-6E8A-4147-A177-3AD203B41FA5}">
                      <a16:colId xmlns:a16="http://schemas.microsoft.com/office/drawing/2014/main" val="20004"/>
                    </a:ext>
                  </a:extLst>
                </a:gridCol>
                <a:gridCol w="1828204">
                  <a:extLst>
                    <a:ext uri="{9D8B030D-6E8A-4147-A177-3AD203B41FA5}">
                      <a16:colId xmlns:a16="http://schemas.microsoft.com/office/drawing/2014/main" val="20005"/>
                    </a:ext>
                  </a:extLst>
                </a:gridCol>
              </a:tblGrid>
              <a:tr h="491490">
                <a:tc>
                  <a:txBody>
                    <a:bodyPr/>
                    <a:lstStyle/>
                    <a:p>
                      <a:pPr algn="l"/>
                      <a:r>
                        <a:rPr sz="1050" b="1" i="0" u="none">
                          <a:solidFill>
                            <a:srgbClr val="475569"/>
                          </a:solidFill>
                          <a:latin typeface="Plus Jakarta Sans"/>
                        </a:rPr>
                        <a:t>Model Algorithm</a:t>
                      </a:r>
                    </a:p>
                  </a:txBody>
                  <a:tcPr marL="63500" marR="63500" marT="25400" marB="25400" anchor="ctr">
                    <a:lnL>
                      <a:noFill/>
                    </a:lnL>
                    <a:lnR>
                      <a:noFill/>
                    </a:lnR>
                    <a:lnT>
                      <a:noFill/>
                    </a:lnT>
                    <a:lnB>
                      <a:noFill/>
                    </a:lnB>
                    <a:solidFill>
                      <a:srgbClr val="F8FAFC"/>
                    </a:solidFill>
                  </a:tcPr>
                </a:tc>
                <a:tc>
                  <a:txBody>
                    <a:bodyPr/>
                    <a:lstStyle/>
                    <a:p>
                      <a:pPr algn="l"/>
                      <a:r>
                        <a:rPr sz="1050" b="1" i="0" u="none">
                          <a:solidFill>
                            <a:srgbClr val="475569"/>
                          </a:solidFill>
                          <a:latin typeface="Plus Jakarta Sans"/>
                        </a:rPr>
                        <a:t>CV Accuracy</a:t>
                      </a:r>
                    </a:p>
                  </a:txBody>
                  <a:tcPr marL="63500" marR="63500" marT="25400" marB="25400" anchor="ctr">
                    <a:lnL>
                      <a:noFill/>
                    </a:lnL>
                    <a:lnR>
                      <a:noFill/>
                    </a:lnR>
                    <a:lnT>
                      <a:noFill/>
                    </a:lnT>
                    <a:lnB>
                      <a:noFill/>
                    </a:lnB>
                    <a:solidFill>
                      <a:srgbClr val="F8FAFC"/>
                    </a:solidFill>
                  </a:tcPr>
                </a:tc>
                <a:tc>
                  <a:txBody>
                    <a:bodyPr/>
                    <a:lstStyle/>
                    <a:p>
                      <a:pPr algn="l"/>
                      <a:r>
                        <a:rPr sz="1050" b="1" i="0" u="none">
                          <a:solidFill>
                            <a:srgbClr val="475569"/>
                          </a:solidFill>
                          <a:latin typeface="Plus Jakarta Sans"/>
                        </a:rPr>
                        <a:t>CV Precision</a:t>
                      </a:r>
                    </a:p>
                  </a:txBody>
                  <a:tcPr marL="63500" marR="63500" marT="25400" marB="25400" anchor="ctr">
                    <a:lnL>
                      <a:noFill/>
                    </a:lnL>
                    <a:lnR>
                      <a:noFill/>
                    </a:lnR>
                    <a:lnT>
                      <a:noFill/>
                    </a:lnT>
                    <a:lnB>
                      <a:noFill/>
                    </a:lnB>
                    <a:solidFill>
                      <a:srgbClr val="F8FAFC"/>
                    </a:solidFill>
                  </a:tcPr>
                </a:tc>
                <a:tc>
                  <a:txBody>
                    <a:bodyPr/>
                    <a:lstStyle/>
                    <a:p>
                      <a:pPr algn="l"/>
                      <a:r>
                        <a:rPr sz="1050" b="1" i="0" u="none">
                          <a:solidFill>
                            <a:srgbClr val="475569"/>
                          </a:solidFill>
                          <a:latin typeface="Plus Jakarta Sans"/>
                        </a:rPr>
                        <a:t>CV Recall</a:t>
                      </a:r>
                    </a:p>
                  </a:txBody>
                  <a:tcPr marL="63500" marR="63500" marT="25400" marB="25400" anchor="ctr">
                    <a:lnL>
                      <a:noFill/>
                    </a:lnL>
                    <a:lnR>
                      <a:noFill/>
                    </a:lnR>
                    <a:lnT>
                      <a:noFill/>
                    </a:lnT>
                    <a:lnB>
                      <a:noFill/>
                    </a:lnB>
                    <a:solidFill>
                      <a:srgbClr val="F8FAFC"/>
                    </a:solidFill>
                  </a:tcPr>
                </a:tc>
                <a:tc>
                  <a:txBody>
                    <a:bodyPr/>
                    <a:lstStyle/>
                    <a:p>
                      <a:pPr algn="l"/>
                      <a:r>
                        <a:rPr sz="1050" b="1" i="0" u="none">
                          <a:solidFill>
                            <a:srgbClr val="0284C7"/>
                          </a:solidFill>
                          <a:latin typeface="Plus Jakarta Sans"/>
                        </a:rPr>
                        <a:t>CV F1-Score</a:t>
                      </a:r>
                    </a:p>
                  </a:txBody>
                  <a:tcPr marL="63500" marR="63500" marT="25400" marB="25400" anchor="ctr">
                    <a:lnL>
                      <a:noFill/>
                    </a:lnL>
                    <a:lnR>
                      <a:noFill/>
                    </a:lnR>
                    <a:lnT>
                      <a:noFill/>
                    </a:lnT>
                    <a:lnB>
                      <a:noFill/>
                    </a:lnB>
                    <a:solidFill>
                      <a:srgbClr val="F8FAFC"/>
                    </a:solidFill>
                  </a:tcPr>
                </a:tc>
                <a:tc>
                  <a:txBody>
                    <a:bodyPr/>
                    <a:lstStyle/>
                    <a:p>
                      <a:pPr algn="l"/>
                      <a:r>
                        <a:rPr sz="1050" b="1" i="0" u="none">
                          <a:solidFill>
                            <a:srgbClr val="475569"/>
                          </a:solidFill>
                          <a:latin typeface="Plus Jakarta Sans"/>
                        </a:rPr>
                        <a:t>CV ROC-AUC</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491490">
                <a:tc>
                  <a:txBody>
                    <a:bodyPr/>
                    <a:lstStyle/>
                    <a:p>
                      <a:pPr algn="l"/>
                      <a:r>
                        <a:rPr sz="1050" b="1" i="0" u="none">
                          <a:solidFill>
                            <a:srgbClr val="0369A1"/>
                          </a:solidFill>
                          <a:latin typeface="Plus Jakarta Sans"/>
                        </a:rPr>
                        <a:t>Random Forest</a:t>
                      </a:r>
                    </a:p>
                  </a:txBody>
                  <a:tcPr marL="342900" marR="63500" marT="25400" marB="25400" anchor="ctr">
                    <a:lnL>
                      <a:noFill/>
                    </a:lnL>
                    <a:lnR>
                      <a:noFill/>
                    </a:lnR>
                    <a:lnT>
                      <a:noFill/>
                    </a:lnT>
                    <a:lnB>
                      <a:noFill/>
                    </a:lnB>
                    <a:solidFill>
                      <a:srgbClr val="F0F9FF"/>
                    </a:solidFill>
                  </a:tcPr>
                </a:tc>
                <a:tc>
                  <a:txBody>
                    <a:bodyPr/>
                    <a:lstStyle/>
                    <a:p>
                      <a:pPr algn="l"/>
                      <a:r>
                        <a:rPr sz="1050" b="1" i="0" u="none">
                          <a:solidFill>
                            <a:srgbClr val="0369A1"/>
                          </a:solidFill>
                          <a:latin typeface="Plus Jakarta Sans"/>
                        </a:rPr>
                        <a:t>85.21%</a:t>
                      </a:r>
                    </a:p>
                  </a:txBody>
                  <a:tcPr marL="63500" marR="63500" marT="25400" marB="25400" anchor="ctr">
                    <a:lnL>
                      <a:noFill/>
                    </a:lnL>
                    <a:lnR>
                      <a:noFill/>
                    </a:lnR>
                    <a:lnT>
                      <a:noFill/>
                    </a:lnT>
                    <a:lnB>
                      <a:noFill/>
                    </a:lnB>
                    <a:solidFill>
                      <a:srgbClr val="F0F9FF"/>
                    </a:solidFill>
                  </a:tcPr>
                </a:tc>
                <a:tc>
                  <a:txBody>
                    <a:bodyPr/>
                    <a:lstStyle/>
                    <a:p>
                      <a:pPr algn="l"/>
                      <a:r>
                        <a:rPr sz="1050" b="1" i="0" u="none">
                          <a:solidFill>
                            <a:srgbClr val="0369A1"/>
                          </a:solidFill>
                          <a:latin typeface="Plus Jakarta Sans"/>
                        </a:rPr>
                        <a:t>73.63%</a:t>
                      </a:r>
                    </a:p>
                  </a:txBody>
                  <a:tcPr marL="63500" marR="63500" marT="25400" marB="25400" anchor="ctr">
                    <a:lnL>
                      <a:noFill/>
                    </a:lnL>
                    <a:lnR>
                      <a:noFill/>
                    </a:lnR>
                    <a:lnT>
                      <a:noFill/>
                    </a:lnT>
                    <a:lnB>
                      <a:noFill/>
                    </a:lnB>
                    <a:solidFill>
                      <a:srgbClr val="F0F9FF"/>
                    </a:solidFill>
                  </a:tcPr>
                </a:tc>
                <a:tc>
                  <a:txBody>
                    <a:bodyPr/>
                    <a:lstStyle/>
                    <a:p>
                      <a:pPr algn="l"/>
                      <a:r>
                        <a:rPr sz="1050" b="1" i="0" u="none">
                          <a:solidFill>
                            <a:srgbClr val="0369A1"/>
                          </a:solidFill>
                          <a:latin typeface="Plus Jakarta Sans"/>
                        </a:rPr>
                        <a:t>42.70%</a:t>
                      </a:r>
                    </a:p>
                  </a:txBody>
                  <a:tcPr marL="63500" marR="63500" marT="25400" marB="25400" anchor="ctr">
                    <a:lnL>
                      <a:noFill/>
                    </a:lnL>
                    <a:lnR>
                      <a:noFill/>
                    </a:lnR>
                    <a:lnT>
                      <a:noFill/>
                    </a:lnT>
                    <a:lnB>
                      <a:noFill/>
                    </a:lnB>
                    <a:solidFill>
                      <a:srgbClr val="F0F9FF"/>
                    </a:solidFill>
                  </a:tcPr>
                </a:tc>
                <a:tc>
                  <a:txBody>
                    <a:bodyPr/>
                    <a:lstStyle/>
                    <a:p>
                      <a:pPr algn="l"/>
                      <a:r>
                        <a:rPr sz="1200" b="1" i="0" u="none">
                          <a:solidFill>
                            <a:srgbClr val="0284C7"/>
                          </a:solidFill>
                          <a:latin typeface="Plus Jakarta Sans"/>
                        </a:rPr>
                        <a:t>0.5404</a:t>
                      </a:r>
                    </a:p>
                  </a:txBody>
                  <a:tcPr marL="63500" marR="63500" marT="25400" marB="25400" anchor="ctr">
                    <a:lnL>
                      <a:noFill/>
                    </a:lnL>
                    <a:lnR>
                      <a:noFill/>
                    </a:lnR>
                    <a:lnT>
                      <a:noFill/>
                    </a:lnT>
                    <a:lnB>
                      <a:noFill/>
                    </a:lnB>
                    <a:solidFill>
                      <a:srgbClr val="F0F9FF"/>
                    </a:solidFill>
                  </a:tcPr>
                </a:tc>
                <a:tc>
                  <a:txBody>
                    <a:bodyPr/>
                    <a:lstStyle/>
                    <a:p>
                      <a:pPr algn="l"/>
                      <a:r>
                        <a:rPr sz="1050" b="1" i="0" u="none">
                          <a:solidFill>
                            <a:srgbClr val="0369A1"/>
                          </a:solidFill>
                          <a:latin typeface="Plus Jakarta Sans"/>
                        </a:rPr>
                        <a:t>0.8440</a:t>
                      </a:r>
                    </a:p>
                  </a:txBody>
                  <a:tcPr marL="63500" marR="63500" marT="25400" marB="25400" anchor="ctr">
                    <a:lnL>
                      <a:noFill/>
                    </a:lnL>
                    <a:lnR>
                      <a:noFill/>
                    </a:lnR>
                    <a:lnT>
                      <a:noFill/>
                    </a:lnT>
                    <a:lnB>
                      <a:noFill/>
                    </a:lnB>
                    <a:solidFill>
                      <a:srgbClr val="F0F9FF"/>
                    </a:solidFill>
                  </a:tcPr>
                </a:tc>
                <a:extLst>
                  <a:ext uri="{0D108BD9-81ED-4DB2-BD59-A6C34878D82A}">
                    <a16:rowId xmlns:a16="http://schemas.microsoft.com/office/drawing/2014/main" val="10001"/>
                  </a:ext>
                </a:extLst>
              </a:tr>
              <a:tr h="491490">
                <a:tc>
                  <a:txBody>
                    <a:bodyPr/>
                    <a:lstStyle/>
                    <a:p>
                      <a:pPr algn="l"/>
                      <a:r>
                        <a:rPr sz="1050" b="0" i="0" u="none">
                          <a:solidFill>
                            <a:srgbClr val="475569"/>
                          </a:solidFill>
                          <a:latin typeface="Plus Jakarta Sans"/>
                        </a:rPr>
                        <a:t>Logistic Regression</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72.89%</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40.32%</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68.90%</a:t>
                      </a:r>
                    </a:p>
                  </a:txBody>
                  <a:tcPr marL="63500" marR="63500" marT="25400" marB="25400" anchor="ctr">
                    <a:lnL>
                      <a:noFill/>
                    </a:lnL>
                    <a:lnR>
                      <a:noFill/>
                    </a:lnR>
                    <a:lnT>
                      <a:noFill/>
                    </a:lnT>
                    <a:lnB>
                      <a:noFill/>
                    </a:lnB>
                    <a:solidFill>
                      <a:srgbClr val="FFFFFF"/>
                    </a:solidFill>
                  </a:tcPr>
                </a:tc>
                <a:tc>
                  <a:txBody>
                    <a:bodyPr/>
                    <a:lstStyle/>
                    <a:p>
                      <a:pPr algn="l"/>
                      <a:r>
                        <a:rPr sz="1050" b="1" i="0" u="none">
                          <a:solidFill>
                            <a:srgbClr val="475569"/>
                          </a:solidFill>
                          <a:latin typeface="Plus Jakarta Sans"/>
                        </a:rPr>
                        <a:t>0.5085</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0.7804</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491490">
                <a:tc>
                  <a:txBody>
                    <a:bodyPr/>
                    <a:lstStyle/>
                    <a:p>
                      <a:pPr algn="l"/>
                      <a:r>
                        <a:rPr sz="1050" b="0" i="0" u="none">
                          <a:solidFill>
                            <a:srgbClr val="475569"/>
                          </a:solidFill>
                          <a:latin typeface="Plus Jakarta Sans"/>
                        </a:rPr>
                        <a:t>K-Nearest Neighbors</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83.42%</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64.91%</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40.55%</a:t>
                      </a:r>
                    </a:p>
                  </a:txBody>
                  <a:tcPr marL="63500" marR="63500" marT="25400" marB="25400" anchor="ctr">
                    <a:lnL>
                      <a:noFill/>
                    </a:lnL>
                    <a:lnR>
                      <a:noFill/>
                    </a:lnR>
                    <a:lnT>
                      <a:noFill/>
                    </a:lnT>
                    <a:lnB>
                      <a:noFill/>
                    </a:lnB>
                    <a:solidFill>
                      <a:srgbClr val="FFFFFF"/>
                    </a:solidFill>
                  </a:tcPr>
                </a:tc>
                <a:tc>
                  <a:txBody>
                    <a:bodyPr/>
                    <a:lstStyle/>
                    <a:p>
                      <a:pPr algn="l"/>
                      <a:r>
                        <a:rPr sz="1050" b="1" i="0" u="none">
                          <a:solidFill>
                            <a:srgbClr val="475569"/>
                          </a:solidFill>
                          <a:latin typeface="Plus Jakarta Sans"/>
                        </a:rPr>
                        <a:t>0.4989</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0.7749</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91490">
                <a:tc>
                  <a:txBody>
                    <a:bodyPr/>
                    <a:lstStyle/>
                    <a:p>
                      <a:pPr algn="l"/>
                      <a:r>
                        <a:rPr sz="1050" b="0" i="0" u="none">
                          <a:solidFill>
                            <a:srgbClr val="475569"/>
                          </a:solidFill>
                          <a:latin typeface="Plus Jakarta Sans"/>
                        </a:rPr>
                        <a:t>Decision Tree</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79.24%</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49.04%</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48.34%</a:t>
                      </a:r>
                    </a:p>
                  </a:txBody>
                  <a:tcPr marL="63500" marR="63500" marT="25400" marB="25400" anchor="ctr">
                    <a:lnL>
                      <a:noFill/>
                    </a:lnL>
                    <a:lnR>
                      <a:noFill/>
                    </a:lnR>
                    <a:lnT>
                      <a:noFill/>
                    </a:lnT>
                    <a:lnB>
                      <a:noFill/>
                    </a:lnB>
                    <a:solidFill>
                      <a:srgbClr val="FFFFFF"/>
                    </a:solidFill>
                  </a:tcPr>
                </a:tc>
                <a:tc>
                  <a:txBody>
                    <a:bodyPr/>
                    <a:lstStyle/>
                    <a:p>
                      <a:pPr algn="l"/>
                      <a:r>
                        <a:rPr sz="1050" b="1" i="0" u="none">
                          <a:solidFill>
                            <a:srgbClr val="475569"/>
                          </a:solidFill>
                          <a:latin typeface="Plus Jakarta Sans"/>
                        </a:rPr>
                        <a:t>0.4867</a:t>
                      </a:r>
                    </a:p>
                  </a:txBody>
                  <a:tcPr marL="63500" marR="63500" marT="25400" marB="25400" anchor="ctr">
                    <a:lnL>
                      <a:noFill/>
                    </a:lnL>
                    <a:lnR>
                      <a:noFill/>
                    </a:lnR>
                    <a:lnT>
                      <a:noFill/>
                    </a:lnT>
                    <a:lnB>
                      <a:noFill/>
                    </a:lnB>
                    <a:solidFill>
                      <a:srgbClr val="FFFFFF"/>
                    </a:solidFill>
                  </a:tcPr>
                </a:tc>
                <a:tc>
                  <a:txBody>
                    <a:bodyPr/>
                    <a:lstStyle/>
                    <a:p>
                      <a:pPr algn="l"/>
                      <a:r>
                        <a:rPr sz="1050" b="0" i="0" u="none">
                          <a:solidFill>
                            <a:srgbClr val="475569"/>
                          </a:solidFill>
                          <a:latin typeface="Plus Jakarta Sans"/>
                        </a:rPr>
                        <a:t>0.6774</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EVALUATION RESULTS</a:t>
            </a:r>
          </a:p>
        </p:txBody>
      </p:sp>
      <p:sp>
        <p:nvSpPr>
          <p:cNvPr id="8" name="TextBox 7"/>
          <p:cNvSpPr txBox="1"/>
          <p:nvPr/>
        </p:nvSpPr>
        <p:spPr>
          <a:xfrm>
            <a:off x="609600" y="704850"/>
            <a:ext cx="11582400" cy="381000"/>
          </a:xfrm>
          <a:prstGeom prst="rect">
            <a:avLst/>
          </a:prstGeom>
          <a:noFill/>
        </p:spPr>
        <p:txBody>
          <a:bodyPr wrap="none" lIns="0" tIns="0" rIns="0" bIns="0" anchor="t">
            <a:spAutoFit/>
          </a:bodyPr>
          <a:lstStyle/>
          <a:p>
            <a:pPr algn="l"/>
            <a:r>
              <a:rPr sz="2400" b="1" i="0" u="none">
                <a:solidFill>
                  <a:srgbClr val="0F172A"/>
                </a:solidFill>
                <a:latin typeface="Plus Jakarta Sans"/>
              </a:rPr>
              <a:t>Fair Cross-Validated Model Comparison</a:t>
            </a:r>
          </a:p>
        </p:txBody>
      </p:sp>
      <p:sp>
        <p:nvSpPr>
          <p:cNvPr id="9" name="TextBox 8"/>
          <p:cNvSpPr txBox="1"/>
          <p:nvPr/>
        </p:nvSpPr>
        <p:spPr>
          <a:xfrm>
            <a:off x="809625" y="4181475"/>
            <a:ext cx="11382375" cy="161925"/>
          </a:xfrm>
          <a:prstGeom prst="rect">
            <a:avLst/>
          </a:prstGeom>
          <a:noFill/>
        </p:spPr>
        <p:txBody>
          <a:bodyPr wrap="none" lIns="0" tIns="0" rIns="0" bIns="0" anchor="t">
            <a:spAutoFit/>
          </a:bodyPr>
          <a:lstStyle/>
          <a:p>
            <a:pPr algn="l"/>
            <a:r>
              <a:rPr sz="1012" b="1" i="0" u="none">
                <a:solidFill>
                  <a:srgbClr val="334155"/>
                </a:solidFill>
                <a:latin typeface="Plus Jakarta Sans"/>
              </a:rPr>
              <a:t>Selection Decision:</a:t>
            </a:r>
            <a:r>
              <a:rPr sz="1012" b="0" i="0" u="none">
                <a:solidFill>
                  <a:srgbClr val="334155"/>
                </a:solidFill>
                <a:latin typeface="Plus Jakarta Sans"/>
              </a:rPr>
              <a:t> Random Forest achieved the highest mean CV F1-score (0.5404) and ROC-AUC (0.8440), selected as our champion model.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096000"/>
            <a:ext cx="10972800" cy="381000"/>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095375"/>
            <a:ext cx="6434137" cy="4848225"/>
          </a:xfrm>
          <a:prstGeom prst="roundRect">
            <a:avLst>
              <a:gd name="adj" fmla="val 1964"/>
            </a:avLst>
          </a:prstGeom>
          <a:solidFill>
            <a:srgbClr val="0F17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6096000"/>
            <a:ext cx="38100" cy="381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272337" y="1095375"/>
            <a:ext cx="4310062" cy="981075"/>
          </a:xfrm>
          <a:prstGeom prst="roundRect">
            <a:avLst>
              <a:gd name="adj" fmla="val 116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72337" y="2190750"/>
            <a:ext cx="4310062" cy="1133475"/>
          </a:xfrm>
          <a:prstGeom prst="roundRect">
            <a:avLst>
              <a:gd name="adj" fmla="val 1008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96162" y="2533650"/>
            <a:ext cx="1993106" cy="295275"/>
          </a:xfrm>
          <a:prstGeom prst="roundRect">
            <a:avLst>
              <a:gd name="adj" fmla="val 19354"/>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465468" y="2533650"/>
            <a:ext cx="1993106" cy="295275"/>
          </a:xfrm>
          <a:prstGeom prst="roundRect">
            <a:avLst>
              <a:gd name="adj" fmla="val 19354"/>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96162" y="2905125"/>
            <a:ext cx="1993106" cy="295275"/>
          </a:xfrm>
          <a:prstGeom prst="roundRect">
            <a:avLst>
              <a:gd name="adj" fmla="val 19354"/>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465468" y="2905125"/>
            <a:ext cx="1993106" cy="295275"/>
          </a:xfrm>
          <a:prstGeom prst="roundRect">
            <a:avLst>
              <a:gd name="adj" fmla="val 19354"/>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600" y="3810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MILESTONE 4 CODE DEEP DIVE • STEP 3</a:t>
            </a:r>
          </a:p>
        </p:txBody>
      </p:sp>
      <p:sp>
        <p:nvSpPr>
          <p:cNvPr id="12" name="TextBox 11"/>
          <p:cNvSpPr txBox="1"/>
          <p:nvPr/>
        </p:nvSpPr>
        <p:spPr>
          <a:xfrm>
            <a:off x="609600" y="609600"/>
            <a:ext cx="11582400" cy="333375"/>
          </a:xfrm>
          <a:prstGeom prst="rect">
            <a:avLst/>
          </a:prstGeom>
          <a:noFill/>
        </p:spPr>
        <p:txBody>
          <a:bodyPr wrap="none" lIns="0" tIns="0" rIns="0" bIns="0" anchor="t">
            <a:spAutoFit/>
          </a:bodyPr>
          <a:lstStyle/>
          <a:p>
            <a:pPr algn="l"/>
            <a:r>
              <a:rPr sz="2100" b="1" i="0" u="none">
                <a:solidFill>
                  <a:srgbClr val="0F172A"/>
                </a:solidFill>
                <a:latin typeface="Plus Jakarta Sans"/>
              </a:rPr>
              <a:t>Testing Set Evaluation &amp; Joblib Export</a:t>
            </a:r>
          </a:p>
        </p:txBody>
      </p:sp>
      <p:sp>
        <p:nvSpPr>
          <p:cNvPr id="13" name="TextBox 12"/>
          <p:cNvSpPr txBox="1"/>
          <p:nvPr/>
        </p:nvSpPr>
        <p:spPr>
          <a:xfrm>
            <a:off x="800100" y="1285875"/>
            <a:ext cx="6148387" cy="4467225"/>
          </a:xfrm>
          <a:prstGeom prst="rect">
            <a:avLst/>
          </a:prstGeom>
          <a:noFill/>
        </p:spPr>
        <p:txBody>
          <a:bodyPr wrap="square" lIns="0" tIns="0" rIns="0" bIns="0" anchor="t">
            <a:spAutoFit/>
          </a:bodyPr>
          <a:lstStyle/>
          <a:p>
            <a:pPr algn="l">
              <a:lnSpc>
                <a:spcPts val="1518"/>
              </a:lnSpc>
            </a:pPr>
            <a:r>
              <a:rPr sz="1012" b="0" i="1" u="none">
                <a:solidFill>
                  <a:srgbClr val="64748B"/>
                </a:solidFill>
                <a:latin typeface="JetBrains Mono"/>
              </a:rPr>
              <a:t># Evaluate on unseen Test Data &amp; Export Model</a:t>
            </a:r>
            <a:r>
              <a:t>
</a:t>
            </a:r>
            <a:r>
              <a:rPr sz="1012" b="0" i="0" u="none">
                <a:solidFill>
                  <a:srgbClr val="E2E8F0"/>
                </a:solidFill>
                <a:latin typeface="JetBrains Mono"/>
              </a:rPr>
              <a:t> best_model.</a:t>
            </a:r>
            <a:r>
              <a:rPr sz="1012" b="0" i="0" u="none">
                <a:solidFill>
                  <a:srgbClr val="38BDF8"/>
                </a:solidFill>
                <a:latin typeface="JetBrains Mono"/>
              </a:rPr>
              <a:t>fit</a:t>
            </a:r>
            <a:r>
              <a:rPr sz="1012" b="0" i="0" u="none">
                <a:solidFill>
                  <a:srgbClr val="E2E8F0"/>
                </a:solidFill>
                <a:latin typeface="JetBrains Mono"/>
              </a:rPr>
              <a:t>(X_train, y_train)</a:t>
            </a:r>
            <a:r>
              <a:t>
</a:t>
            </a:r>
            <a:r>
              <a:rPr sz="1012" b="0" i="0" u="none">
                <a:solidFill>
                  <a:srgbClr val="E2E8F0"/>
                </a:solidFill>
                <a:latin typeface="JetBrains Mono"/>
              </a:rPr>
              <a:t> y_pred = best_model.</a:t>
            </a:r>
            <a:r>
              <a:rPr sz="1012" b="0" i="0" u="none">
                <a:solidFill>
                  <a:srgbClr val="38BDF8"/>
                </a:solidFill>
                <a:latin typeface="JetBrains Mono"/>
              </a:rPr>
              <a:t>predict</a:t>
            </a:r>
            <a:r>
              <a:rPr sz="1012" b="0" i="0" u="none">
                <a:solidFill>
                  <a:srgbClr val="E2E8F0"/>
                </a:solidFill>
                <a:latin typeface="JetBrains Mono"/>
              </a:rPr>
              <a:t>(X_test)</a:t>
            </a:r>
            <a:r>
              <a:t>
</a:t>
            </a:r>
            <a:r>
              <a:rPr sz="1012" b="0" i="0" u="none">
                <a:solidFill>
                  <a:srgbClr val="E2E8F0"/>
                </a:solidFill>
                <a:latin typeface="JetBrains Mono"/>
              </a:rPr>
              <a:t> y_prob = best_model.</a:t>
            </a:r>
            <a:r>
              <a:rPr sz="1012" b="0" i="0" u="none">
                <a:solidFill>
                  <a:srgbClr val="38BDF8"/>
                </a:solidFill>
                <a:latin typeface="JetBrains Mono"/>
              </a:rPr>
              <a:t>predict_proba</a:t>
            </a:r>
            <a:r>
              <a:rPr sz="1012" b="0" i="0" u="none">
                <a:solidFill>
                  <a:srgbClr val="E2E8F0"/>
                </a:solidFill>
                <a:latin typeface="JetBrains Mono"/>
              </a:rPr>
              <a:t>(X_test)[:, </a:t>
            </a:r>
            <a:r>
              <a:rPr sz="1012" b="0" i="0" u="none">
                <a:solidFill>
                  <a:srgbClr val="FBBF24"/>
                </a:solidFill>
                <a:latin typeface="JetBrains Mono"/>
              </a:rPr>
              <a:t>1</a:t>
            </a:r>
            <a:r>
              <a:rPr sz="1012" b="0" i="0" u="none">
                <a:solidFill>
                  <a:srgbClr val="E2E8F0"/>
                </a:solidFill>
                <a:latin typeface="JetBrains Mono"/>
              </a:rPr>
              <a:t>]</a:t>
            </a:r>
            <a:r>
              <a:t>
</a:t>
            </a:r>
            <a:r>
              <a:rPr sz="1012" b="0" i="1" u="none">
                <a:solidFill>
                  <a:srgbClr val="64748B"/>
                </a:solidFill>
                <a:latin typeface="JetBrains Mono"/>
              </a:rPr>
              <a:t># Save Artifact for Deployment</a:t>
            </a:r>
            <a:r>
              <a:t>
</a:t>
            </a:r>
            <a:r>
              <a:rPr sz="1012" b="0" i="0" u="none">
                <a:solidFill>
                  <a:srgbClr val="E2E8F0"/>
                </a:solidFill>
                <a:latin typeface="JetBrains Mono"/>
              </a:rPr>
              <a:t> joblib.</a:t>
            </a:r>
            <a:r>
              <a:rPr sz="1012" b="0" i="0" u="none">
                <a:solidFill>
                  <a:srgbClr val="38BDF8"/>
                </a:solidFill>
                <a:latin typeface="JetBrains Mono"/>
              </a:rPr>
              <a:t>dump</a:t>
            </a:r>
            <a:r>
              <a:rPr sz="1012" b="0" i="0" u="none">
                <a:solidFill>
                  <a:srgbClr val="E2E8F0"/>
                </a:solidFill>
                <a:latin typeface="JetBrains Mono"/>
              </a:rPr>
              <a:t>(best_model, </a:t>
            </a:r>
            <a:r>
              <a:rPr sz="1012" b="0" i="0" u="none">
                <a:solidFill>
                  <a:srgbClr val="A3E635"/>
                </a:solidFill>
                <a:latin typeface="JetBrains Mono"/>
              </a:rPr>
              <a:t>"best_churn_model.joblib"</a:t>
            </a:r>
            <a:r>
              <a:rPr sz="1012" b="0" i="0" u="none">
                <a:solidFill>
                  <a:srgbClr val="E2E8F0"/>
                </a:solidFill>
                <a:latin typeface="JetBrains Mono"/>
              </a:rPr>
              <a:t>)</a:t>
            </a:r>
          </a:p>
        </p:txBody>
      </p:sp>
      <p:sp>
        <p:nvSpPr>
          <p:cNvPr id="14" name="TextBox 13"/>
          <p:cNvSpPr txBox="1"/>
          <p:nvPr/>
        </p:nvSpPr>
        <p:spPr>
          <a:xfrm>
            <a:off x="838200" y="6210300"/>
            <a:ext cx="1333500" cy="152400"/>
          </a:xfrm>
          <a:prstGeom prst="rect">
            <a:avLst/>
          </a:prstGeom>
          <a:noFill/>
        </p:spPr>
        <p:txBody>
          <a:bodyPr wrap="none" lIns="0" tIns="0" rIns="0" bIns="0" anchor="t">
            <a:spAutoFit/>
          </a:bodyPr>
          <a:lstStyle/>
          <a:p>
            <a:pPr algn="l"/>
            <a:r>
              <a:rPr sz="975" b="1" i="0" u="none">
                <a:solidFill>
                  <a:srgbClr val="0284C7"/>
                </a:solidFill>
                <a:latin typeface="Plus Jakarta Sans"/>
              </a:rPr>
              <a:t>Technical Insight:</a:t>
            </a:r>
          </a:p>
        </p:txBody>
      </p:sp>
      <p:sp>
        <p:nvSpPr>
          <p:cNvPr id="15" name="TextBox 14"/>
          <p:cNvSpPr txBox="1"/>
          <p:nvPr/>
        </p:nvSpPr>
        <p:spPr>
          <a:xfrm>
            <a:off x="2000250" y="6210300"/>
            <a:ext cx="10191750" cy="152400"/>
          </a:xfrm>
          <a:prstGeom prst="rect">
            <a:avLst/>
          </a:prstGeom>
          <a:noFill/>
        </p:spPr>
        <p:txBody>
          <a:bodyPr wrap="none" lIns="0" tIns="0" rIns="0" bIns="0" anchor="t">
            <a:spAutoFit/>
          </a:bodyPr>
          <a:lstStyle/>
          <a:p>
            <a:pPr algn="l"/>
            <a:r>
              <a:rPr sz="975" b="0" i="0" u="none">
                <a:solidFill>
                  <a:srgbClr val="0369A1"/>
                </a:solidFill>
                <a:latin typeface="Plus Jakarta Sans"/>
              </a:rPr>
              <a:t>Evaluated the fitted Random Forest on the unseen test set (2,000 samples) and serialized the model artifact as a .joblib binary for web deployment.</a:t>
            </a:r>
          </a:p>
        </p:txBody>
      </p:sp>
      <p:sp>
        <p:nvSpPr>
          <p:cNvPr id="16" name="TextBox 15"/>
          <p:cNvSpPr txBox="1"/>
          <p:nvPr/>
        </p:nvSpPr>
        <p:spPr>
          <a:xfrm>
            <a:off x="6935985" y="1257300"/>
            <a:ext cx="4982765" cy="142875"/>
          </a:xfrm>
          <a:prstGeom prst="rect">
            <a:avLst/>
          </a:prstGeom>
          <a:noFill/>
        </p:spPr>
        <p:txBody>
          <a:bodyPr wrap="none" lIns="0" tIns="0" rIns="0" bIns="0" anchor="t">
            <a:spAutoFit/>
          </a:bodyPr>
          <a:lstStyle/>
          <a:p>
            <a:pPr algn="ctr"/>
            <a:r>
              <a:rPr sz="900" b="0" i="0" u="none">
                <a:solidFill>
                  <a:srgbClr val="64748B"/>
                </a:solidFill>
                <a:latin typeface="Plus Jakarta Sans"/>
              </a:rPr>
              <a:t>Holdout Evaluation Metrics (2,000 Records)</a:t>
            </a:r>
          </a:p>
        </p:txBody>
      </p:sp>
      <p:sp>
        <p:nvSpPr>
          <p:cNvPr id="17" name="TextBox 16"/>
          <p:cNvSpPr txBox="1"/>
          <p:nvPr/>
        </p:nvSpPr>
        <p:spPr>
          <a:xfrm>
            <a:off x="6888360" y="2314575"/>
            <a:ext cx="5078015" cy="142875"/>
          </a:xfrm>
          <a:prstGeom prst="rect">
            <a:avLst/>
          </a:prstGeom>
          <a:noFill/>
        </p:spPr>
        <p:txBody>
          <a:bodyPr wrap="none" lIns="0" tIns="0" rIns="0" bIns="0" anchor="t">
            <a:spAutoFit/>
          </a:bodyPr>
          <a:lstStyle/>
          <a:p>
            <a:pPr algn="ctr"/>
            <a:r>
              <a:rPr sz="900" b="1" i="0" u="none">
                <a:solidFill>
                  <a:srgbClr val="475569"/>
                </a:solidFill>
                <a:latin typeface="Plus Jakarta Sans"/>
              </a:rPr>
              <a:t>Confusion Matrix (2,000 Test Records)</a:t>
            </a:r>
          </a:p>
        </p:txBody>
      </p:sp>
      <p:sp>
        <p:nvSpPr>
          <p:cNvPr id="18" name="TextBox 17"/>
          <p:cNvSpPr txBox="1"/>
          <p:nvPr/>
        </p:nvSpPr>
        <p:spPr>
          <a:xfrm>
            <a:off x="7587406" y="1476375"/>
            <a:ext cx="1057275" cy="438150"/>
          </a:xfrm>
          <a:prstGeom prst="rect">
            <a:avLst/>
          </a:prstGeom>
          <a:noFill/>
        </p:spPr>
        <p:txBody>
          <a:bodyPr wrap="square" lIns="0" tIns="0" rIns="0" bIns="0" anchor="t">
            <a:spAutoFit/>
          </a:bodyPr>
          <a:lstStyle/>
          <a:p>
            <a:pPr algn="ctr"/>
            <a:r>
              <a:rPr sz="825" b="0" i="0" u="none">
                <a:solidFill>
                  <a:srgbClr val="64748B"/>
                </a:solidFill>
                <a:latin typeface="Plus Jakarta Sans"/>
              </a:rPr>
              <a:t>Accuracy</a:t>
            </a:r>
          </a:p>
        </p:txBody>
      </p:sp>
      <p:sp>
        <p:nvSpPr>
          <p:cNvPr id="19" name="TextBox 18"/>
          <p:cNvSpPr txBox="1"/>
          <p:nvPr/>
        </p:nvSpPr>
        <p:spPr>
          <a:xfrm>
            <a:off x="8950969" y="1476375"/>
            <a:ext cx="1019175" cy="438150"/>
          </a:xfrm>
          <a:prstGeom prst="rect">
            <a:avLst/>
          </a:prstGeom>
          <a:noFill/>
        </p:spPr>
        <p:txBody>
          <a:bodyPr wrap="square" lIns="0" tIns="0" rIns="0" bIns="0" anchor="t">
            <a:spAutoFit/>
          </a:bodyPr>
          <a:lstStyle/>
          <a:p>
            <a:pPr algn="ctr"/>
            <a:r>
              <a:rPr sz="825" b="0" i="0" u="none">
                <a:solidFill>
                  <a:srgbClr val="64748B"/>
                </a:solidFill>
                <a:latin typeface="Plus Jakarta Sans"/>
              </a:rPr>
              <a:t>Precision</a:t>
            </a:r>
          </a:p>
        </p:txBody>
      </p:sp>
      <p:sp>
        <p:nvSpPr>
          <p:cNvPr id="20" name="TextBox 19"/>
          <p:cNvSpPr txBox="1"/>
          <p:nvPr/>
        </p:nvSpPr>
        <p:spPr>
          <a:xfrm>
            <a:off x="10276433" y="1476375"/>
            <a:ext cx="990600" cy="438150"/>
          </a:xfrm>
          <a:prstGeom prst="rect">
            <a:avLst/>
          </a:prstGeom>
          <a:noFill/>
        </p:spPr>
        <p:txBody>
          <a:bodyPr wrap="square" lIns="0" tIns="0" rIns="0" bIns="0" anchor="t">
            <a:spAutoFit/>
          </a:bodyPr>
          <a:lstStyle/>
          <a:p>
            <a:pPr algn="ctr"/>
            <a:r>
              <a:rPr sz="825" b="0" i="0" u="none">
                <a:solidFill>
                  <a:srgbClr val="64748B"/>
                </a:solidFill>
                <a:latin typeface="Plus Jakarta Sans"/>
              </a:rPr>
              <a:t>Recall</a:t>
            </a:r>
          </a:p>
        </p:txBody>
      </p:sp>
      <p:sp>
        <p:nvSpPr>
          <p:cNvPr id="21" name="TextBox 20"/>
          <p:cNvSpPr txBox="1"/>
          <p:nvPr/>
        </p:nvSpPr>
        <p:spPr>
          <a:xfrm>
            <a:off x="7223224" y="2609850"/>
            <a:ext cx="2338982" cy="142875"/>
          </a:xfrm>
          <a:prstGeom prst="rect">
            <a:avLst/>
          </a:prstGeom>
          <a:noFill/>
        </p:spPr>
        <p:txBody>
          <a:bodyPr wrap="square" lIns="0" tIns="0" rIns="0" bIns="0" anchor="t">
            <a:spAutoFit/>
          </a:bodyPr>
          <a:lstStyle/>
          <a:p>
            <a:pPr algn="ctr"/>
            <a:r>
              <a:rPr sz="900" b="1" i="0" u="none">
                <a:solidFill>
                  <a:srgbClr val="0369A1"/>
                </a:solidFill>
                <a:latin typeface="Plus Jakarta Sans"/>
              </a:rPr>
              <a:t>1,535</a:t>
            </a:r>
            <a:r>
              <a:rPr sz="900" b="0" i="0" u="none">
                <a:solidFill>
                  <a:srgbClr val="0369A1"/>
                </a:solidFill>
                <a:latin typeface="Plus Jakarta Sans"/>
              </a:rPr>
              <a:t> (TN)</a:t>
            </a:r>
          </a:p>
        </p:txBody>
      </p:sp>
      <p:sp>
        <p:nvSpPr>
          <p:cNvPr id="22" name="TextBox 21"/>
          <p:cNvSpPr txBox="1"/>
          <p:nvPr/>
        </p:nvSpPr>
        <p:spPr>
          <a:xfrm>
            <a:off x="9292530" y="2609850"/>
            <a:ext cx="2338982" cy="142875"/>
          </a:xfrm>
          <a:prstGeom prst="rect">
            <a:avLst/>
          </a:prstGeom>
          <a:noFill/>
        </p:spPr>
        <p:txBody>
          <a:bodyPr wrap="square" lIns="0" tIns="0" rIns="0" bIns="0" anchor="t">
            <a:spAutoFit/>
          </a:bodyPr>
          <a:lstStyle/>
          <a:p>
            <a:pPr algn="ctr"/>
            <a:r>
              <a:rPr sz="900" b="1" i="0" u="none">
                <a:solidFill>
                  <a:srgbClr val="BE123C"/>
                </a:solidFill>
                <a:latin typeface="Plus Jakarta Sans"/>
              </a:rPr>
              <a:t>234</a:t>
            </a:r>
            <a:r>
              <a:rPr sz="900" b="0" i="0" u="none">
                <a:solidFill>
                  <a:srgbClr val="BE123C"/>
                </a:solidFill>
                <a:latin typeface="Plus Jakarta Sans"/>
              </a:rPr>
              <a:t> (FN - Missed)</a:t>
            </a:r>
          </a:p>
        </p:txBody>
      </p:sp>
      <p:sp>
        <p:nvSpPr>
          <p:cNvPr id="23" name="TextBox 22"/>
          <p:cNvSpPr txBox="1"/>
          <p:nvPr/>
        </p:nvSpPr>
        <p:spPr>
          <a:xfrm>
            <a:off x="7223224" y="2981325"/>
            <a:ext cx="2338982" cy="142875"/>
          </a:xfrm>
          <a:prstGeom prst="rect">
            <a:avLst/>
          </a:prstGeom>
          <a:noFill/>
        </p:spPr>
        <p:txBody>
          <a:bodyPr wrap="square" lIns="0" tIns="0" rIns="0" bIns="0" anchor="t">
            <a:spAutoFit/>
          </a:bodyPr>
          <a:lstStyle/>
          <a:p>
            <a:pPr algn="ctr"/>
            <a:r>
              <a:rPr sz="900" b="1" i="0" u="none">
                <a:solidFill>
                  <a:srgbClr val="B45309"/>
                </a:solidFill>
                <a:latin typeface="Plus Jakarta Sans"/>
              </a:rPr>
              <a:t>58</a:t>
            </a:r>
            <a:r>
              <a:rPr sz="900" b="0" i="0" u="none">
                <a:solidFill>
                  <a:srgbClr val="B45309"/>
                </a:solidFill>
                <a:latin typeface="Plus Jakarta Sans"/>
              </a:rPr>
              <a:t> (FP)</a:t>
            </a:r>
          </a:p>
        </p:txBody>
      </p:sp>
      <p:sp>
        <p:nvSpPr>
          <p:cNvPr id="24" name="TextBox 23"/>
          <p:cNvSpPr txBox="1"/>
          <p:nvPr/>
        </p:nvSpPr>
        <p:spPr>
          <a:xfrm>
            <a:off x="9292530" y="2981325"/>
            <a:ext cx="2338982" cy="142875"/>
          </a:xfrm>
          <a:prstGeom prst="rect">
            <a:avLst/>
          </a:prstGeom>
          <a:noFill/>
        </p:spPr>
        <p:txBody>
          <a:bodyPr wrap="square" lIns="0" tIns="0" rIns="0" bIns="0" anchor="t">
            <a:spAutoFit/>
          </a:bodyPr>
          <a:lstStyle/>
          <a:p>
            <a:pPr algn="ctr"/>
            <a:r>
              <a:rPr sz="900" b="1" i="0" u="none">
                <a:solidFill>
                  <a:srgbClr val="15803D"/>
                </a:solidFill>
                <a:latin typeface="Plus Jakarta Sans"/>
              </a:rPr>
              <a:t>173</a:t>
            </a:r>
            <a:r>
              <a:rPr sz="900" b="0" i="0" u="none">
                <a:solidFill>
                  <a:srgbClr val="15803D"/>
                </a:solidFill>
                <a:latin typeface="Plus Jakarta Sans"/>
              </a:rPr>
              <a:t> (TP - Detected)</a:t>
            </a:r>
          </a:p>
        </p:txBody>
      </p:sp>
      <p:sp>
        <p:nvSpPr>
          <p:cNvPr id="25" name="TextBox 24"/>
          <p:cNvSpPr txBox="1"/>
          <p:nvPr/>
        </p:nvSpPr>
        <p:spPr>
          <a:xfrm>
            <a:off x="7587406" y="1676400"/>
            <a:ext cx="1057275" cy="238125"/>
          </a:xfrm>
          <a:prstGeom prst="rect">
            <a:avLst/>
          </a:prstGeom>
          <a:noFill/>
        </p:spPr>
        <p:txBody>
          <a:bodyPr wrap="none" lIns="0" tIns="0" rIns="0" bIns="0" anchor="t">
            <a:spAutoFit/>
          </a:bodyPr>
          <a:lstStyle/>
          <a:p>
            <a:pPr algn="ctr"/>
            <a:r>
              <a:rPr sz="1500" b="1" i="0" u="none">
                <a:solidFill>
                  <a:srgbClr val="0284C7"/>
                </a:solidFill>
                <a:latin typeface="Plus Jakarta Sans"/>
              </a:rPr>
              <a:t>85.40%</a:t>
            </a:r>
          </a:p>
        </p:txBody>
      </p:sp>
      <p:sp>
        <p:nvSpPr>
          <p:cNvPr id="26" name="TextBox 25"/>
          <p:cNvSpPr txBox="1"/>
          <p:nvPr/>
        </p:nvSpPr>
        <p:spPr>
          <a:xfrm>
            <a:off x="8950969" y="1676400"/>
            <a:ext cx="1019175" cy="238125"/>
          </a:xfrm>
          <a:prstGeom prst="rect">
            <a:avLst/>
          </a:prstGeom>
          <a:noFill/>
        </p:spPr>
        <p:txBody>
          <a:bodyPr wrap="none" lIns="0" tIns="0" rIns="0" bIns="0" anchor="t">
            <a:spAutoFit/>
          </a:bodyPr>
          <a:lstStyle/>
          <a:p>
            <a:pPr algn="ctr"/>
            <a:r>
              <a:rPr sz="1500" b="1" i="0" u="none">
                <a:solidFill>
                  <a:srgbClr val="0F172A"/>
                </a:solidFill>
                <a:latin typeface="Plus Jakarta Sans"/>
              </a:rPr>
              <a:t>74.89%</a:t>
            </a:r>
          </a:p>
        </p:txBody>
      </p:sp>
      <p:sp>
        <p:nvSpPr>
          <p:cNvPr id="27" name="TextBox 26"/>
          <p:cNvSpPr txBox="1"/>
          <p:nvPr/>
        </p:nvSpPr>
        <p:spPr>
          <a:xfrm>
            <a:off x="10276433" y="1676400"/>
            <a:ext cx="990600" cy="238125"/>
          </a:xfrm>
          <a:prstGeom prst="rect">
            <a:avLst/>
          </a:prstGeom>
          <a:noFill/>
        </p:spPr>
        <p:txBody>
          <a:bodyPr wrap="none" lIns="0" tIns="0" rIns="0" bIns="0" anchor="t">
            <a:spAutoFit/>
          </a:bodyPr>
          <a:lstStyle/>
          <a:p>
            <a:pPr algn="ctr"/>
            <a:r>
              <a:rPr sz="1500" b="1" i="0" u="none">
                <a:solidFill>
                  <a:srgbClr val="DC2626"/>
                </a:solidFill>
                <a:latin typeface="Plus Jakarta Sans"/>
              </a:rPr>
              <a:t>42.51%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5910262"/>
            <a:ext cx="10972800" cy="490537"/>
          </a:xfrm>
          <a:prstGeom prst="roundRect">
            <a:avLst>
              <a:gd name="adj" fmla="val 15533"/>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390650"/>
            <a:ext cx="2105025" cy="4291012"/>
          </a:xfrm>
          <a:prstGeom prst="roundRect">
            <a:avLst>
              <a:gd name="adj" fmla="val 542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171825" y="1390650"/>
            <a:ext cx="1754981" cy="4291012"/>
          </a:xfrm>
          <a:prstGeom prst="roundRect">
            <a:avLst>
              <a:gd name="adj" fmla="val 6512"/>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84006" y="1390650"/>
            <a:ext cx="1754981" cy="4291012"/>
          </a:xfrm>
          <a:prstGeom prst="roundRect">
            <a:avLst>
              <a:gd name="adj" fmla="val 6512"/>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596187" y="1390650"/>
            <a:ext cx="1774031" cy="4291012"/>
          </a:xfrm>
          <a:prstGeom prst="roundRect">
            <a:avLst>
              <a:gd name="adj" fmla="val 6442"/>
            </a:avLst>
          </a:prstGeom>
          <a:solidFill>
            <a:srgbClr val="F0F9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827418" y="1390650"/>
            <a:ext cx="1754981" cy="4291012"/>
          </a:xfrm>
          <a:prstGeom prst="roundRect">
            <a:avLst>
              <a:gd name="adj" fmla="val 6512"/>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519237" y="3126581"/>
            <a:ext cx="285750" cy="180975"/>
          </a:xfrm>
          <a:prstGeom prst="roundRect">
            <a:avLst>
              <a:gd name="adj" fmla="val 21052"/>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896915" y="3126581"/>
            <a:ext cx="304800" cy="180975"/>
          </a:xfrm>
          <a:prstGeom prst="roundRect">
            <a:avLst>
              <a:gd name="adj" fmla="val 21052"/>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09096" y="3126581"/>
            <a:ext cx="304800" cy="180975"/>
          </a:xfrm>
          <a:prstGeom prst="roundRect">
            <a:avLst>
              <a:gd name="adj" fmla="val 21052"/>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326040" y="3126581"/>
            <a:ext cx="314325" cy="180975"/>
          </a:xfrm>
          <a:prstGeom prst="roundRect">
            <a:avLst>
              <a:gd name="adj" fmla="val 21052"/>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0552509" y="3126581"/>
            <a:ext cx="304800" cy="180975"/>
          </a:xfrm>
          <a:prstGeom prst="roundRect">
            <a:avLst>
              <a:gd name="adj" fmla="val 21052"/>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2"/>
          <a:stretch>
            <a:fillRect/>
          </a:stretch>
        </p:blipFill>
        <p:spPr>
          <a:xfrm>
            <a:off x="2867025" y="3450431"/>
            <a:ext cx="152400" cy="171450"/>
          </a:xfrm>
          <a:prstGeom prst="rect">
            <a:avLst/>
          </a:prstGeom>
        </p:spPr>
      </p:pic>
      <p:pic>
        <p:nvPicPr>
          <p:cNvPr id="14" name="Picture 13" descr="image.png"/>
          <p:cNvPicPr>
            <a:picLocks noChangeAspect="1"/>
          </p:cNvPicPr>
          <p:nvPr/>
        </p:nvPicPr>
        <p:blipFill>
          <a:blip r:embed="rId3"/>
          <a:stretch>
            <a:fillRect/>
          </a:stretch>
        </p:blipFill>
        <p:spPr>
          <a:xfrm>
            <a:off x="5079206" y="3450431"/>
            <a:ext cx="152400" cy="171450"/>
          </a:xfrm>
          <a:prstGeom prst="rect">
            <a:avLst/>
          </a:prstGeom>
        </p:spPr>
      </p:pic>
      <p:pic>
        <p:nvPicPr>
          <p:cNvPr id="15" name="Picture 14" descr="image.png"/>
          <p:cNvPicPr>
            <a:picLocks noChangeAspect="1"/>
          </p:cNvPicPr>
          <p:nvPr/>
        </p:nvPicPr>
        <p:blipFill>
          <a:blip r:embed="rId4"/>
          <a:stretch>
            <a:fillRect/>
          </a:stretch>
        </p:blipFill>
        <p:spPr>
          <a:xfrm>
            <a:off x="7291387" y="3450431"/>
            <a:ext cx="152400" cy="171450"/>
          </a:xfrm>
          <a:prstGeom prst="rect">
            <a:avLst/>
          </a:prstGeom>
        </p:spPr>
      </p:pic>
      <p:pic>
        <p:nvPicPr>
          <p:cNvPr id="16" name="Picture 15" descr="image.png"/>
          <p:cNvPicPr>
            <a:picLocks noChangeAspect="1"/>
          </p:cNvPicPr>
          <p:nvPr/>
        </p:nvPicPr>
        <p:blipFill>
          <a:blip r:embed="rId4"/>
          <a:stretch>
            <a:fillRect/>
          </a:stretch>
        </p:blipFill>
        <p:spPr>
          <a:xfrm>
            <a:off x="9522618" y="3450431"/>
            <a:ext cx="152400" cy="171450"/>
          </a:xfrm>
          <a:prstGeom prst="rect">
            <a:avLst/>
          </a:prstGeom>
        </p:spPr>
      </p:pic>
      <p:pic>
        <p:nvPicPr>
          <p:cNvPr id="17" name="Picture 16" descr="image.png"/>
          <p:cNvPicPr>
            <a:picLocks noChangeAspect="1"/>
          </p:cNvPicPr>
          <p:nvPr/>
        </p:nvPicPr>
        <p:blipFill>
          <a:blip r:embed="rId5"/>
          <a:stretch>
            <a:fillRect/>
          </a:stretch>
        </p:blipFill>
        <p:spPr>
          <a:xfrm>
            <a:off x="838200" y="6091237"/>
            <a:ext cx="95250" cy="123825"/>
          </a:xfrm>
          <a:prstGeom prst="rect">
            <a:avLst/>
          </a:prstGeom>
        </p:spPr>
      </p:pic>
      <p:sp>
        <p:nvSpPr>
          <p:cNvPr id="18" name="TextBox 17"/>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SYSTEM ARCHITECTURE</a:t>
            </a:r>
          </a:p>
        </p:txBody>
      </p:sp>
      <p:sp>
        <p:nvSpPr>
          <p:cNvPr id="19" name="TextBox 18"/>
          <p:cNvSpPr txBox="1"/>
          <p:nvPr/>
        </p:nvSpPr>
        <p:spPr>
          <a:xfrm>
            <a:off x="609600" y="704850"/>
            <a:ext cx="11582400" cy="381000"/>
          </a:xfrm>
          <a:prstGeom prst="rect">
            <a:avLst/>
          </a:prstGeom>
          <a:noFill/>
        </p:spPr>
        <p:txBody>
          <a:bodyPr wrap="none" lIns="0" tIns="0" rIns="0" bIns="0" anchor="t">
            <a:spAutoFit/>
          </a:bodyPr>
          <a:lstStyle/>
          <a:p>
            <a:pPr algn="l"/>
            <a:r>
              <a:rPr sz="2400" b="1" i="0" u="none">
                <a:solidFill>
                  <a:srgbClr val="0F172A"/>
                </a:solidFill>
                <a:latin typeface="Plus Jakarta Sans"/>
              </a:rPr>
              <a:t>End-to-End Application Flow</a:t>
            </a:r>
          </a:p>
        </p:txBody>
      </p:sp>
      <p:sp>
        <p:nvSpPr>
          <p:cNvPr id="20" name="TextBox 19"/>
          <p:cNvSpPr txBox="1"/>
          <p:nvPr/>
        </p:nvSpPr>
        <p:spPr>
          <a:xfrm>
            <a:off x="838200" y="6062662"/>
            <a:ext cx="11353800" cy="185737"/>
          </a:xfrm>
          <a:prstGeom prst="rect">
            <a:avLst/>
          </a:prstGeom>
          <a:noFill/>
        </p:spPr>
        <p:txBody>
          <a:bodyPr wrap="none" lIns="171450" tIns="0" rIns="0" bIns="0" anchor="t">
            <a:spAutoFit/>
          </a:bodyPr>
          <a:lstStyle/>
          <a:p>
            <a:pPr algn="l">
              <a:lnSpc>
                <a:spcPts val="1462"/>
              </a:lnSpc>
            </a:pPr>
            <a:r>
              <a:rPr sz="975" b="1" i="0" u="none">
                <a:solidFill>
                  <a:srgbClr val="F8FAFC"/>
                </a:solidFill>
                <a:latin typeface="Plus Jakarta Sans"/>
              </a:rPr>
              <a:t>Architectural Logic:</a:t>
            </a:r>
            <a:r>
              <a:rPr sz="975" b="0" i="0" u="none">
                <a:solidFill>
                  <a:srgbClr val="F8FAFC"/>
                </a:solidFill>
                <a:latin typeface="Plus Jakarta Sans"/>
              </a:rPr>
              <a:t> The application separates the offline training step from online inference: the trained model is saved first, then loaded by Streamlit when users open the app.</a:t>
            </a:r>
          </a:p>
        </p:txBody>
      </p:sp>
      <p:sp>
        <p:nvSpPr>
          <p:cNvPr id="21" name="TextBox 20"/>
          <p:cNvSpPr txBox="1"/>
          <p:nvPr/>
        </p:nvSpPr>
        <p:spPr>
          <a:xfrm>
            <a:off x="1452562" y="3145631"/>
            <a:ext cx="419100" cy="142875"/>
          </a:xfrm>
          <a:prstGeom prst="rect">
            <a:avLst/>
          </a:prstGeom>
          <a:noFill/>
        </p:spPr>
        <p:txBody>
          <a:bodyPr wrap="square" lIns="0" tIns="0" rIns="0" bIns="0" anchor="t">
            <a:spAutoFit/>
          </a:bodyPr>
          <a:lstStyle/>
          <a:p>
            <a:pPr algn="ctr"/>
            <a:r>
              <a:rPr sz="900" b="1" i="0" u="none">
                <a:solidFill>
                  <a:srgbClr val="FFFFFF"/>
                </a:solidFill>
                <a:latin typeface="Plus Jakarta Sans"/>
              </a:rPr>
              <a:t>01</a:t>
            </a:r>
          </a:p>
        </p:txBody>
      </p:sp>
      <p:sp>
        <p:nvSpPr>
          <p:cNvPr id="22" name="TextBox 21"/>
          <p:cNvSpPr txBox="1"/>
          <p:nvPr/>
        </p:nvSpPr>
        <p:spPr>
          <a:xfrm>
            <a:off x="543222" y="3421856"/>
            <a:ext cx="2237779" cy="180975"/>
          </a:xfrm>
          <a:prstGeom prst="rect">
            <a:avLst/>
          </a:prstGeom>
          <a:noFill/>
        </p:spPr>
        <p:txBody>
          <a:bodyPr wrap="none" lIns="0" tIns="0" rIns="0" bIns="0" anchor="t">
            <a:spAutoFit/>
          </a:bodyPr>
          <a:lstStyle/>
          <a:p>
            <a:pPr algn="ctr"/>
            <a:r>
              <a:rPr sz="1125" b="1" i="0" u="none">
                <a:solidFill>
                  <a:srgbClr val="0F172A"/>
                </a:solidFill>
                <a:latin typeface="Plus Jakarta Sans"/>
              </a:rPr>
              <a:t>Saved files</a:t>
            </a:r>
          </a:p>
        </p:txBody>
      </p:sp>
      <p:sp>
        <p:nvSpPr>
          <p:cNvPr id="23" name="TextBox 22"/>
          <p:cNvSpPr txBox="1"/>
          <p:nvPr/>
        </p:nvSpPr>
        <p:spPr>
          <a:xfrm>
            <a:off x="596503" y="3659981"/>
            <a:ext cx="2131218" cy="285750"/>
          </a:xfrm>
          <a:prstGeom prst="rect">
            <a:avLst/>
          </a:prstGeom>
          <a:noFill/>
        </p:spPr>
        <p:txBody>
          <a:bodyPr wrap="square" lIns="0" tIns="0" rIns="0" bIns="0" anchor="t">
            <a:spAutoFit/>
          </a:bodyPr>
          <a:lstStyle/>
          <a:p>
            <a:pPr algn="ctr"/>
            <a:r>
              <a:rPr sz="900" b="0" i="0" u="none">
                <a:solidFill>
                  <a:srgbClr val="64748B"/>
                </a:solidFill>
                <a:latin typeface="Plus Jakarta Sans"/>
              </a:rPr>
              <a:t>best_churn_model.joblib &amp; Churn_Modelling_Featured.csv</a:t>
            </a:r>
          </a:p>
        </p:txBody>
      </p:sp>
      <p:sp>
        <p:nvSpPr>
          <p:cNvPr id="24" name="TextBox 23"/>
          <p:cNvSpPr txBox="1"/>
          <p:nvPr/>
        </p:nvSpPr>
        <p:spPr>
          <a:xfrm>
            <a:off x="3830240" y="3145631"/>
            <a:ext cx="438150" cy="142875"/>
          </a:xfrm>
          <a:prstGeom prst="rect">
            <a:avLst/>
          </a:prstGeom>
          <a:noFill/>
        </p:spPr>
        <p:txBody>
          <a:bodyPr wrap="square" lIns="0" tIns="0" rIns="0" bIns="0" anchor="t">
            <a:spAutoFit/>
          </a:bodyPr>
          <a:lstStyle/>
          <a:p>
            <a:pPr algn="ctr"/>
            <a:r>
              <a:rPr sz="900" b="1" i="0" u="none">
                <a:solidFill>
                  <a:srgbClr val="FFFFFF"/>
                </a:solidFill>
                <a:latin typeface="Plus Jakarta Sans"/>
              </a:rPr>
              <a:t>02</a:t>
            </a:r>
          </a:p>
        </p:txBody>
      </p:sp>
      <p:sp>
        <p:nvSpPr>
          <p:cNvPr id="25" name="TextBox 24"/>
          <p:cNvSpPr txBox="1"/>
          <p:nvPr/>
        </p:nvSpPr>
        <p:spPr>
          <a:xfrm>
            <a:off x="3160141" y="3421856"/>
            <a:ext cx="1778347" cy="180975"/>
          </a:xfrm>
          <a:prstGeom prst="rect">
            <a:avLst/>
          </a:prstGeom>
          <a:noFill/>
        </p:spPr>
        <p:txBody>
          <a:bodyPr wrap="none" lIns="0" tIns="0" rIns="0" bIns="0" anchor="t">
            <a:spAutoFit/>
          </a:bodyPr>
          <a:lstStyle/>
          <a:p>
            <a:pPr algn="ctr"/>
            <a:r>
              <a:rPr sz="1125" b="1" i="0" u="none">
                <a:solidFill>
                  <a:srgbClr val="0F172A"/>
                </a:solidFill>
                <a:latin typeface="Plus Jakarta Sans"/>
              </a:rPr>
              <a:t>Load &amp; validate</a:t>
            </a:r>
          </a:p>
        </p:txBody>
      </p:sp>
      <p:sp>
        <p:nvSpPr>
          <p:cNvPr id="26" name="TextBox 25"/>
          <p:cNvSpPr txBox="1"/>
          <p:nvPr/>
        </p:nvSpPr>
        <p:spPr>
          <a:xfrm>
            <a:off x="3202483" y="3659981"/>
            <a:ext cx="1693664" cy="285750"/>
          </a:xfrm>
          <a:prstGeom prst="rect">
            <a:avLst/>
          </a:prstGeom>
          <a:noFill/>
        </p:spPr>
        <p:txBody>
          <a:bodyPr wrap="square" lIns="0" tIns="0" rIns="0" bIns="0" anchor="t">
            <a:spAutoFit/>
          </a:bodyPr>
          <a:lstStyle/>
          <a:p>
            <a:pPr algn="ctr"/>
            <a:r>
              <a:rPr sz="900" b="0" i="0" u="none">
                <a:solidFill>
                  <a:srgbClr val="64748B"/>
                </a:solidFill>
                <a:latin typeface="Plus Jakarta Sans"/>
              </a:rPr>
              <a:t>Joblib + Pandas File / target checks</a:t>
            </a:r>
          </a:p>
        </p:txBody>
      </p:sp>
      <p:sp>
        <p:nvSpPr>
          <p:cNvPr id="27" name="TextBox 26"/>
          <p:cNvSpPr txBox="1"/>
          <p:nvPr/>
        </p:nvSpPr>
        <p:spPr>
          <a:xfrm>
            <a:off x="6042421" y="3145631"/>
            <a:ext cx="438150" cy="142875"/>
          </a:xfrm>
          <a:prstGeom prst="rect">
            <a:avLst/>
          </a:prstGeom>
          <a:noFill/>
        </p:spPr>
        <p:txBody>
          <a:bodyPr wrap="square" lIns="0" tIns="0" rIns="0" bIns="0" anchor="t">
            <a:spAutoFit/>
          </a:bodyPr>
          <a:lstStyle/>
          <a:p>
            <a:pPr algn="ctr"/>
            <a:r>
              <a:rPr sz="900" b="1" i="0" u="none">
                <a:solidFill>
                  <a:srgbClr val="FFFFFF"/>
                </a:solidFill>
                <a:latin typeface="Plus Jakarta Sans"/>
              </a:rPr>
              <a:t>03</a:t>
            </a:r>
          </a:p>
        </p:txBody>
      </p:sp>
      <p:sp>
        <p:nvSpPr>
          <p:cNvPr id="28" name="TextBox 27"/>
          <p:cNvSpPr txBox="1"/>
          <p:nvPr/>
        </p:nvSpPr>
        <p:spPr>
          <a:xfrm>
            <a:off x="5372323" y="3421856"/>
            <a:ext cx="1778347" cy="180975"/>
          </a:xfrm>
          <a:prstGeom prst="rect">
            <a:avLst/>
          </a:prstGeom>
          <a:noFill/>
        </p:spPr>
        <p:txBody>
          <a:bodyPr wrap="none" lIns="0" tIns="0" rIns="0" bIns="0" anchor="t">
            <a:spAutoFit/>
          </a:bodyPr>
          <a:lstStyle/>
          <a:p>
            <a:pPr algn="ctr"/>
            <a:r>
              <a:rPr sz="1125" b="1" i="0" u="none">
                <a:solidFill>
                  <a:srgbClr val="0F172A"/>
                </a:solidFill>
                <a:latin typeface="Plus Jakarta Sans"/>
              </a:rPr>
              <a:t>Customer form</a:t>
            </a:r>
          </a:p>
        </p:txBody>
      </p:sp>
      <p:sp>
        <p:nvSpPr>
          <p:cNvPr id="29" name="TextBox 28"/>
          <p:cNvSpPr txBox="1"/>
          <p:nvPr/>
        </p:nvSpPr>
        <p:spPr>
          <a:xfrm>
            <a:off x="5414664" y="3659981"/>
            <a:ext cx="1693664" cy="285750"/>
          </a:xfrm>
          <a:prstGeom prst="rect">
            <a:avLst/>
          </a:prstGeom>
          <a:noFill/>
        </p:spPr>
        <p:txBody>
          <a:bodyPr wrap="square" lIns="0" tIns="0" rIns="0" bIns="0" anchor="t">
            <a:spAutoFit/>
          </a:bodyPr>
          <a:lstStyle/>
          <a:p>
            <a:pPr algn="ctr"/>
            <a:r>
              <a:rPr sz="900" b="0" i="0" u="none">
                <a:solidFill>
                  <a:srgbClr val="64748B"/>
                </a:solidFill>
                <a:latin typeface="Plus Jakarta Sans"/>
              </a:rPr>
              <a:t>Feature-driven Streamlit widgets</a:t>
            </a:r>
          </a:p>
        </p:txBody>
      </p:sp>
      <p:sp>
        <p:nvSpPr>
          <p:cNvPr id="30" name="TextBox 29"/>
          <p:cNvSpPr txBox="1"/>
          <p:nvPr/>
        </p:nvSpPr>
        <p:spPr>
          <a:xfrm>
            <a:off x="8259365" y="3145631"/>
            <a:ext cx="447675" cy="142875"/>
          </a:xfrm>
          <a:prstGeom prst="rect">
            <a:avLst/>
          </a:prstGeom>
          <a:noFill/>
        </p:spPr>
        <p:txBody>
          <a:bodyPr wrap="square" lIns="0" tIns="0" rIns="0" bIns="0" anchor="t">
            <a:spAutoFit/>
          </a:bodyPr>
          <a:lstStyle/>
          <a:p>
            <a:pPr algn="ctr"/>
            <a:r>
              <a:rPr sz="900" b="1" i="0" u="none">
                <a:solidFill>
                  <a:srgbClr val="FFFFFF"/>
                </a:solidFill>
                <a:latin typeface="Plus Jakarta Sans"/>
              </a:rPr>
              <a:t>04</a:t>
            </a:r>
          </a:p>
        </p:txBody>
      </p:sp>
      <p:sp>
        <p:nvSpPr>
          <p:cNvPr id="31" name="TextBox 30"/>
          <p:cNvSpPr txBox="1"/>
          <p:nvPr/>
        </p:nvSpPr>
        <p:spPr>
          <a:xfrm>
            <a:off x="7594029" y="3421856"/>
            <a:ext cx="1778347" cy="180975"/>
          </a:xfrm>
          <a:prstGeom prst="rect">
            <a:avLst/>
          </a:prstGeom>
          <a:noFill/>
        </p:spPr>
        <p:txBody>
          <a:bodyPr wrap="none" lIns="0" tIns="0" rIns="0" bIns="0" anchor="t">
            <a:spAutoFit/>
          </a:bodyPr>
          <a:lstStyle/>
          <a:p>
            <a:pPr algn="ctr"/>
            <a:r>
              <a:rPr sz="1125" b="1" i="0" u="none">
                <a:solidFill>
                  <a:srgbClr val="0369A1"/>
                </a:solidFill>
                <a:latin typeface="Plus Jakarta Sans"/>
              </a:rPr>
              <a:t>Prediction</a:t>
            </a:r>
          </a:p>
        </p:txBody>
      </p:sp>
      <p:sp>
        <p:nvSpPr>
          <p:cNvPr id="32" name="TextBox 31"/>
          <p:cNvSpPr txBox="1"/>
          <p:nvPr/>
        </p:nvSpPr>
        <p:spPr>
          <a:xfrm>
            <a:off x="7636371" y="3659981"/>
            <a:ext cx="1693664" cy="285750"/>
          </a:xfrm>
          <a:prstGeom prst="rect">
            <a:avLst/>
          </a:prstGeom>
          <a:noFill/>
        </p:spPr>
        <p:txBody>
          <a:bodyPr wrap="square" lIns="0" tIns="0" rIns="0" bIns="0" anchor="t">
            <a:spAutoFit/>
          </a:bodyPr>
          <a:lstStyle/>
          <a:p>
            <a:pPr algn="ctr"/>
            <a:r>
              <a:rPr sz="900" b="0" i="0" u="none">
                <a:solidFill>
                  <a:srgbClr val="334155"/>
                </a:solidFill>
                <a:latin typeface="Plus Jakarta Sans"/>
              </a:rPr>
              <a:t>DataFrame → predict() &amp; predict_proba()</a:t>
            </a:r>
          </a:p>
        </p:txBody>
      </p:sp>
      <p:sp>
        <p:nvSpPr>
          <p:cNvPr id="33" name="TextBox 32"/>
          <p:cNvSpPr txBox="1"/>
          <p:nvPr/>
        </p:nvSpPr>
        <p:spPr>
          <a:xfrm>
            <a:off x="10485834" y="3145631"/>
            <a:ext cx="438150" cy="142875"/>
          </a:xfrm>
          <a:prstGeom prst="rect">
            <a:avLst/>
          </a:prstGeom>
          <a:noFill/>
        </p:spPr>
        <p:txBody>
          <a:bodyPr wrap="square" lIns="0" tIns="0" rIns="0" bIns="0" anchor="t">
            <a:spAutoFit/>
          </a:bodyPr>
          <a:lstStyle/>
          <a:p>
            <a:pPr algn="ctr"/>
            <a:r>
              <a:rPr sz="900" b="1" i="0" u="none">
                <a:solidFill>
                  <a:srgbClr val="FFFFFF"/>
                </a:solidFill>
                <a:latin typeface="Plus Jakarta Sans"/>
              </a:rPr>
              <a:t>05</a:t>
            </a:r>
          </a:p>
        </p:txBody>
      </p:sp>
      <p:sp>
        <p:nvSpPr>
          <p:cNvPr id="34" name="TextBox 33"/>
          <p:cNvSpPr txBox="1"/>
          <p:nvPr/>
        </p:nvSpPr>
        <p:spPr>
          <a:xfrm>
            <a:off x="9815735" y="3421856"/>
            <a:ext cx="1778347" cy="180975"/>
          </a:xfrm>
          <a:prstGeom prst="rect">
            <a:avLst/>
          </a:prstGeom>
          <a:noFill/>
        </p:spPr>
        <p:txBody>
          <a:bodyPr wrap="none" lIns="0" tIns="0" rIns="0" bIns="0" anchor="t">
            <a:spAutoFit/>
          </a:bodyPr>
          <a:lstStyle/>
          <a:p>
            <a:pPr algn="ctr"/>
            <a:r>
              <a:rPr sz="1125" b="1" i="0" u="none">
                <a:solidFill>
                  <a:srgbClr val="0F172A"/>
                </a:solidFill>
                <a:latin typeface="Plus Jakarta Sans"/>
              </a:rPr>
              <a:t>Result</a:t>
            </a:r>
          </a:p>
        </p:txBody>
      </p:sp>
      <p:sp>
        <p:nvSpPr>
          <p:cNvPr id="35" name="TextBox 34"/>
          <p:cNvSpPr txBox="1"/>
          <p:nvPr/>
        </p:nvSpPr>
        <p:spPr>
          <a:xfrm>
            <a:off x="9858077" y="3659981"/>
            <a:ext cx="1693664" cy="285750"/>
          </a:xfrm>
          <a:prstGeom prst="rect">
            <a:avLst/>
          </a:prstGeom>
          <a:noFill/>
        </p:spPr>
        <p:txBody>
          <a:bodyPr wrap="square" lIns="0" tIns="0" rIns="0" bIns="0" anchor="t">
            <a:spAutoFit/>
          </a:bodyPr>
          <a:lstStyle/>
          <a:p>
            <a:pPr algn="ctr"/>
            <a:r>
              <a:rPr sz="900" b="0" i="0" u="none">
                <a:solidFill>
                  <a:srgbClr val="64748B"/>
                </a:solidFill>
                <a:latin typeface="Plus Jakarta Sans"/>
              </a:rPr>
              <a:t>Stay / Leave Churn probability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096000"/>
            <a:ext cx="10972800" cy="381000"/>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095375"/>
            <a:ext cx="6434137" cy="4848225"/>
          </a:xfrm>
          <a:prstGeom prst="roundRect">
            <a:avLst>
              <a:gd name="adj" fmla="val 1964"/>
            </a:avLst>
          </a:prstGeom>
          <a:solidFill>
            <a:srgbClr val="0F172A"/>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6096000"/>
            <a:ext cx="38100" cy="3810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272337" y="1095375"/>
            <a:ext cx="4310062" cy="965596"/>
          </a:xfrm>
          <a:prstGeom prst="roundRect">
            <a:avLst>
              <a:gd name="adj" fmla="val 118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72337" y="2213371"/>
            <a:ext cx="4310062" cy="965596"/>
          </a:xfrm>
          <a:prstGeom prst="roundRect">
            <a:avLst>
              <a:gd name="adj" fmla="val 1183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7472362" y="1463873"/>
            <a:ext cx="285750" cy="228600"/>
          </a:xfrm>
          <a:prstGeom prst="rect">
            <a:avLst/>
          </a:prstGeom>
        </p:spPr>
      </p:pic>
      <p:pic>
        <p:nvPicPr>
          <p:cNvPr id="8" name="Picture 7" descr="image.png"/>
          <p:cNvPicPr>
            <a:picLocks noChangeAspect="1"/>
          </p:cNvPicPr>
          <p:nvPr/>
        </p:nvPicPr>
        <p:blipFill>
          <a:blip r:embed="rId3"/>
          <a:stretch>
            <a:fillRect/>
          </a:stretch>
        </p:blipFill>
        <p:spPr>
          <a:xfrm>
            <a:off x="7472362" y="2581870"/>
            <a:ext cx="285750" cy="228600"/>
          </a:xfrm>
          <a:prstGeom prst="rect">
            <a:avLst/>
          </a:prstGeom>
        </p:spPr>
      </p:pic>
      <p:sp>
        <p:nvSpPr>
          <p:cNvPr id="9" name="TextBox 8"/>
          <p:cNvSpPr txBox="1"/>
          <p:nvPr/>
        </p:nvSpPr>
        <p:spPr>
          <a:xfrm>
            <a:off x="609600" y="3810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MILESTONE 4 CODE DEEP DIVE • STEP 4</a:t>
            </a:r>
          </a:p>
        </p:txBody>
      </p:sp>
      <p:sp>
        <p:nvSpPr>
          <p:cNvPr id="10" name="TextBox 9"/>
          <p:cNvSpPr txBox="1"/>
          <p:nvPr/>
        </p:nvSpPr>
        <p:spPr>
          <a:xfrm>
            <a:off x="609600" y="609600"/>
            <a:ext cx="4530792" cy="323165"/>
          </a:xfrm>
          <a:prstGeom prst="rect">
            <a:avLst/>
          </a:prstGeom>
          <a:noFill/>
        </p:spPr>
        <p:txBody>
          <a:bodyPr wrap="none" lIns="0" tIns="0" rIns="0" bIns="0" anchor="t">
            <a:spAutoFit/>
          </a:bodyPr>
          <a:lstStyle/>
          <a:p>
            <a:pPr algn="l"/>
            <a:r>
              <a:rPr sz="2100" b="1" i="0" u="none" dirty="0" err="1">
                <a:solidFill>
                  <a:srgbClr val="0F172A"/>
                </a:solidFill>
                <a:latin typeface="Plus Jakarta Sans"/>
              </a:rPr>
              <a:t>Streamlit</a:t>
            </a:r>
            <a:r>
              <a:rPr sz="2100" b="1" i="0" u="none" dirty="0">
                <a:solidFill>
                  <a:srgbClr val="0F172A"/>
                </a:solidFill>
                <a:latin typeface="Plus Jakarta Sans"/>
              </a:rPr>
              <a:t> App Implementation (app.py)</a:t>
            </a:r>
          </a:p>
        </p:txBody>
      </p:sp>
      <p:sp>
        <p:nvSpPr>
          <p:cNvPr id="11" name="TextBox 10"/>
          <p:cNvSpPr txBox="1"/>
          <p:nvPr/>
        </p:nvSpPr>
        <p:spPr>
          <a:xfrm>
            <a:off x="800100" y="1285875"/>
            <a:ext cx="6148387" cy="4467225"/>
          </a:xfrm>
          <a:prstGeom prst="rect">
            <a:avLst/>
          </a:prstGeom>
          <a:noFill/>
        </p:spPr>
        <p:txBody>
          <a:bodyPr wrap="square" lIns="0" tIns="0" rIns="0" bIns="0" anchor="t">
            <a:spAutoFit/>
          </a:bodyPr>
          <a:lstStyle/>
          <a:p>
            <a:pPr algn="l">
              <a:lnSpc>
                <a:spcPts val="1518"/>
              </a:lnSpc>
            </a:pPr>
            <a:r>
              <a:rPr sz="1012" b="0" i="1" u="none">
                <a:solidFill>
                  <a:srgbClr val="64748B"/>
                </a:solidFill>
                <a:latin typeface="JetBrains Mono"/>
              </a:rPr>
              <a:t># Streamlit Model Loading &amp; Prediction Logic</a:t>
            </a:r>
            <a:r>
              <a:t>
</a:t>
            </a:r>
            <a:r>
              <a:rPr sz="1012" b="0" i="0" u="none">
                <a:solidFill>
                  <a:srgbClr val="EAB308"/>
                </a:solidFill>
                <a:latin typeface="JetBrains Mono"/>
              </a:rPr>
              <a:t>@st.cache_resource</a:t>
            </a:r>
            <a:r>
              <a:t>
</a:t>
            </a:r>
            <a:r>
              <a:rPr sz="1012" b="1" i="0" u="none">
                <a:solidFill>
                  <a:srgbClr val="F43F5E"/>
                </a:solidFill>
                <a:latin typeface="JetBrains Mono"/>
              </a:rPr>
              <a:t>def</a:t>
            </a:r>
            <a:r>
              <a:rPr sz="1012" b="0" i="0" u="none">
                <a:solidFill>
                  <a:srgbClr val="E2E8F0"/>
                </a:solidFill>
                <a:latin typeface="JetBrains Mono"/>
              </a:rPr>
              <a:t> </a:t>
            </a:r>
            <a:r>
              <a:rPr sz="1012" b="0" i="0" u="none">
                <a:solidFill>
                  <a:srgbClr val="38BDF8"/>
                </a:solidFill>
                <a:latin typeface="JetBrains Mono"/>
              </a:rPr>
              <a:t>load_model</a:t>
            </a:r>
            <a:r>
              <a:rPr sz="1012" b="0" i="0" u="none">
                <a:solidFill>
                  <a:srgbClr val="E2E8F0"/>
                </a:solidFill>
                <a:latin typeface="JetBrains Mono"/>
              </a:rPr>
              <a:t>(path):</a:t>
            </a:r>
            <a:r>
              <a:t>
</a:t>
            </a:r>
            <a:r>
              <a:rPr sz="1012" b="0" i="0" u="none">
                <a:solidFill>
                  <a:srgbClr val="E2E8F0"/>
                </a:solidFill>
                <a:latin typeface="JetBrains Mono"/>
              </a:rPr>
              <a:t>     </a:t>
            </a:r>
            <a:r>
              <a:rPr sz="1012" b="1" i="0" u="none">
                <a:solidFill>
                  <a:srgbClr val="F43F5E"/>
                </a:solidFill>
                <a:latin typeface="JetBrains Mono"/>
              </a:rPr>
              <a:t>return</a:t>
            </a:r>
            <a:r>
              <a:rPr sz="1012" b="0" i="0" u="none">
                <a:solidFill>
                  <a:srgbClr val="E2E8F0"/>
                </a:solidFill>
                <a:latin typeface="JetBrains Mono"/>
              </a:rPr>
              <a:t> joblib.</a:t>
            </a:r>
            <a:r>
              <a:rPr sz="1012" b="0" i="0" u="none">
                <a:solidFill>
                  <a:srgbClr val="38BDF8"/>
                </a:solidFill>
                <a:latin typeface="JetBrains Mono"/>
              </a:rPr>
              <a:t>load</a:t>
            </a:r>
            <a:r>
              <a:rPr sz="1012" b="0" i="0" u="none">
                <a:solidFill>
                  <a:srgbClr val="E2E8F0"/>
                </a:solidFill>
                <a:latin typeface="JetBrains Mono"/>
              </a:rPr>
              <a:t>(path)</a:t>
            </a:r>
            <a:r>
              <a:t>
</a:t>
            </a:r>
            <a:r>
              <a:rPr sz="1012" b="0" i="0" u="none">
                <a:solidFill>
                  <a:srgbClr val="E2E8F0"/>
                </a:solidFill>
                <a:latin typeface="JetBrains Mono"/>
              </a:rPr>
              <a:t> model = </a:t>
            </a:r>
            <a:r>
              <a:rPr sz="1012" b="0" i="0" u="none">
                <a:solidFill>
                  <a:srgbClr val="38BDF8"/>
                </a:solidFill>
                <a:latin typeface="JetBrains Mono"/>
              </a:rPr>
              <a:t>load_model</a:t>
            </a:r>
            <a:r>
              <a:rPr sz="1012" b="0" i="0" u="none">
                <a:solidFill>
                  <a:srgbClr val="E2E8F0"/>
                </a:solidFill>
                <a:latin typeface="JetBrains Mono"/>
              </a:rPr>
              <a:t>(</a:t>
            </a:r>
            <a:r>
              <a:rPr sz="1012" b="0" i="0" u="none">
                <a:solidFill>
                  <a:srgbClr val="A3E635"/>
                </a:solidFill>
                <a:latin typeface="JetBrains Mono"/>
              </a:rPr>
              <a:t>"best_churn_model.joblib"</a:t>
            </a:r>
            <a:r>
              <a:rPr sz="1012" b="0" i="0" u="none">
                <a:solidFill>
                  <a:srgbClr val="E2E8F0"/>
                </a:solidFill>
                <a:latin typeface="JetBrains Mono"/>
              </a:rPr>
              <a:t>)</a:t>
            </a:r>
            <a:r>
              <a:t>
</a:t>
            </a:r>
            <a:r>
              <a:rPr sz="1012" b="0" i="0" u="none">
                <a:solidFill>
                  <a:srgbClr val="E2E8F0"/>
                </a:solidFill>
                <a:latin typeface="JetBrains Mono"/>
              </a:rPr>
              <a:t> prediction = model.</a:t>
            </a:r>
            <a:r>
              <a:rPr sz="1012" b="0" i="0" u="none">
                <a:solidFill>
                  <a:srgbClr val="38BDF8"/>
                </a:solidFill>
                <a:latin typeface="JetBrains Mono"/>
              </a:rPr>
              <a:t>predict</a:t>
            </a:r>
            <a:r>
              <a:rPr sz="1012" b="0" i="0" u="none">
                <a:solidFill>
                  <a:srgbClr val="E2E8F0"/>
                </a:solidFill>
                <a:latin typeface="JetBrains Mono"/>
              </a:rPr>
              <a:t>(input_df)[</a:t>
            </a:r>
            <a:r>
              <a:rPr sz="1012" b="0" i="0" u="none">
                <a:solidFill>
                  <a:srgbClr val="FBBF24"/>
                </a:solidFill>
                <a:latin typeface="JetBrains Mono"/>
              </a:rPr>
              <a:t>0</a:t>
            </a:r>
            <a:r>
              <a:rPr sz="1012" b="0" i="0" u="none">
                <a:solidFill>
                  <a:srgbClr val="E2E8F0"/>
                </a:solidFill>
                <a:latin typeface="JetBrains Mono"/>
              </a:rPr>
              <a:t>]</a:t>
            </a:r>
            <a:r>
              <a:t>
</a:t>
            </a:r>
            <a:r>
              <a:rPr sz="1012" b="0" i="0" u="none">
                <a:solidFill>
                  <a:srgbClr val="E2E8F0"/>
                </a:solidFill>
                <a:latin typeface="JetBrains Mono"/>
              </a:rPr>
              <a:t> churn_prob = model.</a:t>
            </a:r>
            <a:r>
              <a:rPr sz="1012" b="0" i="0" u="none">
                <a:solidFill>
                  <a:srgbClr val="38BDF8"/>
                </a:solidFill>
                <a:latin typeface="JetBrains Mono"/>
              </a:rPr>
              <a:t>predict_proba</a:t>
            </a:r>
            <a:r>
              <a:rPr sz="1012" b="0" i="0" u="none">
                <a:solidFill>
                  <a:srgbClr val="E2E8F0"/>
                </a:solidFill>
                <a:latin typeface="JetBrains Mono"/>
              </a:rPr>
              <a:t>(input_df)[</a:t>
            </a:r>
            <a:r>
              <a:rPr sz="1012" b="0" i="0" u="none">
                <a:solidFill>
                  <a:srgbClr val="FBBF24"/>
                </a:solidFill>
                <a:latin typeface="JetBrains Mono"/>
              </a:rPr>
              <a:t>0</a:t>
            </a:r>
            <a:r>
              <a:rPr sz="1012" b="0" i="0" u="none">
                <a:solidFill>
                  <a:srgbClr val="E2E8F0"/>
                </a:solidFill>
                <a:latin typeface="JetBrains Mono"/>
              </a:rPr>
              <a:t>][</a:t>
            </a:r>
            <a:r>
              <a:rPr sz="1012" b="0" i="0" u="none">
                <a:solidFill>
                  <a:srgbClr val="FBBF24"/>
                </a:solidFill>
                <a:latin typeface="JetBrains Mono"/>
              </a:rPr>
              <a:t>1</a:t>
            </a:r>
            <a:r>
              <a:rPr sz="1012" b="0" i="0" u="none">
                <a:solidFill>
                  <a:srgbClr val="E2E8F0"/>
                </a:solidFill>
                <a:latin typeface="JetBrains Mono"/>
              </a:rPr>
              <a:t>]</a:t>
            </a:r>
          </a:p>
        </p:txBody>
      </p:sp>
      <p:sp>
        <p:nvSpPr>
          <p:cNvPr id="12" name="TextBox 11"/>
          <p:cNvSpPr txBox="1"/>
          <p:nvPr/>
        </p:nvSpPr>
        <p:spPr>
          <a:xfrm>
            <a:off x="838200" y="6210300"/>
            <a:ext cx="1333500" cy="152400"/>
          </a:xfrm>
          <a:prstGeom prst="rect">
            <a:avLst/>
          </a:prstGeom>
          <a:noFill/>
        </p:spPr>
        <p:txBody>
          <a:bodyPr wrap="none" lIns="0" tIns="0" rIns="0" bIns="0" anchor="t">
            <a:spAutoFit/>
          </a:bodyPr>
          <a:lstStyle/>
          <a:p>
            <a:pPr algn="l"/>
            <a:r>
              <a:rPr sz="975" b="1" i="0" u="none">
                <a:solidFill>
                  <a:srgbClr val="0284C7"/>
                </a:solidFill>
                <a:latin typeface="Plus Jakarta Sans"/>
              </a:rPr>
              <a:t>Technical Insight:</a:t>
            </a:r>
          </a:p>
        </p:txBody>
      </p:sp>
      <p:sp>
        <p:nvSpPr>
          <p:cNvPr id="13" name="TextBox 12"/>
          <p:cNvSpPr txBox="1"/>
          <p:nvPr/>
        </p:nvSpPr>
        <p:spPr>
          <a:xfrm>
            <a:off x="2000250" y="6210300"/>
            <a:ext cx="10191750" cy="152400"/>
          </a:xfrm>
          <a:prstGeom prst="rect">
            <a:avLst/>
          </a:prstGeom>
          <a:noFill/>
        </p:spPr>
        <p:txBody>
          <a:bodyPr wrap="none" lIns="0" tIns="0" rIns="0" bIns="0" anchor="t">
            <a:spAutoFit/>
          </a:bodyPr>
          <a:lstStyle/>
          <a:p>
            <a:pPr algn="l"/>
            <a:r>
              <a:rPr sz="975" b="0" i="0" u="none">
                <a:solidFill>
                  <a:srgbClr val="0369A1"/>
                </a:solidFill>
                <a:latin typeface="Plus Jakarta Sans"/>
              </a:rPr>
              <a:t>Built an interactive web interface using Streamlit, leveraging resource caching to load the Joblib artifact once and return instant real-time churn predictions.</a:t>
            </a:r>
          </a:p>
        </p:txBody>
      </p:sp>
      <p:sp>
        <p:nvSpPr>
          <p:cNvPr id="14" name="TextBox 13"/>
          <p:cNvSpPr txBox="1"/>
          <p:nvPr/>
        </p:nvSpPr>
        <p:spPr>
          <a:xfrm>
            <a:off x="7910512" y="1295400"/>
            <a:ext cx="4281487" cy="180975"/>
          </a:xfrm>
          <a:prstGeom prst="rect">
            <a:avLst/>
          </a:prstGeom>
          <a:noFill/>
        </p:spPr>
        <p:txBody>
          <a:bodyPr wrap="none" lIns="0" tIns="0" rIns="0" bIns="0" anchor="t">
            <a:spAutoFit/>
          </a:bodyPr>
          <a:lstStyle/>
          <a:p>
            <a:pPr algn="l"/>
            <a:r>
              <a:rPr sz="1125" b="1" i="0" u="none">
                <a:solidFill>
                  <a:srgbClr val="0F172A"/>
                </a:solidFill>
                <a:latin typeface="Plus Jakarta Sans"/>
              </a:rPr>
              <a:t>Interactive Web Form</a:t>
            </a:r>
          </a:p>
        </p:txBody>
      </p:sp>
      <p:sp>
        <p:nvSpPr>
          <p:cNvPr id="15" name="TextBox 14"/>
          <p:cNvSpPr txBox="1"/>
          <p:nvPr/>
        </p:nvSpPr>
        <p:spPr>
          <a:xfrm>
            <a:off x="7910512" y="1514475"/>
            <a:ext cx="3567112" cy="346471"/>
          </a:xfrm>
          <a:prstGeom prst="rect">
            <a:avLst/>
          </a:prstGeom>
          <a:noFill/>
        </p:spPr>
        <p:txBody>
          <a:bodyPr wrap="square" lIns="0" tIns="0" rIns="0" bIns="0" anchor="t">
            <a:spAutoFit/>
          </a:bodyPr>
          <a:lstStyle/>
          <a:p>
            <a:pPr algn="l">
              <a:lnSpc>
                <a:spcPts val="1364"/>
              </a:lnSpc>
            </a:pPr>
            <a:r>
              <a:rPr sz="975" b="0" i="0" u="none">
                <a:solidFill>
                  <a:srgbClr val="64748B"/>
                </a:solidFill>
                <a:latin typeface="Plus Jakarta Sans"/>
              </a:rPr>
              <a:t>Allows users to input customer attributes and get real-time predictions.</a:t>
            </a:r>
          </a:p>
        </p:txBody>
      </p:sp>
      <p:sp>
        <p:nvSpPr>
          <p:cNvPr id="16" name="TextBox 15"/>
          <p:cNvSpPr txBox="1"/>
          <p:nvPr/>
        </p:nvSpPr>
        <p:spPr>
          <a:xfrm>
            <a:off x="7910512" y="2413396"/>
            <a:ext cx="4281487" cy="180975"/>
          </a:xfrm>
          <a:prstGeom prst="rect">
            <a:avLst/>
          </a:prstGeom>
          <a:noFill/>
        </p:spPr>
        <p:txBody>
          <a:bodyPr wrap="none" lIns="0" tIns="0" rIns="0" bIns="0" anchor="t">
            <a:spAutoFit/>
          </a:bodyPr>
          <a:lstStyle/>
          <a:p>
            <a:pPr algn="l"/>
            <a:r>
              <a:rPr sz="1125" b="1" i="0" u="none">
                <a:solidFill>
                  <a:srgbClr val="0F172A"/>
                </a:solidFill>
                <a:latin typeface="Plus Jakarta Sans"/>
              </a:rPr>
              <a:t>Live Cloud Deployment</a:t>
            </a:r>
          </a:p>
        </p:txBody>
      </p:sp>
      <p:sp>
        <p:nvSpPr>
          <p:cNvPr id="17" name="TextBox 16"/>
          <p:cNvSpPr txBox="1"/>
          <p:nvPr/>
        </p:nvSpPr>
        <p:spPr>
          <a:xfrm>
            <a:off x="7910512" y="2632471"/>
            <a:ext cx="3567112" cy="346471"/>
          </a:xfrm>
          <a:prstGeom prst="rect">
            <a:avLst/>
          </a:prstGeom>
          <a:noFill/>
        </p:spPr>
        <p:txBody>
          <a:bodyPr wrap="square" lIns="0" tIns="0" rIns="0" bIns="0" anchor="t">
            <a:spAutoFit/>
          </a:bodyPr>
          <a:lstStyle/>
          <a:p>
            <a:pPr algn="l">
              <a:lnSpc>
                <a:spcPts val="1364"/>
              </a:lnSpc>
            </a:pPr>
            <a:r>
              <a:rPr sz="975" b="0" i="0" u="none">
                <a:solidFill>
                  <a:srgbClr val="64748B"/>
                </a:solidFill>
                <a:latin typeface="Plus Jakarta Sans"/>
              </a:rPr>
              <a:t>Deployed via Streamlit Community Cloud for continuous online evaluation.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1390650"/>
            <a:ext cx="5372100" cy="5010150"/>
          </a:xfrm>
          <a:prstGeom prst="roundRect">
            <a:avLst>
              <a:gd name="adj" fmla="val 2281"/>
            </a:avLst>
          </a:prstGeom>
          <a:solidFill>
            <a:srgbClr val="FFF1F2"/>
          </a:solidFill>
          <a:ln w="9525">
            <a:solidFill>
              <a:srgbClr val="FE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10300" y="1390650"/>
            <a:ext cx="5372100" cy="5010150"/>
          </a:xfrm>
          <a:prstGeom prst="roundRect">
            <a:avLst>
              <a:gd name="adj" fmla="val 2281"/>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885825" y="1666875"/>
            <a:ext cx="266700" cy="266700"/>
          </a:xfrm>
          <a:prstGeom prst="rect">
            <a:avLst/>
          </a:prstGeom>
        </p:spPr>
      </p:pic>
      <p:pic>
        <p:nvPicPr>
          <p:cNvPr id="5" name="Picture 4" descr="image.png"/>
          <p:cNvPicPr>
            <a:picLocks noChangeAspect="1"/>
          </p:cNvPicPr>
          <p:nvPr/>
        </p:nvPicPr>
        <p:blipFill>
          <a:blip r:embed="rId3"/>
          <a:stretch>
            <a:fillRect/>
          </a:stretch>
        </p:blipFill>
        <p:spPr>
          <a:xfrm>
            <a:off x="6486525" y="1666875"/>
            <a:ext cx="266700" cy="266700"/>
          </a:xfrm>
          <a:prstGeom prst="rect">
            <a:avLst/>
          </a:prstGeom>
        </p:spPr>
      </p:pic>
      <p:pic>
        <p:nvPicPr>
          <p:cNvPr id="6" name="Picture 5" descr="image.png"/>
          <p:cNvPicPr>
            <a:picLocks noChangeAspect="1"/>
          </p:cNvPicPr>
          <p:nvPr/>
        </p:nvPicPr>
        <p:blipFill>
          <a:blip r:embed="rId4"/>
          <a:stretch>
            <a:fillRect/>
          </a:stretch>
        </p:blipFill>
        <p:spPr>
          <a:xfrm>
            <a:off x="885825" y="2471737"/>
            <a:ext cx="85725" cy="142875"/>
          </a:xfrm>
          <a:prstGeom prst="rect">
            <a:avLst/>
          </a:prstGeom>
        </p:spPr>
      </p:pic>
      <p:pic>
        <p:nvPicPr>
          <p:cNvPr id="7" name="Picture 6" descr="image.png"/>
          <p:cNvPicPr>
            <a:picLocks noChangeAspect="1"/>
          </p:cNvPicPr>
          <p:nvPr/>
        </p:nvPicPr>
        <p:blipFill>
          <a:blip r:embed="rId4"/>
          <a:stretch>
            <a:fillRect/>
          </a:stretch>
        </p:blipFill>
        <p:spPr>
          <a:xfrm>
            <a:off x="885825" y="2951559"/>
            <a:ext cx="85725" cy="142875"/>
          </a:xfrm>
          <a:prstGeom prst="rect">
            <a:avLst/>
          </a:prstGeom>
        </p:spPr>
      </p:pic>
      <p:pic>
        <p:nvPicPr>
          <p:cNvPr id="8" name="Picture 7" descr="image.png"/>
          <p:cNvPicPr>
            <a:picLocks noChangeAspect="1"/>
          </p:cNvPicPr>
          <p:nvPr/>
        </p:nvPicPr>
        <p:blipFill>
          <a:blip r:embed="rId5"/>
          <a:stretch>
            <a:fillRect/>
          </a:stretch>
        </p:blipFill>
        <p:spPr>
          <a:xfrm>
            <a:off x="6486525" y="2471737"/>
            <a:ext cx="114300" cy="142875"/>
          </a:xfrm>
          <a:prstGeom prst="rect">
            <a:avLst/>
          </a:prstGeom>
        </p:spPr>
      </p:pic>
      <p:pic>
        <p:nvPicPr>
          <p:cNvPr id="9" name="Picture 8" descr="image.png"/>
          <p:cNvPicPr>
            <a:picLocks noChangeAspect="1"/>
          </p:cNvPicPr>
          <p:nvPr/>
        </p:nvPicPr>
        <p:blipFill>
          <a:blip r:embed="rId5"/>
          <a:stretch>
            <a:fillRect/>
          </a:stretch>
        </p:blipFill>
        <p:spPr>
          <a:xfrm>
            <a:off x="6486525" y="2951559"/>
            <a:ext cx="114300" cy="142875"/>
          </a:xfrm>
          <a:prstGeom prst="rect">
            <a:avLst/>
          </a:prstGeom>
        </p:spPr>
      </p:pic>
      <p:sp>
        <p:nvSpPr>
          <p:cNvPr id="10" name="TextBox 9"/>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0284C7"/>
                </a:solidFill>
                <a:latin typeface="Plus Jakarta Sans"/>
              </a:rPr>
              <a:t>PREPARATION FOR DEMO DAY</a:t>
            </a:r>
          </a:p>
        </p:txBody>
      </p:sp>
      <p:sp>
        <p:nvSpPr>
          <p:cNvPr id="11" name="TextBox 10"/>
          <p:cNvSpPr txBox="1"/>
          <p:nvPr/>
        </p:nvSpPr>
        <p:spPr>
          <a:xfrm>
            <a:off x="609600" y="704850"/>
            <a:ext cx="11582400" cy="381000"/>
          </a:xfrm>
          <a:prstGeom prst="rect">
            <a:avLst/>
          </a:prstGeom>
          <a:noFill/>
        </p:spPr>
        <p:txBody>
          <a:bodyPr wrap="none" lIns="0" tIns="0" rIns="0" bIns="0" anchor="t">
            <a:spAutoFit/>
          </a:bodyPr>
          <a:lstStyle/>
          <a:p>
            <a:pPr algn="l"/>
            <a:r>
              <a:rPr sz="2400" b="1" i="0" u="none">
                <a:solidFill>
                  <a:srgbClr val="0F172A"/>
                </a:solidFill>
                <a:latin typeface="Plus Jakarta Sans"/>
              </a:rPr>
              <a:t>Project Challenges &amp; Planned Fixes</a:t>
            </a:r>
          </a:p>
        </p:txBody>
      </p:sp>
      <p:sp>
        <p:nvSpPr>
          <p:cNvPr id="12" name="TextBox 11"/>
          <p:cNvSpPr txBox="1"/>
          <p:nvPr/>
        </p:nvSpPr>
        <p:spPr>
          <a:xfrm>
            <a:off x="885825" y="2085975"/>
            <a:ext cx="6325790" cy="219075"/>
          </a:xfrm>
          <a:prstGeom prst="rect">
            <a:avLst/>
          </a:prstGeom>
          <a:noFill/>
        </p:spPr>
        <p:txBody>
          <a:bodyPr wrap="none" lIns="0" tIns="0" rIns="0" bIns="0" anchor="t">
            <a:spAutoFit/>
          </a:bodyPr>
          <a:lstStyle/>
          <a:p>
            <a:pPr algn="l"/>
            <a:r>
              <a:rPr sz="1350" b="1" i="0" u="none">
                <a:solidFill>
                  <a:srgbClr val="9F1239"/>
                </a:solidFill>
                <a:latin typeface="Plus Jakarta Sans"/>
              </a:rPr>
              <a:t>Identified Limitations</a:t>
            </a:r>
          </a:p>
        </p:txBody>
      </p:sp>
      <p:sp>
        <p:nvSpPr>
          <p:cNvPr id="13" name="TextBox 12"/>
          <p:cNvSpPr txBox="1"/>
          <p:nvPr/>
        </p:nvSpPr>
        <p:spPr>
          <a:xfrm>
            <a:off x="6486525" y="2085975"/>
            <a:ext cx="5705475" cy="219075"/>
          </a:xfrm>
          <a:prstGeom prst="rect">
            <a:avLst/>
          </a:prstGeom>
          <a:noFill/>
        </p:spPr>
        <p:txBody>
          <a:bodyPr wrap="none" lIns="0" tIns="0" rIns="0" bIns="0" anchor="t">
            <a:spAutoFit/>
          </a:bodyPr>
          <a:lstStyle/>
          <a:p>
            <a:pPr algn="l"/>
            <a:r>
              <a:rPr sz="1350" b="1" i="0" u="none">
                <a:solidFill>
                  <a:srgbClr val="14532D"/>
                </a:solidFill>
                <a:latin typeface="Plus Jakarta Sans"/>
              </a:rPr>
              <a:t>Action List before Demo Day</a:t>
            </a:r>
          </a:p>
        </p:txBody>
      </p:sp>
      <p:sp>
        <p:nvSpPr>
          <p:cNvPr id="14" name="TextBox 13"/>
          <p:cNvSpPr txBox="1"/>
          <p:nvPr/>
        </p:nvSpPr>
        <p:spPr>
          <a:xfrm>
            <a:off x="885825" y="2419350"/>
            <a:ext cx="4914900" cy="479821"/>
          </a:xfrm>
          <a:prstGeom prst="rect">
            <a:avLst/>
          </a:prstGeom>
          <a:noFill/>
        </p:spPr>
        <p:txBody>
          <a:bodyPr wrap="square" lIns="161925" tIns="0" rIns="0" bIns="0" anchor="t">
            <a:spAutoFit/>
          </a:bodyPr>
          <a:lstStyle/>
          <a:p>
            <a:pPr algn="l">
              <a:lnSpc>
                <a:spcPts val="1889"/>
              </a:lnSpc>
            </a:pPr>
            <a:r>
              <a:rPr sz="1050" b="1" i="0" u="none">
                <a:solidFill>
                  <a:srgbClr val="BE123C"/>
                </a:solidFill>
                <a:latin typeface="Plus Jakarta Sans"/>
              </a:rPr>
              <a:t>Class Imbalance:</a:t>
            </a:r>
            <a:r>
              <a:rPr sz="1050" b="0" i="0" u="none">
                <a:solidFill>
                  <a:srgbClr val="BE123C"/>
                </a:solidFill>
                <a:latin typeface="Plus Jakarta Sans"/>
              </a:rPr>
              <a:t> Affects standalone Recall for churned class (234 missed churners).</a:t>
            </a:r>
          </a:p>
        </p:txBody>
      </p:sp>
      <p:sp>
        <p:nvSpPr>
          <p:cNvPr id="15" name="TextBox 14"/>
          <p:cNvSpPr txBox="1"/>
          <p:nvPr/>
        </p:nvSpPr>
        <p:spPr>
          <a:xfrm>
            <a:off x="885825" y="2899171"/>
            <a:ext cx="6024562" cy="239910"/>
          </a:xfrm>
          <a:prstGeom prst="rect">
            <a:avLst/>
          </a:prstGeom>
          <a:noFill/>
        </p:spPr>
        <p:txBody>
          <a:bodyPr wrap="none" lIns="161925" tIns="0" rIns="0" bIns="0" anchor="t">
            <a:spAutoFit/>
          </a:bodyPr>
          <a:lstStyle/>
          <a:p>
            <a:pPr algn="l">
              <a:lnSpc>
                <a:spcPts val="1889"/>
              </a:lnSpc>
            </a:pPr>
            <a:r>
              <a:rPr sz="1050" b="1" i="0" u="none">
                <a:solidFill>
                  <a:srgbClr val="BE123C"/>
                </a:solidFill>
                <a:latin typeface="Plus Jakarta Sans"/>
              </a:rPr>
              <a:t>Decision Cutoff:</a:t>
            </a:r>
            <a:r>
              <a:rPr sz="1050" b="0" i="0" u="none">
                <a:solidFill>
                  <a:srgbClr val="BE123C"/>
                </a:solidFill>
                <a:latin typeface="Plus Jakarta Sans"/>
              </a:rPr>
              <a:t> Currently set at default 0.50 probability cutoff.</a:t>
            </a:r>
          </a:p>
        </p:txBody>
      </p:sp>
      <p:sp>
        <p:nvSpPr>
          <p:cNvPr id="16" name="TextBox 15"/>
          <p:cNvSpPr txBox="1"/>
          <p:nvPr/>
        </p:nvSpPr>
        <p:spPr>
          <a:xfrm>
            <a:off x="6486525" y="2419350"/>
            <a:ext cx="4914900" cy="479821"/>
          </a:xfrm>
          <a:prstGeom prst="rect">
            <a:avLst/>
          </a:prstGeom>
          <a:noFill/>
        </p:spPr>
        <p:txBody>
          <a:bodyPr wrap="square" lIns="190500" tIns="0" rIns="0" bIns="0" anchor="t">
            <a:spAutoFit/>
          </a:bodyPr>
          <a:lstStyle/>
          <a:p>
            <a:pPr algn="l">
              <a:lnSpc>
                <a:spcPts val="1889"/>
              </a:lnSpc>
            </a:pPr>
            <a:r>
              <a:rPr sz="1050" b="1" i="0" u="none">
                <a:solidFill>
                  <a:srgbClr val="15803D"/>
                </a:solidFill>
                <a:latin typeface="Plus Jakarta Sans"/>
              </a:rPr>
              <a:t>Feedback Integration:</a:t>
            </a:r>
            <a:r>
              <a:rPr sz="1050" b="0" i="0" u="none">
                <a:solidFill>
                  <a:srgbClr val="15803D"/>
                </a:solidFill>
                <a:latin typeface="Plus Jakarta Sans"/>
              </a:rPr>
              <a:t> Incorporate section-by-section notes from today's Milestone 4 review.</a:t>
            </a:r>
          </a:p>
        </p:txBody>
      </p:sp>
      <p:sp>
        <p:nvSpPr>
          <p:cNvPr id="17" name="TextBox 16"/>
          <p:cNvSpPr txBox="1"/>
          <p:nvPr/>
        </p:nvSpPr>
        <p:spPr>
          <a:xfrm>
            <a:off x="6486525" y="2899171"/>
            <a:ext cx="4914900" cy="479821"/>
          </a:xfrm>
          <a:prstGeom prst="rect">
            <a:avLst/>
          </a:prstGeom>
          <a:noFill/>
        </p:spPr>
        <p:txBody>
          <a:bodyPr wrap="square" lIns="190500" tIns="0" rIns="0" bIns="0" anchor="t">
            <a:spAutoFit/>
          </a:bodyPr>
          <a:lstStyle/>
          <a:p>
            <a:pPr algn="l">
              <a:lnSpc>
                <a:spcPts val="1889"/>
              </a:lnSpc>
            </a:pPr>
            <a:r>
              <a:rPr sz="1050" b="1" i="0" u="none">
                <a:solidFill>
                  <a:srgbClr val="15803D"/>
                </a:solidFill>
                <a:latin typeface="Plus Jakarta Sans"/>
              </a:rPr>
              <a:t>Threshold Tuning:</a:t>
            </a:r>
            <a:r>
              <a:rPr sz="1050" b="0" i="0" u="none">
                <a:solidFill>
                  <a:srgbClr val="15803D"/>
                </a:solidFill>
                <a:latin typeface="Plus Jakarta Sans"/>
              </a:rPr>
              <a:t> Adjust decision threshold to prioritize higher Recall for high-risk churners.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Rectangle 1"/>
          <p:cNvSpPr/>
          <p:nvPr/>
        </p:nvSpPr>
        <p:spPr>
          <a:xfrm>
            <a:off x="685800" y="777240"/>
            <a:ext cx="109728" cy="685800"/>
          </a:xfrm>
          <a:prstGeom prst="rect">
            <a:avLst/>
          </a:prstGeom>
          <a:solidFill>
            <a:srgbClr val="469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713232"/>
            <a:ext cx="4787529" cy="553998"/>
          </a:xfrm>
          <a:prstGeom prst="rect">
            <a:avLst/>
          </a:prstGeom>
          <a:noFill/>
        </p:spPr>
        <p:txBody>
          <a:bodyPr wrap="none">
            <a:spAutoFit/>
          </a:bodyPr>
          <a:lstStyle/>
          <a:p>
            <a:pPr>
              <a:defRPr sz="3000" b="1">
                <a:solidFill>
                  <a:srgbClr val="FFFFFF"/>
                </a:solidFill>
                <a:latin typeface="Aptos Display"/>
              </a:defRPr>
            </a:pPr>
            <a:r>
              <a:rPr lang="en-US" sz="3000" b="1" dirty="0">
                <a:solidFill>
                  <a:srgbClr val="FFFFFF"/>
                </a:solidFill>
                <a:latin typeface="Aptos Display"/>
              </a:rPr>
              <a:t>DEMO &amp; WEB APPLICATION</a:t>
            </a:r>
            <a:endParaRPr dirty="0"/>
          </a:p>
        </p:txBody>
      </p:sp>
      <p:sp>
        <p:nvSpPr>
          <p:cNvPr id="4" name="TextBox 3"/>
          <p:cNvSpPr txBox="1"/>
          <p:nvPr/>
        </p:nvSpPr>
        <p:spPr>
          <a:xfrm>
            <a:off x="987552" y="1572768"/>
            <a:ext cx="10174388" cy="523220"/>
          </a:xfrm>
          <a:prstGeom prst="rect">
            <a:avLst/>
          </a:prstGeom>
          <a:noFill/>
        </p:spPr>
        <p:txBody>
          <a:bodyPr wrap="none">
            <a:spAutoFit/>
          </a:bodyPr>
          <a:lstStyle/>
          <a:p>
            <a:pPr lvl="0"/>
            <a:r>
              <a:rPr lang="en-US" sz="2800" b="1" dirty="0">
                <a:solidFill>
                  <a:schemeClr val="bg2"/>
                </a:solidFill>
              </a:rPr>
              <a:t>Experience the live application for predicting bank customer churn.</a:t>
            </a:r>
            <a:endParaRPr lang="en-US" sz="2800" dirty="0">
              <a:solidFill>
                <a:schemeClr val="bg2"/>
              </a:solidFill>
            </a:endParaRPr>
          </a:p>
        </p:txBody>
      </p:sp>
      <p:sp>
        <p:nvSpPr>
          <p:cNvPr id="5" name="Rounded Rectangle 4"/>
          <p:cNvSpPr/>
          <p:nvPr/>
        </p:nvSpPr>
        <p:spPr>
          <a:xfrm>
            <a:off x="914400" y="2514600"/>
            <a:ext cx="10332720" cy="2057400"/>
          </a:xfrm>
          <a:prstGeom prst="roundRect">
            <a:avLst/>
          </a:prstGeom>
          <a:solidFill>
            <a:srgbClr val="19375A"/>
          </a:solidFill>
          <a:ln w="19050">
            <a:solidFill>
              <a:srgbClr val="469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816352"/>
            <a:ext cx="9509760" cy="411480"/>
          </a:xfrm>
          <a:prstGeom prst="rect">
            <a:avLst/>
          </a:prstGeom>
          <a:noFill/>
        </p:spPr>
        <p:txBody>
          <a:bodyPr wrap="none">
            <a:spAutoFit/>
          </a:bodyPr>
          <a:lstStyle/>
          <a:p>
            <a:pPr algn="ctr">
              <a:defRPr sz="1800" b="1">
                <a:solidFill>
                  <a:srgbClr val="BED2E6"/>
                </a:solidFill>
                <a:latin typeface="Aptos"/>
              </a:defRPr>
            </a:pPr>
            <a:r>
              <a:t>Streamlit Web App</a:t>
            </a:r>
          </a:p>
        </p:txBody>
      </p:sp>
      <p:sp>
        <p:nvSpPr>
          <p:cNvPr id="7" name="TextBox 6"/>
          <p:cNvSpPr txBox="1"/>
          <p:nvPr/>
        </p:nvSpPr>
        <p:spPr>
          <a:xfrm>
            <a:off x="1234440" y="3401568"/>
            <a:ext cx="9692640" cy="640080"/>
          </a:xfrm>
          <a:prstGeom prst="rect">
            <a:avLst/>
          </a:prstGeom>
          <a:noFill/>
        </p:spPr>
        <p:txBody>
          <a:bodyPr wrap="none">
            <a:spAutoFit/>
          </a:bodyPr>
          <a:lstStyle/>
          <a:p>
            <a:pPr algn="ctr"/>
            <a:r>
              <a:rPr sz="2200" b="1">
                <a:solidFill>
                  <a:srgbClr val="78C3FF"/>
                </a:solidFill>
                <a:latin typeface="Aptos"/>
                <a:hlinkClick r:id="rId2"/>
              </a:rPr>
              <a:t>Open the deployed application</a:t>
            </a:r>
          </a:p>
        </p:txBody>
      </p:sp>
      <p:sp>
        <p:nvSpPr>
          <p:cNvPr id="8" name="TextBox 7"/>
          <p:cNvSpPr txBox="1"/>
          <p:nvPr/>
        </p:nvSpPr>
        <p:spPr>
          <a:xfrm>
            <a:off x="1097280" y="4983480"/>
            <a:ext cx="10437344" cy="369332"/>
          </a:xfrm>
          <a:prstGeom prst="rect">
            <a:avLst/>
          </a:prstGeom>
          <a:noFill/>
        </p:spPr>
        <p:txBody>
          <a:bodyPr wrap="none">
            <a:spAutoFit/>
          </a:bodyPr>
          <a:lstStyle/>
          <a:p>
            <a:pPr lvl="0" algn="ctr"/>
            <a:r>
              <a:rPr lang="en-US" b="1" dirty="0">
                <a:solidFill>
                  <a:schemeClr val="bg2"/>
                </a:solidFill>
              </a:rPr>
              <a:t>Click the link to open the app, then enter customer data to view the prediction result and churn probability.</a:t>
            </a:r>
            <a:endParaRPr lang="en-US" dirty="0">
              <a:solidFill>
                <a:schemeClr val="bg2"/>
              </a:solidFill>
            </a:endParaRPr>
          </a:p>
        </p:txBody>
      </p:sp>
      <p:sp>
        <p:nvSpPr>
          <p:cNvPr id="9" name="TextBox 8"/>
          <p:cNvSpPr txBox="1"/>
          <p:nvPr/>
        </p:nvSpPr>
        <p:spPr>
          <a:xfrm>
            <a:off x="914400" y="5989320"/>
            <a:ext cx="10332720" cy="411480"/>
          </a:xfrm>
          <a:prstGeom prst="rect">
            <a:avLst/>
          </a:prstGeom>
          <a:noFill/>
        </p:spPr>
        <p:txBody>
          <a:bodyPr wrap="none">
            <a:spAutoFit/>
          </a:bodyPr>
          <a:lstStyle/>
          <a:p>
            <a:pPr algn="ctr">
              <a:defRPr sz="1000">
                <a:solidFill>
                  <a:srgbClr val="BED2E6"/>
                </a:solidFill>
                <a:latin typeface="Aptos"/>
              </a:defRPr>
            </a:pPr>
            <a:r>
              <a:t>https://bank-customer-churn-prediction-atalpbeoaf97cyeksxxx9s.streamlit.app/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26369" y="1298540"/>
            <a:ext cx="609600" cy="609600"/>
          </a:xfrm>
          <a:prstGeom prst="rect">
            <a:avLst/>
          </a:prstGeom>
        </p:spPr>
      </p:pic>
      <p:pic>
        <p:nvPicPr>
          <p:cNvPr id="3" name="Picture 2" descr="image.png"/>
          <p:cNvPicPr>
            <a:picLocks noChangeAspect="1"/>
          </p:cNvPicPr>
          <p:nvPr/>
        </p:nvPicPr>
        <p:blipFill>
          <a:blip r:embed="rId3"/>
          <a:stretch>
            <a:fillRect/>
          </a:stretch>
        </p:blipFill>
        <p:spPr>
          <a:xfrm>
            <a:off x="5978769" y="1450940"/>
            <a:ext cx="304800" cy="304800"/>
          </a:xfrm>
          <a:prstGeom prst="rect">
            <a:avLst/>
          </a:prstGeom>
        </p:spPr>
      </p:pic>
      <p:sp>
        <p:nvSpPr>
          <p:cNvPr id="4" name="TextBox 3"/>
          <p:cNvSpPr txBox="1"/>
          <p:nvPr/>
        </p:nvSpPr>
        <p:spPr>
          <a:xfrm>
            <a:off x="3234676" y="2022440"/>
            <a:ext cx="5488185" cy="1015663"/>
          </a:xfrm>
          <a:prstGeom prst="rect">
            <a:avLst/>
          </a:prstGeom>
          <a:noFill/>
        </p:spPr>
        <p:txBody>
          <a:bodyPr wrap="square" lIns="0" tIns="0" rIns="0" bIns="0" anchor="t">
            <a:spAutoFit/>
          </a:bodyPr>
          <a:lstStyle/>
          <a:p>
            <a:pPr algn="ctr"/>
            <a:r>
              <a:rPr sz="3300" b="1" i="0" u="none" dirty="0">
                <a:solidFill>
                  <a:schemeClr val="accent1"/>
                </a:solidFill>
                <a:latin typeface="Plus Jakarta+Sans"/>
              </a:rPr>
              <a:t>Thank You &amp; Questions</a:t>
            </a:r>
            <a:endParaRPr lang="ar-JO" sz="3300" b="1" i="0" u="none" dirty="0">
              <a:solidFill>
                <a:schemeClr val="accent1"/>
              </a:solidFill>
              <a:latin typeface="Plus Jakarta+Sans"/>
            </a:endParaRPr>
          </a:p>
          <a:p>
            <a:pPr algn="ctr" rtl="1"/>
            <a:r>
              <a:rPr lang="en-US" sz="3300" b="1" i="0" u="none" dirty="0">
                <a:solidFill>
                  <a:schemeClr val="accent1"/>
                </a:solidFill>
                <a:latin typeface="Plus Jakarta+Sans"/>
              </a:rPr>
              <a:t>HIBA MAHMOUD (Team 6)</a:t>
            </a:r>
            <a:endParaRPr sz="3300" b="1" i="0" u="none" dirty="0">
              <a:solidFill>
                <a:schemeClr val="accent1"/>
              </a:solidFill>
              <a:latin typeface="Plus Jakarta+Sans"/>
            </a:endParaRPr>
          </a:p>
        </p:txBody>
      </p:sp>
      <p:sp>
        <p:nvSpPr>
          <p:cNvPr id="5" name="TextBox 4"/>
          <p:cNvSpPr txBox="1"/>
          <p:nvPr/>
        </p:nvSpPr>
        <p:spPr>
          <a:xfrm>
            <a:off x="3329627" y="3261062"/>
            <a:ext cx="5298281" cy="352425"/>
          </a:xfrm>
          <a:prstGeom prst="rect">
            <a:avLst/>
          </a:prstGeom>
          <a:noFill/>
        </p:spPr>
        <p:txBody>
          <a:bodyPr wrap="square" lIns="0" tIns="0" rIns="0" bIns="0" anchor="t">
            <a:spAutoFit/>
          </a:bodyPr>
          <a:lstStyle/>
          <a:p>
            <a:pPr algn="ctr"/>
            <a:r>
              <a:rPr sz="1500" b="0" i="0" u="none" dirty="0">
                <a:solidFill>
                  <a:srgbClr val="94A3B8"/>
                </a:solidFill>
                <a:latin typeface="Plus Jakarta+Sans"/>
              </a:rPr>
              <a:t>Ready for Milestone Evaluation &amp; Team Q&amp;A Session</a:t>
            </a:r>
          </a:p>
        </p:txBody>
      </p:sp>
      <p:sp>
        <p:nvSpPr>
          <p:cNvPr id="6" name="TextBox 5"/>
          <p:cNvSpPr txBox="1"/>
          <p:nvPr/>
        </p:nvSpPr>
        <p:spPr>
          <a:xfrm>
            <a:off x="3210268" y="3799697"/>
            <a:ext cx="5512593" cy="314325"/>
          </a:xfrm>
          <a:prstGeom prst="rect">
            <a:avLst/>
          </a:prstGeom>
          <a:noFill/>
        </p:spPr>
        <p:txBody>
          <a:bodyPr wrap="square" lIns="0" tIns="0" rIns="0" bIns="0" anchor="t">
            <a:spAutoFit/>
          </a:bodyPr>
          <a:lstStyle/>
          <a:p>
            <a:pPr algn="ctr"/>
            <a:r>
              <a:rPr sz="1350" b="1" i="0" u="none" dirty="0" err="1">
                <a:solidFill>
                  <a:srgbClr val="38BDF8"/>
                </a:solidFill>
                <a:latin typeface="Cairo"/>
              </a:rPr>
              <a:t>شكراً</a:t>
            </a:r>
            <a:r>
              <a:rPr sz="1350" b="1" i="0" u="none" dirty="0">
                <a:solidFill>
                  <a:srgbClr val="38BDF8"/>
                </a:solidFill>
                <a:latin typeface="Cairo"/>
              </a:rPr>
              <a:t> </a:t>
            </a:r>
            <a:r>
              <a:rPr sz="1350" b="1" i="0" u="none" dirty="0" err="1">
                <a:solidFill>
                  <a:srgbClr val="38BDF8"/>
                </a:solidFill>
                <a:latin typeface="Cairo"/>
              </a:rPr>
              <a:t>لحسن</a:t>
            </a:r>
            <a:r>
              <a:rPr sz="1350" b="1" i="0" u="none" dirty="0">
                <a:solidFill>
                  <a:srgbClr val="38BDF8"/>
                </a:solidFill>
                <a:latin typeface="Cairo"/>
              </a:rPr>
              <a:t> </a:t>
            </a:r>
            <a:r>
              <a:rPr sz="1350" b="1" i="0" u="none" dirty="0" err="1">
                <a:solidFill>
                  <a:srgbClr val="38BDF8"/>
                </a:solidFill>
                <a:latin typeface="Cairo"/>
              </a:rPr>
              <a:t>استماعكم</a:t>
            </a:r>
            <a:r>
              <a:rPr sz="1350" b="1" i="0" u="none" dirty="0">
                <a:solidFill>
                  <a:srgbClr val="38BDF8"/>
                </a:solidFill>
                <a:latin typeface="Cairo"/>
              </a:rPr>
              <a:t> · </a:t>
            </a:r>
            <a:r>
              <a:rPr sz="1350" b="1" i="0" u="none" dirty="0" err="1">
                <a:solidFill>
                  <a:srgbClr val="38BDF8"/>
                </a:solidFill>
                <a:latin typeface="Cairo"/>
              </a:rPr>
              <a:t>جاهزون</a:t>
            </a:r>
            <a:r>
              <a:rPr sz="1350" b="1" i="0" u="none" dirty="0">
                <a:solidFill>
                  <a:srgbClr val="38BDF8"/>
                </a:solidFill>
                <a:latin typeface="Cairo"/>
              </a:rPr>
              <a:t> </a:t>
            </a:r>
            <a:r>
              <a:rPr sz="1350" b="1" i="0" u="none" dirty="0" err="1">
                <a:solidFill>
                  <a:srgbClr val="38BDF8"/>
                </a:solidFill>
                <a:latin typeface="Cairo"/>
              </a:rPr>
              <a:t>لاستقبال</a:t>
            </a:r>
            <a:r>
              <a:rPr sz="1350" b="1" i="0" u="none" dirty="0">
                <a:solidFill>
                  <a:srgbClr val="38BDF8"/>
                </a:solidFill>
                <a:latin typeface="Cairo"/>
              </a:rPr>
              <a:t> </a:t>
            </a:r>
            <a:r>
              <a:rPr sz="1350" b="1" i="0" u="none" dirty="0" err="1">
                <a:solidFill>
                  <a:srgbClr val="38BDF8"/>
                </a:solidFill>
                <a:latin typeface="Cairo"/>
              </a:rPr>
              <a:t>الأسئلة</a:t>
            </a:r>
            <a:r>
              <a:rPr sz="1350" b="1" i="0" u="none" dirty="0">
                <a:solidFill>
                  <a:srgbClr val="38BDF8"/>
                </a:solidFill>
                <a:latin typeface="Cairo"/>
              </a:rPr>
              <a:t> </a:t>
            </a:r>
            <a:r>
              <a:rPr sz="1350" b="1" i="0" u="none" dirty="0" err="1">
                <a:solidFill>
                  <a:srgbClr val="38BDF8"/>
                </a:solidFill>
                <a:latin typeface="Cairo"/>
              </a:rPr>
              <a:t>والملاحظات</a:t>
            </a:r>
            <a:endParaRPr sz="1350" b="1" i="0" u="none" dirty="0">
              <a:solidFill>
                <a:srgbClr val="38BDF8"/>
              </a:solidFill>
              <a:latin typeface="Cair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471</TotalTime>
  <Words>3271</Words>
  <Application>Microsoft Office PowerPoint</Application>
  <PresentationFormat>Widescreen</PresentationFormat>
  <Paragraphs>575</Paragraphs>
  <Slides>37</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Plus Jakarta+Sans</vt:lpstr>
      <vt:lpstr>Aptos</vt:lpstr>
      <vt:lpstr>Aptos Display</vt:lpstr>
      <vt:lpstr>Cairo</vt:lpstr>
      <vt:lpstr>Plus Jakarta Sans</vt:lpstr>
      <vt:lpstr>Arial</vt:lpstr>
      <vt:lpstr>Inter</vt:lpstr>
      <vt:lpstr>JetBrains Mono</vt:lpstr>
      <vt:lpstr>Space Grotesk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keywords/>
  <dc:description>generated using python-pptx</dc:description>
  <cp:lastModifiedBy>hiba alshalabi</cp:lastModifiedBy>
  <cp:revision>14</cp:revision>
  <dcterms:created xsi:type="dcterms:W3CDTF">2013-01-27T09:14:16Z</dcterms:created>
  <dcterms:modified xsi:type="dcterms:W3CDTF">2026-10-30T19:40:47Z</dcterms:modified>
  <cp:category/>
</cp:coreProperties>
</file>